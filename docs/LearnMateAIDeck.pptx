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M363VuU/06RdL2vvAnRAM4IMj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D2F3C8-4681-4E0C-A8A3-2B427FA02CFD}">
  <a:tblStyle styleId="{9AD2F3C8-4681-4E0C-A8A3-2B427FA02C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463040"/>
            <a:ext cx="5669400" cy="5669400"/>
          </a:xfrm>
          <a:prstGeom prst="ellipse">
            <a:avLst/>
          </a:prstGeom>
          <a:solidFill>
            <a:srgbClr val="1B2350"/>
          </a:solidFill>
          <a:ln cap="flat" cmpd="sng" w="12700">
            <a:solidFill>
              <a:srgbClr val="1B2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241280" y="3566160"/>
            <a:ext cx="3108960" cy="3108960"/>
          </a:xfrm>
          <a:prstGeom prst="ellipse">
            <a:avLst/>
          </a:prstGeom>
          <a:solidFill>
            <a:srgbClr val="171E45"/>
          </a:solidFill>
          <a:ln cap="flat" cmpd="sng" w="12700">
            <a:solidFill>
              <a:srgbClr val="171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61825" y="2114250"/>
            <a:ext cx="8334600" cy="23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100"/>
              <a:buFont typeface="Calibri"/>
              <a:buNone/>
            </a:pPr>
            <a:r>
              <a:t/>
            </a:r>
            <a:endParaRPr b="1" sz="3400">
              <a:solidFill>
                <a:srgbClr val="8FA0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100"/>
              <a:buFont typeface="Calibri"/>
              <a:buNone/>
            </a:pPr>
            <a:r>
              <a:t/>
            </a:r>
            <a:endParaRPr b="1" sz="3400">
              <a:solidFill>
                <a:srgbClr val="8FA0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100"/>
              <a:buFont typeface="Calibri"/>
              <a:buNone/>
            </a:pPr>
            <a:r>
              <a:rPr b="1" i="0" lang="en-US" sz="3400" u="none" cap="none" strike="noStrike">
                <a:solidFill>
                  <a:srgbClr val="8FA0F5"/>
                </a:solidFill>
                <a:latin typeface="Calibri"/>
                <a:ea typeface="Calibri"/>
                <a:cs typeface="Calibri"/>
                <a:sym typeface="Calibri"/>
              </a:rPr>
              <a:t>GROUP 08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50400" y="1872075"/>
            <a:ext cx="77778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4800" u="none" cap="none" strike="noStrike">
                <a:solidFill>
                  <a:srgbClr val="AAB2DE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1" sz="4800">
              <a:solidFill>
                <a:srgbClr val="AAB2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50400" y="5"/>
            <a:ext cx="11346600" cy="17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DF2"/>
              </a:buClr>
              <a:buSzPts val="1800"/>
              <a:buFont typeface="Calibri"/>
              <a:buNone/>
            </a:pPr>
            <a:r>
              <a:rPr b="0" i="0" lang="en-US" sz="5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Self-Learning Platform Using L</a:t>
            </a:r>
            <a:r>
              <a:rPr b="0" i="0" lang="en-US" sz="5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arge Language Models</a:t>
            </a:r>
            <a:endParaRPr b="0" i="0" sz="5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6928" y="3794760"/>
            <a:ext cx="1005840" cy="45720"/>
          </a:xfrm>
          <a:prstGeom prst="rect">
            <a:avLst/>
          </a:prstGeom>
          <a:solidFill>
            <a:srgbClr val="2340E0"/>
          </a:solidFill>
          <a:ln cap="flat" cmpd="sng" w="12700">
            <a:solidFill>
              <a:srgbClr val="234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22" name="Google Shape;22;p1"/>
          <p:cNvSpPr/>
          <p:nvPr/>
        </p:nvSpPr>
        <p:spPr>
          <a:xfrm>
            <a:off x="566925" y="5283775"/>
            <a:ext cx="99177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Thevindu Fernando    230188L</a:t>
            </a:r>
            <a:endParaRPr b="1"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Tharumini Gamage    230194C</a:t>
            </a:r>
            <a:endParaRPr b="1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Dinura  Ginige             230202D</a:t>
            </a:r>
            <a:endParaRPr b="1"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66928" y="1572768"/>
            <a:ext cx="5349240" cy="1298448"/>
          </a:xfrm>
          <a:prstGeom prst="roundRect">
            <a:avLst>
              <a:gd fmla="val 8451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86384" y="1792224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86384" y="17922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25296" y="1847088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Lecture material is static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25296" y="2121408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You can read a PDF from start to end, but you cannot ask it a question, get a quiz from it, or ask it for a short summary.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172200" y="1572768"/>
            <a:ext cx="5349240" cy="1298448"/>
          </a:xfrm>
          <a:prstGeom prst="roundRect">
            <a:avLst>
              <a:gd fmla="val 8451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391656" y="1792224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391656" y="17922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30568" y="1847088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General chatbots answer from the internet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30568" y="2121408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They answer from the web, not from your own documents or notes — and they show no page you can turn to and check.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66928" y="3108960"/>
            <a:ext cx="5349240" cy="1298448"/>
          </a:xfrm>
          <a:prstGeom prst="roundRect">
            <a:avLst>
              <a:gd fmla="val 8451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86384" y="3328416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86384" y="3328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225296" y="3383280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Generated study material is unverified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25296" y="3657600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AI can mark the wrong option as correct in an MCQ. It sounds confident, so you learn the wrong thing.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72200" y="3108960"/>
            <a:ext cx="5349240" cy="1298448"/>
          </a:xfrm>
          <a:prstGeom prst="roundRect">
            <a:avLst>
              <a:gd fmla="val 8451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391656" y="3328416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391656" y="3328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830568" y="3383280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Documents are private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30568" y="3657600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Our models run on one local server or a private cloud server, so sensitive notes and legal documents never leave 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66928" y="4645152"/>
            <a:ext cx="5349240" cy="1298448"/>
          </a:xfrm>
          <a:prstGeom prst="roundRect">
            <a:avLst>
              <a:gd fmla="val 8451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86384" y="4864608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86384" y="48646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225296" y="4919472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Study material must fit one subject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225296" y="5193792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Ours is Sri Lankan law — a subject with very little digital study material available online.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172200" y="4645152"/>
            <a:ext cx="5349240" cy="1298448"/>
          </a:xfrm>
          <a:prstGeom prst="roundRect">
            <a:avLst>
              <a:gd fmla="val 7042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373368" y="4736592"/>
            <a:ext cx="494690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The requirement: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study material must show where it came from, and be checked before a student sees it. Without both, a good summary and a confident guess look the same.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What LearnMateAI does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66928" y="932688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Upload a PDF. Ask it questions and get answers that cite the pages they came from, or generate study material from it — and everything the system produces is graded by a second model before it reaches you.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66928" y="1828800"/>
            <a:ext cx="2670048" cy="269748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04672" y="2066544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04672" y="20665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04672" y="2560320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04672" y="2962656"/>
            <a:ext cx="22128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Validate, extract, clean, chunk and embed a PDF. Page numbers survive the whole pipeline — they are what citations point 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456432" y="1828800"/>
            <a:ext cx="2670048" cy="269748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694176" y="2066544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694176" y="20665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694176" y="2560320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Ask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94176" y="2962656"/>
            <a:ext cx="22128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Answers built from retrieved passages, carrying the pages they came from. A question the document does not cover is answered separately, without citations.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345936" y="1828800"/>
            <a:ext cx="2670048" cy="269748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583680" y="2066544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583680" y="20665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583680" y="2560320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583680" y="2962656"/>
            <a:ext cx="22128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Summary, key points, MCQs and short-answer practice questions — from one passage or pooled across the whole document.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235440" y="1828800"/>
            <a:ext cx="2670048" cy="269748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473184" y="2066544"/>
            <a:ext cx="310896" cy="310896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473184" y="20665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473184" y="2560320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Judge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473184" y="2962656"/>
            <a:ext cx="22128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Structural validators first, then a second model from a different family grades the output and can send it back for one more attempt.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66928" y="4983480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2 × 3B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66928" y="5440680"/>
            <a:ext cx="2670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local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456432" y="4983480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456432" y="5440680"/>
            <a:ext cx="2670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Mongo collections + GridFS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345936" y="4983480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345936" y="5440680"/>
            <a:ext cx="2670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resource 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235440" y="4983480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70 / 100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235440" y="5440680"/>
            <a:ext cx="2670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judge pass threshold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One machine, four moving parts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React talks to FastAPI over JSON and a bearer token. The backend is split into a web layer and an engine that knows nothing about HTTP.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66928" y="1691640"/>
            <a:ext cx="3602736" cy="251460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22960" y="1929384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22960" y="2221992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integrated-frontend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22960" y="2624328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React 19 · Vite 8 · Tailwind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React Router 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axios with two interceptors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useJob polls 202 → done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187952" y="2788920"/>
            <a:ext cx="237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AA3D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443984" y="1691640"/>
            <a:ext cx="3602736" cy="251460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700016" y="1929384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700016" y="2221992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integrated-backend · FastAPI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700016" y="2624328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app/ — routers, services, auth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jobs, ownership checks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learnmate/ — the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ingestion · agents · evaluator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065008" y="2788920"/>
            <a:ext cx="237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AA3D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321040" y="1691640"/>
            <a:ext cx="3602736" cy="251460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8577072" y="1929384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BEHIND 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577072" y="2221992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data &amp; identity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577072" y="2624328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MongoDB 8 :27018 (+ GridFS)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Qdrant 1.18 :6335 (HNSW)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2 × Q4 GGUF via llama.cpp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Keycloak 26 :8081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66928" y="4434840"/>
            <a:ext cx="11057839" cy="1417320"/>
          </a:xfrm>
          <a:prstGeom prst="roundRect">
            <a:avLst>
              <a:gd fmla="val 6452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768096" y="4526280"/>
            <a:ext cx="10655503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Everything slow is a job.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Local inference on a 3B model takes tens of seconds, so no slow endpoint holds a connection open. Upload, generation and chat each answer 202 with a job id, and the client polls /api/jobs/{id} through queued → running → done. The queue lives in MongoDB, not in memory, so reloading the page does not lose your place. One worker thread — because llama_cpp.Llama holds a single mutable context, and two threads generating at once corrupt both replies.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Three tracks, merged on main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Each member built their part as a standalone component first. Work landed on feature branches and pull requests into main, then the pieces were integrated into one application.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928" y="1691640"/>
            <a:ext cx="11057839" cy="1078992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41248" y="18928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Dinura N. Ginige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41248" y="2221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Engine &amp;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355848" y="1929384"/>
            <a:ext cx="794887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Chat and resource agents as LangGraph state machines · evaluator (validators + LLM judge) · retrieval, embeddings, reranking · auth, jobs and ownership · integration of all components · frontend shell and design 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66928" y="2926080"/>
            <a:ext cx="11057839" cy="1078992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841248" y="31272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Tharumini Gamage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41248" y="34564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Documents &amp; resources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355848" y="3163824"/>
            <a:ext cx="794887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PDF document-processing pipeline · resource generator service · backend API and database work · frontend pages and layouts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66928" y="4160520"/>
            <a:ext cx="11057839" cy="1078992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41248" y="43616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Thevindu Fernando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41248" y="46908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Offline ML track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355848" y="4398264"/>
            <a:ext cx="794887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Sri Lankan legal corpus → instruction pairs · LoRA / QLoRA fine-tune of Qwen 2.5 · evaluation gate and version registry · MLOps promote / rollback workflow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66928" y="5486400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The standalone components — components-Dinura/, backend/, frontend/ — are kept frozen as references. The live application is integrated-backend/ + integrated-frontend/; model-Thevindu/ stays out of the request path by design.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Overall progress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The application is complete end to end and running locally. What remains is verification and deployment, not features.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66928" y="1691640"/>
            <a:ext cx="534924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41248" y="1911096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8A5B"/>
                </a:solidFill>
                <a:latin typeface="Calibri"/>
                <a:ea typeface="Calibri"/>
                <a:cs typeface="Calibri"/>
                <a:sym typeface="Calibri"/>
              </a:rPr>
              <a:t>Working now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41248" y="2377440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Ingestion pipeline — validate, extract, clean, chunk, embed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Grounded chat agent with page citations and one retry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Four resource types, each with its own structural gate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LLM judge, rubrics per task, every verdict logged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Auth, ownership, background job queue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Full frontend: dashboard, documents, resources, chat, analytics, dark mode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172200" y="1691640"/>
            <a:ext cx="534924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446520" y="1911096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446520" y="2377440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Offline fine-tune — first candidate failed its gate, not promoted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Unit tests over the engine, pytest suite in CI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Judge-score regression tracking across prompt changes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GPU offload and warm model loading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Keycloak from start-dev to start, with TLS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Containerise the API, back up the named volumes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66928" y="5596128"/>
            <a:ext cx="11057839" cy="640080"/>
          </a:xfrm>
          <a:prstGeom prst="roundRect">
            <a:avLst>
              <a:gd fmla="val 14286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68096" y="5687568"/>
            <a:ext cx="106555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Status: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every user-facing feature in this deck is running against local models on a single machine — the screenshots that follow are of the working system.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High-level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66928" y="822960"/>
            <a:ext cx="110578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 document is indexed once. Every question then runs the RAG path inside a LangGraph agent, and nothing is stored before the judge has seen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66928" y="1188720"/>
            <a:ext cx="3547872" cy="502920"/>
          </a:xfrm>
          <a:prstGeom prst="roundRect">
            <a:avLst>
              <a:gd fmla="val 14545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21792" y="1188720"/>
            <a:ext cx="3438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React 19 SPA  ·  Documents · Chat · Resources ·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142232" y="1362456"/>
            <a:ext cx="15544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325112" y="1188720"/>
            <a:ext cx="3547872" cy="502920"/>
          </a:xfrm>
          <a:prstGeom prst="roundRect">
            <a:avLst>
              <a:gd fmla="val 14545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379976" y="1188720"/>
            <a:ext cx="3438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axios + Bearer JWT  ·  useJob polls /api/jobs/{id}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900416" y="1362456"/>
            <a:ext cx="15544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8083296" y="1188720"/>
            <a:ext cx="3547872" cy="502920"/>
          </a:xfrm>
          <a:prstGeom prst="roundRect">
            <a:avLst>
              <a:gd fmla="val 14545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138160" y="1188720"/>
            <a:ext cx="3438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FastAPI  ·  routers · auth · ownership · job queue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7"/>
          <p:cNvCxnSpPr/>
          <p:nvPr/>
        </p:nvCxnSpPr>
        <p:spPr>
          <a:xfrm>
            <a:off x="3840480" y="173736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8E99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7"/>
          <p:cNvCxnSpPr/>
          <p:nvPr/>
        </p:nvCxnSpPr>
        <p:spPr>
          <a:xfrm>
            <a:off x="8321040" y="173736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8E99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7"/>
          <p:cNvSpPr/>
          <p:nvPr/>
        </p:nvSpPr>
        <p:spPr>
          <a:xfrm>
            <a:off x="566928" y="1938528"/>
            <a:ext cx="11057839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68096" y="2039112"/>
            <a:ext cx="106555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INGESTION  ·  RUNS ONCE PER DOCUMENT, IN THE BACKGROUND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49808" y="2249424"/>
            <a:ext cx="1629613" cy="749808"/>
          </a:xfrm>
          <a:prstGeom prst="roundRect">
            <a:avLst>
              <a:gd fmla="val 975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804672" y="2331720"/>
            <a:ext cx="15198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PDF upload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04672" y="2560320"/>
            <a:ext cx="151988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≤ 10 MB · ≤ 300 pages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2397709" y="2551176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2562301" y="2249424"/>
            <a:ext cx="1629613" cy="749808"/>
          </a:xfrm>
          <a:prstGeom prst="roundRect">
            <a:avLst>
              <a:gd fmla="val 975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2617165" y="2331720"/>
            <a:ext cx="15198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617165" y="2560320"/>
            <a:ext cx="151988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encrypted · corrupt · page count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210202" y="2551176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374794" y="2249424"/>
            <a:ext cx="1629613" cy="749808"/>
          </a:xfrm>
          <a:prstGeom prst="roundRect">
            <a:avLst>
              <a:gd fmla="val 975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429658" y="2331720"/>
            <a:ext cx="15198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429658" y="2560320"/>
            <a:ext cx="151988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PyMuPDF, page by page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022696" y="2551176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187288" y="2249424"/>
            <a:ext cx="1629613" cy="749808"/>
          </a:xfrm>
          <a:prstGeom prst="roundRect">
            <a:avLst>
              <a:gd fmla="val 975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242152" y="2331720"/>
            <a:ext cx="15198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242152" y="2560320"/>
            <a:ext cx="151988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heads · ligatures · hyphens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835189" y="2551176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7999781" y="2249424"/>
            <a:ext cx="1629613" cy="749808"/>
          </a:xfrm>
          <a:prstGeom prst="roundRect">
            <a:avLst>
              <a:gd fmla="val 975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8054645" y="2331720"/>
            <a:ext cx="15198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054645" y="2560320"/>
            <a:ext cx="151988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900 chars / 150 overlap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9647682" y="2551176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9812274" y="2249424"/>
            <a:ext cx="1629613" cy="749808"/>
          </a:xfrm>
          <a:prstGeom prst="roundRect">
            <a:avLst>
              <a:gd fmla="val 975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9867138" y="2331720"/>
            <a:ext cx="15198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9867138" y="2560320"/>
            <a:ext cx="151988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all-MiniLM-L6-v2 → Qdrant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7"/>
          <p:cNvCxnSpPr/>
          <p:nvPr/>
        </p:nvCxnSpPr>
        <p:spPr>
          <a:xfrm>
            <a:off x="6089904" y="3163824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8E99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7"/>
          <p:cNvSpPr/>
          <p:nvPr/>
        </p:nvSpPr>
        <p:spPr>
          <a:xfrm>
            <a:off x="566928" y="3346704"/>
            <a:ext cx="11057839" cy="201168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768096" y="3447288"/>
            <a:ext cx="106555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LANGGRAPH AGENT  ·  ONE PASS PER CHAT TURN OR RESOURCE REQUEST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49808" y="3648456"/>
            <a:ext cx="914400" cy="1097280"/>
          </a:xfrm>
          <a:prstGeom prst="roundRect">
            <a:avLst>
              <a:gd fmla="val 8000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804672" y="3730752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rewrite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04672" y="3959352"/>
            <a:ext cx="804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resolve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pronouns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from 6 turns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882384" y="3648456"/>
            <a:ext cx="2834640" cy="1097280"/>
          </a:xfrm>
          <a:prstGeom prst="roundRect">
            <a:avLst>
              <a:gd fmla="val 6667" name="adj"/>
            </a:avLst>
          </a:prstGeom>
          <a:solidFill>
            <a:srgbClr val="F2F4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1937248" y="3730752"/>
            <a:ext cx="2724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retrieve  —  RAG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992112" y="3977640"/>
            <a:ext cx="2615184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2037832" y="3977640"/>
            <a:ext cx="2523744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all-MiniLM-L6-v2  ·  question → 384-d vector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992112" y="4215384"/>
            <a:ext cx="2615184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2037832" y="4215384"/>
            <a:ext cx="2523744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Qdrant ANN search  ·  top 20 candidates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992112" y="4453128"/>
            <a:ext cx="2615184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2037832" y="4453128"/>
            <a:ext cx="2523744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ms-marco cross-encoder rerank  ·  top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935200" y="3648456"/>
            <a:ext cx="1920240" cy="1097280"/>
          </a:xfrm>
          <a:prstGeom prst="roundRect">
            <a:avLst>
              <a:gd fmla="val 6667" name="adj"/>
            </a:avLst>
          </a:prstGeom>
          <a:solidFill>
            <a:srgbClr val="F2F4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990064" y="3730752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026640" y="3977640"/>
            <a:ext cx="1737360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5072360" y="3977640"/>
            <a:ext cx="164592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LangChain BaseChatModel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026640" y="4215384"/>
            <a:ext cx="1737360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072360" y="4215384"/>
            <a:ext cx="164592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Qwen2.5-3B · llama.cpp Q4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026640" y="4453128"/>
            <a:ext cx="1737360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5072360" y="4453128"/>
            <a:ext cx="164592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grammar-constrained JSON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7073616" y="3648456"/>
            <a:ext cx="1920240" cy="1097280"/>
          </a:xfrm>
          <a:prstGeom prst="roundRect">
            <a:avLst>
              <a:gd fmla="val 6667" name="adj"/>
            </a:avLst>
          </a:prstGeom>
          <a:solidFill>
            <a:srgbClr val="F2F4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7128480" y="3730752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7165056" y="3977640"/>
            <a:ext cx="1737360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210776" y="3977640"/>
            <a:ext cx="164592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structural validators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165056" y="4215384"/>
            <a:ext cx="1737360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210776" y="4215384"/>
            <a:ext cx="164592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Llama-3.2-3B judge · rubric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165056" y="4453128"/>
            <a:ext cx="1737360" cy="214884"/>
          </a:xfrm>
          <a:prstGeom prst="roundRect">
            <a:avLst>
              <a:gd fmla="val 25532" name="adj"/>
            </a:avLst>
          </a:prstGeom>
          <a:solidFill>
            <a:srgbClr val="FFFFFF"/>
          </a:solidFill>
          <a:ln cap="flat" cmpd="sng" w="12700">
            <a:solidFill>
              <a:srgbClr val="D8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7210776" y="4453128"/>
            <a:ext cx="164592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score ≥ 70 to pass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9212031" y="3648456"/>
            <a:ext cx="1005840" cy="1097280"/>
          </a:xfrm>
          <a:prstGeom prst="roundRect">
            <a:avLst>
              <a:gd fmla="val 7273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9266895" y="3730752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decide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9266895" y="3959352"/>
            <a:ext cx="8961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accept,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or retry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once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0436047" y="3648456"/>
            <a:ext cx="1005840" cy="1097280"/>
          </a:xfrm>
          <a:prstGeom prst="roundRect">
            <a:avLst>
              <a:gd fmla="val 7273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10490911" y="3730752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0490911" y="3959352"/>
            <a:ext cx="8961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chat_turns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evaluations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1682496" y="4123944"/>
            <a:ext cx="181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735312" y="4123944"/>
            <a:ext cx="181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6873728" y="4123944"/>
            <a:ext cx="181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9012144" y="4123944"/>
            <a:ext cx="181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10236159" y="4123944"/>
            <a:ext cx="181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" name="Google Shape;243;p7"/>
          <p:cNvCxnSpPr/>
          <p:nvPr/>
        </p:nvCxnSpPr>
        <p:spPr>
          <a:xfrm>
            <a:off x="9714951" y="4745736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234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7"/>
          <p:cNvCxnSpPr/>
          <p:nvPr/>
        </p:nvCxnSpPr>
        <p:spPr>
          <a:xfrm>
            <a:off x="5895320" y="4745736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234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7"/>
          <p:cNvCxnSpPr/>
          <p:nvPr/>
        </p:nvCxnSpPr>
        <p:spPr>
          <a:xfrm>
            <a:off x="5895320" y="5001768"/>
            <a:ext cx="3819632" cy="0"/>
          </a:xfrm>
          <a:prstGeom prst="straightConnector1">
            <a:avLst/>
          </a:prstGeom>
          <a:noFill/>
          <a:ln cap="flat" cmpd="sng" w="19050">
            <a:solidFill>
              <a:srgbClr val="2340E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46" name="Google Shape;246;p7"/>
          <p:cNvSpPr/>
          <p:nvPr/>
        </p:nvSpPr>
        <p:spPr>
          <a:xfrm>
            <a:off x="3883640" y="5056632"/>
            <a:ext cx="78429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regenerate once with the judge's instruction  ·  MAX_ATTEMPTS =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7"/>
          <p:cNvCxnSpPr/>
          <p:nvPr/>
        </p:nvCxnSpPr>
        <p:spPr>
          <a:xfrm>
            <a:off x="3840480" y="539496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AAB2DE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8" name="Google Shape;248;p7"/>
          <p:cNvCxnSpPr/>
          <p:nvPr/>
        </p:nvCxnSpPr>
        <p:spPr>
          <a:xfrm>
            <a:off x="8321040" y="539496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AAB2DE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49" name="Google Shape;249;p7"/>
          <p:cNvSpPr/>
          <p:nvPr/>
        </p:nvSpPr>
        <p:spPr>
          <a:xfrm>
            <a:off x="566928" y="5596128"/>
            <a:ext cx="2599868" cy="621792"/>
          </a:xfrm>
          <a:prstGeom prst="roundRect">
            <a:avLst>
              <a:gd fmla="val 11765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21792" y="5678424"/>
            <a:ext cx="24901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MongoDB 8  ·  :27018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21792" y="5907024"/>
            <a:ext cx="24901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11 collections + GridFS · job queue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386252" y="5596128"/>
            <a:ext cx="2599868" cy="621792"/>
          </a:xfrm>
          <a:prstGeom prst="roundRect">
            <a:avLst>
              <a:gd fmla="val 11765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3441116" y="5678424"/>
            <a:ext cx="24901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Qdrant 1.18  ·  :6335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441116" y="5907024"/>
            <a:ext cx="24901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chunk vectors · HNSW index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205576" y="5596128"/>
            <a:ext cx="2599868" cy="621792"/>
          </a:xfrm>
          <a:prstGeom prst="roundRect">
            <a:avLst>
              <a:gd fmla="val 11765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6260440" y="5678424"/>
            <a:ext cx="24901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llama.cpp 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260440" y="5907024"/>
            <a:ext cx="24901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2 × Q4 GGUF, in the API process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024899" y="5596128"/>
            <a:ext cx="2599868" cy="621792"/>
          </a:xfrm>
          <a:prstGeom prst="roundRect">
            <a:avLst>
              <a:gd fmla="val 11765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9079763" y="5678424"/>
            <a:ext cx="24901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Keycloak 26  ·  :8081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079763" y="5907024"/>
            <a:ext cx="24901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realm · JWKS · themed login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From a PDF to something a model can search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Five stages between the file a student drops and the index a question is answered from.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66928" y="1481328"/>
            <a:ext cx="1992112" cy="914400"/>
          </a:xfrm>
          <a:prstGeom prst="roundRect">
            <a:avLst>
              <a:gd fmla="val 10000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66928" y="1627632"/>
            <a:ext cx="1992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40080" y="1911096"/>
            <a:ext cx="184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PDF · ≤10 MB · ≤300 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2613904" y="1865376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2833360" y="1481328"/>
            <a:ext cx="1992112" cy="914400"/>
          </a:xfrm>
          <a:prstGeom prst="roundRect">
            <a:avLst>
              <a:gd fmla="val 10000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2833360" y="1627632"/>
            <a:ext cx="1992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2906512" y="1911096"/>
            <a:ext cx="184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PyMuPDF, page by 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880336" y="1865376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099792" y="1481328"/>
            <a:ext cx="1992112" cy="914400"/>
          </a:xfrm>
          <a:prstGeom prst="roundRect">
            <a:avLst>
              <a:gd fmla="val 10000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5099792" y="1627632"/>
            <a:ext cx="1992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172944" y="1911096"/>
            <a:ext cx="184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heads · ligatures · hyphens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146768" y="1865376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7366224" y="1481328"/>
            <a:ext cx="1992112" cy="914400"/>
          </a:xfrm>
          <a:prstGeom prst="roundRect">
            <a:avLst>
              <a:gd fmla="val 10000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7366224" y="1627632"/>
            <a:ext cx="1992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7439376" y="1911096"/>
            <a:ext cx="184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900 chars / 150 overlap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9413199" y="1865376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9632655" y="1481328"/>
            <a:ext cx="1992112" cy="914400"/>
          </a:xfrm>
          <a:prstGeom prst="roundRect">
            <a:avLst>
              <a:gd fmla="val 10000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9632655" y="1627632"/>
            <a:ext cx="1992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9705807" y="1911096"/>
            <a:ext cx="184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MiniLM → Qdrant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66928" y="26517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841248" y="283464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What cleaning removes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841248" y="3218688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Running heads and footers repeated on every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Ligatures rejoined into plain letters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Hyphenation reconnected across line breaks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Chunks under 80 characters dropped as noise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172200" y="26517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6446520" y="283464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How a document is represented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46520" y="3218688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pages — cleaned page text, what the models read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chunks — 900-char overlapping windows on sentence boundaries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Qdrant — one 384-dimension vector per chunk, HNSW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GridFS — the original file, so text and PDF stay together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66928" y="4983480"/>
            <a:ext cx="11057839" cy="914400"/>
          </a:xfrm>
          <a:prstGeom prst="roundRect">
            <a:avLst>
              <a:gd fmla="val 10000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768096" y="5074920"/>
            <a:ext cx="10655503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Stored once.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Documents are keyed by the SHA-256 of their bytes, so a file ten students upload is extracted and embedded a single time. That is also why ownership cannot be a field on the document and lives in user_documents instead.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Four models, all running locally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Two 3B generators and two small retrieval models — no API key, no network call in the request path.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66928" y="1691640"/>
            <a:ext cx="2670048" cy="320040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804672" y="1929384"/>
            <a:ext cx="2194560" cy="914400"/>
          </a:xfrm>
          <a:prstGeom prst="roundRect">
            <a:avLst>
              <a:gd fmla="val 8000" name="adj"/>
            </a:avLst>
          </a:prstGeom>
          <a:solidFill>
            <a:srgbClr val="0D1330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qwen.png" id="308" name="Google Shape;3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2110599"/>
            <a:ext cx="2011680" cy="55196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/>
          <p:nvPr/>
        </p:nvSpPr>
        <p:spPr>
          <a:xfrm>
            <a:off x="804672" y="299008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804672" y="32644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Qwen2.5-3B-Instruct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04672" y="388620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Q4 GGUF ≈ 2 GB · llama.cpp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Writes every reply and resource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456432" y="1691640"/>
            <a:ext cx="2670048" cy="320040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3694176" y="1929384"/>
            <a:ext cx="21945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llama.png" id="314" name="Google Shape;3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6265" y="2020824"/>
            <a:ext cx="1570383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3694176" y="299008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JUDGE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3694176" y="32644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Llama-3.2-3B-Instruct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694176" y="388620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Q4 GGUF ≈ 2 GB · llama.cpp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Grades output against its source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345936" y="1691640"/>
            <a:ext cx="2670048" cy="320040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6583680" y="1929384"/>
            <a:ext cx="21945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biencoder.png" id="320" name="Google Shape;32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4357" y="2020824"/>
            <a:ext cx="1073207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9"/>
          <p:cNvSpPr/>
          <p:nvPr/>
        </p:nvSpPr>
        <p:spPr>
          <a:xfrm>
            <a:off x="6583680" y="299008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BI-ENCODER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583680" y="32644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all-MiniLM-L6-v2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583680" y="388620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≈ 90 MB · 384-dim vectors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Searches every chunk in 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9235440" y="1691640"/>
            <a:ext cx="2670048" cy="320040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473184" y="1929384"/>
            <a:ext cx="21945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crossenc.png" id="326" name="Google Shape;32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36682" y="2020824"/>
            <a:ext cx="1467565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9"/>
          <p:cNvSpPr/>
          <p:nvPr/>
        </p:nvSpPr>
        <p:spPr>
          <a:xfrm>
            <a:off x="9473184" y="299008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CROSS-ENCODER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9473184" y="32644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ms-marco-MiniLM-L-6-v2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9473184" y="388620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≈ 90 MB · reranks 20 →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Reads question and chunk together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66928" y="5120640"/>
            <a:ext cx="11057839" cy="914400"/>
          </a:xfrm>
          <a:prstGeom prst="roundRect">
            <a:avLst>
              <a:gd fmla="val 10000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768096" y="5212080"/>
            <a:ext cx="10655503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Why a different family for the judge.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model grading its own writing rates its own style highly, and the quality check quietly stops catching anything. Different weights means a genuine second opinion rather than a rubber stamp — and the two retrieval models split the job because searching everything and scoring one pair are not the same task.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Three stores, three jobs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Each has its own container and its own named volume, on a non-default host port.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66928" y="1645920"/>
            <a:ext cx="3602736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mongo.png" id="342" name="Google Shape;3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8139" y="1920240"/>
            <a:ext cx="800314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"/>
          <p:cNvSpPr/>
          <p:nvPr/>
        </p:nvSpPr>
        <p:spPr>
          <a:xfrm>
            <a:off x="841248" y="2761488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MongoDB 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841248" y="3072384"/>
            <a:ext cx="30540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:27018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841248" y="3383280"/>
            <a:ext cx="30540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Everything that is not a vector. An MCQ, a summary and a chat turn genuinely differ in shape, so a document database stores them without inventing a table for each.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443984" y="1645920"/>
            <a:ext cx="3602736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qdrant.png" id="347" name="Google Shape;34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0731" y="1920240"/>
            <a:ext cx="1269242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/>
          <p:nvPr/>
        </p:nvSpPr>
        <p:spPr>
          <a:xfrm>
            <a:off x="4718304" y="2761488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Qdrant 1.18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718304" y="3072384"/>
            <a:ext cx="30540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:6335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718304" y="3383280"/>
            <a:ext cx="30540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One collection of chunk vectors. Answers "which passages are closest in meaning to this question" in milliseconds using an HNSW index.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8321040" y="1645920"/>
            <a:ext cx="3602736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keycloak.png" id="352" name="Google Shape;35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4299" y="1920240"/>
            <a:ext cx="956217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/>
          <p:nvPr/>
        </p:nvSpPr>
        <p:spPr>
          <a:xfrm>
            <a:off x="8595360" y="2761488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Keycloak 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8595360" y="3072384"/>
            <a:ext cx="30540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:8081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8595360" y="3383280"/>
            <a:ext cx="30540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identity store: the learnmate realm, its public client and its users, imported from JSON the first time the volume is empty.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66928" y="455371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Ten collections, plus the file bucket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566928" y="4882896"/>
            <a:ext cx="534924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66928" y="4882896"/>
            <a:ext cx="5349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211580" y="4882896"/>
            <a:ext cx="1234440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1211580" y="4882896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user_documents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2555748" y="4882896"/>
            <a:ext cx="845820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2555748" y="4882896"/>
            <a:ext cx="8458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511296" y="4882896"/>
            <a:ext cx="534924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3511296" y="4882896"/>
            <a:ext cx="5349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4155948" y="4882896"/>
            <a:ext cx="612648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4155948" y="4882896"/>
            <a:ext cx="6126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chunks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4878324" y="4882896"/>
            <a:ext cx="768096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4878324" y="4882896"/>
            <a:ext cx="7680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756148" y="4882896"/>
            <a:ext cx="923544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5756148" y="4882896"/>
            <a:ext cx="923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chat_turns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789420" y="4882896"/>
            <a:ext cx="845820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6789420" y="4882896"/>
            <a:ext cx="8458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7744968" y="4882896"/>
            <a:ext cx="1001268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7744968" y="4882896"/>
            <a:ext cx="10012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evaluations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8855964" y="4882896"/>
            <a:ext cx="457200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8855964" y="4882896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9422892" y="4882896"/>
            <a:ext cx="1156716" cy="329184"/>
          </a:xfrm>
          <a:prstGeom prst="roundRect">
            <a:avLst>
              <a:gd fmla="val 22222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9422892" y="4882896"/>
            <a:ext cx="11567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pdfs (GridFS)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66928" y="5413248"/>
            <a:ext cx="11057839" cy="777240"/>
          </a:xfrm>
          <a:prstGeom prst="roundRect">
            <a:avLst>
              <a:gd fmla="val 11765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768096" y="5504688"/>
            <a:ext cx="10655503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Why the unusual ports.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This machine already answers on 27017, 6333 and 8080 for other projects — and sharing a database server means sharing a failure: another project's docker compose down -v would take this one's PDFs, sessions and generated resources with 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Two ML stories, kept apart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The live path runs on every request. The offline fine-tune has never been in the request path, and will not be until it passes its gate.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566928" y="1691640"/>
            <a:ext cx="5349240" cy="2788920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841248" y="18745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Offline track — model-Thevindu/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841248" y="2267712"/>
            <a:ext cx="237744" cy="237744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841248" y="22677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1188720" y="2258568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Parse, clean and section-aware chunking of Sri Lankan legal PDFs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41248" y="2633472"/>
            <a:ext cx="237744" cy="237744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841248" y="263347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1188720" y="2624328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Instruction pairs: Q&amp;A, summary, MCQ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841248" y="2999232"/>
            <a:ext cx="237744" cy="237744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841248" y="299923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188720" y="2990088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Splits by (doc_id, chapter), plus a whole-document holdout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841248" y="3364992"/>
            <a:ext cx="237744" cy="237744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841248" y="33649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188720" y="3355848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LoRA / QLoRA on Qwen2.5-1.5B-Instruct, Colab T4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841248" y="3730752"/>
            <a:ext cx="237744" cy="237744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841248" y="373075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1188720" y="3721608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Evaluated against acceptance_thresholds.yaml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841248" y="4096512"/>
            <a:ext cx="237744" cy="237744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841248" y="40965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1188720" y="4087368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Staging → teammate sign-off → promote a pointer, rollback kept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6172200" y="1691640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First candidate — qwen25-lora-20260815-090709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1" name="Google Shape;411;p11"/>
          <p:cNvGraphicFramePr/>
          <p:nvPr/>
        </p:nvGraphicFramePr>
        <p:xfrm>
          <a:off x="61722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{9AD2F3C8-4681-4E0C-A8A3-2B427FA02CFD}</a:tableStyleId>
              </a:tblPr>
              <a:tblGrid>
                <a:gridCol w="2057400"/>
                <a:gridCol w="914400"/>
                <a:gridCol w="914400"/>
                <a:gridCol w="14630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5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015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5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015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chapter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5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015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strict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5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015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(LLM judge)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0.70  fail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Groundedness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5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8A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0.85  pass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Hallucination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5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8A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0.15  pass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 p95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16.4 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14.9 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8 s  fail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(token-F1)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16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B4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proxy only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7E9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11"/>
          <p:cNvSpPr/>
          <p:nvPr/>
        </p:nvSpPr>
        <p:spPr>
          <a:xfrm>
            <a:off x="566928" y="4709160"/>
            <a:ext cx="11057839" cy="1234440"/>
          </a:xfrm>
          <a:prstGeom prst="roundRect">
            <a:avLst>
              <a:gd fmla="val 7407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768096" y="4800600"/>
            <a:ext cx="10655503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The gate did its job.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Token-F1 of 0.717 looked like a pass; the LLM judge — the metric that matches how the live app defines correctness — did not agree. The candidate was not promoted and the local GGUF generator stays. Two dataset defects were caught the same way: ungrounded section citations (≈38% of pairs on a spot check, 1.0% after the fix) and a split that left six subjects with no training pairs at all.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The first screen after signing 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What to do next, and what you were last working on — in that order.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566928" y="1965960"/>
            <a:ext cx="4023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Quick start — the three things there are to do, as links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Recent resources — the latest generated material, with anything still running shown above what has finished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Your documents — recent uploads with their Processing or Ready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returning student's first action is one click from sign-in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566928" y="4572000"/>
            <a:ext cx="4023360" cy="1325880"/>
          </a:xfrm>
          <a:prstGeom prst="roundRect">
            <a:avLst>
              <a:gd fmla="val 6897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768096" y="4663440"/>
            <a:ext cx="362102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Recent first.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dashboard reads from the same job queue as every other page, so a resource still generating appears here before it is finished.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4800600" y="2029739"/>
            <a:ext cx="6858000" cy="3438602"/>
          </a:xfrm>
          <a:prstGeom prst="roundRect">
            <a:avLst>
              <a:gd fmla="val 2659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dashboard.png" id="427" name="Google Shape;4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2121179"/>
            <a:ext cx="6675120" cy="3255722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2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3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What a student can 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Five functions, reachable from one rail, all working against the same document library.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566928" y="2148840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566928" y="21488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950976" y="21305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950976" y="238658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PDFs up to 10 MB, processed in the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66928" y="2862072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66928" y="28620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950976" y="28437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Chat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950976" y="309981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Ask a document, get answers that cite their pages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566928" y="3575304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566928" y="35753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950976" y="355701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950976" y="381304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Summary, key points, MCQs, practice questions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566928" y="4288536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566928" y="42885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950976" y="42702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950976" y="452628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Take a quiz, check answers, see the judge's verdict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566928" y="5001768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566928" y="50017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950976" y="49834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Track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950976" y="523951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Activity and quality statistics per task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4937760" y="1480169"/>
            <a:ext cx="6766560" cy="4171983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home.png" id="458" name="Google Shape;4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571609"/>
            <a:ext cx="6583680" cy="3989103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3"/>
          <p:cNvSpPr/>
          <p:nvPr/>
        </p:nvSpPr>
        <p:spPr>
          <a:xfrm>
            <a:off x="4663440" y="5743591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Home — public, readable before signing 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4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Drop a file and keep working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The row appears immediately and turns Ready on its own — nothing to refresh, nothing to wait 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566928" y="1600200"/>
            <a:ext cx="39776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PDF only, up to 10 MB and 300 pages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Encrypted or corrupt files are caught at validation and explained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subject label is chosen at upload and travels with the document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worker extracts, cleans, chunks and embeds, reporting progress per stage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original file goes to GridFS, the cleaned text to MongoDB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566928" y="4343400"/>
            <a:ext cx="3977640" cy="1508760"/>
          </a:xfrm>
          <a:prstGeom prst="roundRect">
            <a:avLst>
              <a:gd fmla="val 6061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768096" y="4434840"/>
            <a:ext cx="357530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Repeat uploads are instant.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Documents are keyed by the SHA-256 of their bytes — if that exact file is already stored, extraction and embedding are skipped entirely and only the ownership link is new.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5686635" y="1325880"/>
            <a:ext cx="5085929" cy="256032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documents.png" id="473" name="Google Shape;4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075" y="1417320"/>
            <a:ext cx="4903049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4"/>
          <p:cNvSpPr/>
          <p:nvPr/>
        </p:nvSpPr>
        <p:spPr>
          <a:xfrm>
            <a:off x="5394960" y="4069080"/>
            <a:ext cx="56692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library.png" id="475" name="Google Shape;4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4160520"/>
            <a:ext cx="548640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5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How the models are used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One generator, one judge, and a decoding strategy that makes a 3B model dependable.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566928" y="1645920"/>
            <a:ext cx="5349240" cy="237744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841248" y="18288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841248" y="2194560"/>
            <a:ext cx="4800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Grammar-constrained decoding forces valid JSON — asked politely, a 3B model returns prose about half the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≤ 6 000 characters of retrieved passage per call; 6 turns of chat history carried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2 attempts: one regeneration on a rejection, and the better attempt wins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6172200" y="1645920"/>
            <a:ext cx="5349240" cy="237744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6446520" y="18288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Evaluation — two gates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6446520" y="2194560"/>
            <a:ext cx="4800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1 — structural validators, plain Python in microseconds: four options and exactly one answer, a summary that exists and is long enough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2 — the judge, one rubric per task, plus two for grounded and general chat replies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Below 70 the judge returns an instruction, not just a number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566928" y="4206240"/>
            <a:ext cx="11057839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841248" y="4389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Three interchangeable backends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841248" y="4754880"/>
            <a:ext cx="3291840" cy="548640"/>
          </a:xfrm>
          <a:prstGeom prst="roundRect">
            <a:avLst>
              <a:gd fmla="val 13333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987552" y="4828032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llama.cpp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987552" y="50292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default · fully local, in-process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4407408" y="4754880"/>
            <a:ext cx="3291840" cy="548640"/>
          </a:xfrm>
          <a:prstGeom prst="roundRect">
            <a:avLst>
              <a:gd fmla="val 13333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4553712" y="4828032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Served endpoint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4553712" y="50292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an HTTP model server on the network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7973568" y="4754880"/>
            <a:ext cx="3291840" cy="548640"/>
          </a:xfrm>
          <a:prstGeom prst="roundRect">
            <a:avLst>
              <a:gd fmla="val 13333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8119872" y="4828032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Cloud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8119872" y="50292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availability fallback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841248" y="5394960"/>
            <a:ext cx="1050919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wrapper implements LangChain's BaseChatModel interface, so swapping the generator is two lines of .env and no code change. The cloud path is an availability fallback — process down, timeout, missing pointer — never a per-answer quality router.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6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One chat turn is one graph pass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 LangGraph state machine rather than one long function — because the interesting part is the edge that loops back.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566928" y="1965960"/>
            <a:ext cx="1629613" cy="1051560"/>
          </a:xfrm>
          <a:prstGeom prst="roundRect">
            <a:avLst>
              <a:gd fmla="val 869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566928" y="2148840"/>
            <a:ext cx="16296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rewrite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640080" y="2478024"/>
            <a:ext cx="14833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resolve "it", "that case"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2242261" y="2418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2452573" y="1965960"/>
            <a:ext cx="1629613" cy="1051560"/>
          </a:xfrm>
          <a:prstGeom prst="roundRect">
            <a:avLst>
              <a:gd fmla="val 869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2452573" y="2148840"/>
            <a:ext cx="16296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2525725" y="2478024"/>
            <a:ext cx="14833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embed → ANN → rerank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4127906" y="2418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4338218" y="1965960"/>
            <a:ext cx="1629613" cy="1051560"/>
          </a:xfrm>
          <a:prstGeom prst="roundRect">
            <a:avLst>
              <a:gd fmla="val 869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4338218" y="2148840"/>
            <a:ext cx="16296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4411370" y="2478024"/>
            <a:ext cx="14833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answer from the chunks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6013552" y="2418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6"/>
          <p:cNvSpPr/>
          <p:nvPr/>
        </p:nvSpPr>
        <p:spPr>
          <a:xfrm>
            <a:off x="6223864" y="1965960"/>
            <a:ext cx="1629613" cy="1051560"/>
          </a:xfrm>
          <a:prstGeom prst="roundRect">
            <a:avLst>
              <a:gd fmla="val 8696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6223864" y="2148840"/>
            <a:ext cx="16296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6297016" y="2478024"/>
            <a:ext cx="14833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validators, then the judge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7899197" y="2418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8109509" y="1965960"/>
            <a:ext cx="1629613" cy="1051560"/>
          </a:xfrm>
          <a:prstGeom prst="roundRect">
            <a:avLst>
              <a:gd fmla="val 8696" name="adj"/>
            </a:avLst>
          </a:prstGeom>
          <a:solidFill>
            <a:srgbClr val="E5E9FE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6"/>
          <p:cNvSpPr/>
          <p:nvPr/>
        </p:nvSpPr>
        <p:spPr>
          <a:xfrm>
            <a:off x="8109509" y="2148840"/>
            <a:ext cx="16296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decide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8182661" y="2478024"/>
            <a:ext cx="14833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accept, or send it back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9784842" y="2418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9995154" y="1965960"/>
            <a:ext cx="1629613" cy="1051560"/>
          </a:xfrm>
          <a:prstGeom prst="roundRect">
            <a:avLst>
              <a:gd fmla="val 8696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9995154" y="2148840"/>
            <a:ext cx="16296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10068306" y="2478024"/>
            <a:ext cx="14833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store the turn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16"/>
          <p:cNvCxnSpPr/>
          <p:nvPr/>
        </p:nvCxnSpPr>
        <p:spPr>
          <a:xfrm rot="10800000">
            <a:off x="5153025" y="3401568"/>
            <a:ext cx="3771290" cy="0"/>
          </a:xfrm>
          <a:prstGeom prst="straightConnector1">
            <a:avLst/>
          </a:prstGeom>
          <a:noFill/>
          <a:ln cap="flat" cmpd="sng" w="19050">
            <a:solidFill>
              <a:srgbClr val="2340E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6" name="Google Shape;536;p16"/>
          <p:cNvCxnSpPr/>
          <p:nvPr/>
        </p:nvCxnSpPr>
        <p:spPr>
          <a:xfrm>
            <a:off x="8924315" y="3017520"/>
            <a:ext cx="0" cy="384048"/>
          </a:xfrm>
          <a:prstGeom prst="straightConnector1">
            <a:avLst/>
          </a:prstGeom>
          <a:noFill/>
          <a:ln cap="flat" cmpd="sng" w="19050">
            <a:solidFill>
              <a:srgbClr val="234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16"/>
          <p:cNvCxnSpPr/>
          <p:nvPr/>
        </p:nvCxnSpPr>
        <p:spPr>
          <a:xfrm>
            <a:off x="5153025" y="3017520"/>
            <a:ext cx="0" cy="384048"/>
          </a:xfrm>
          <a:prstGeom prst="straightConnector1">
            <a:avLst/>
          </a:prstGeom>
          <a:noFill/>
          <a:ln cap="flat" cmpd="sng" w="19050">
            <a:solidFill>
              <a:srgbClr val="234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16"/>
          <p:cNvSpPr/>
          <p:nvPr/>
        </p:nvSpPr>
        <p:spPr>
          <a:xfrm>
            <a:off x="4338218" y="3456432"/>
            <a:ext cx="5400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regenerate once with the judge's instruction  ·  MAX_ATTEMPTS =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566928" y="3977640"/>
            <a:ext cx="5349240" cy="178308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"/>
          <p:cNvSpPr/>
          <p:nvPr/>
        </p:nvSpPr>
        <p:spPr>
          <a:xfrm>
            <a:off x="841248" y="41605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Two milestones in one turn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841248" y="452628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Tokens stream onto progress.partial as they arrive, then reply_ready hands over a finished, readable answer while the judge runs off-screen. A regeneration is deliberately not streamed over it — replacing a finished paragraph with a half-written one reads as the assistant having second thoughts in public.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6172200" y="3977640"/>
            <a:ext cx="5349240" cy="178308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6"/>
          <p:cNvSpPr/>
          <p:nvPr/>
        </p:nvSpPr>
        <p:spPr>
          <a:xfrm>
            <a:off x="6446520" y="41605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Grounded, or honestly not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6446520" y="452628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An answer built from retrieved chunks carries the pages it came from. A question the document does not cover is answered from general knowledge instead — a different kind of answer, graded on a different rubric, carrying no citations, so the difference is visible rather than hidden.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7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Chat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Pick a document, ask in plain language, and read an answer built from its pages.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566928" y="2057400"/>
            <a:ext cx="4023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One conversation per document — context stays where it belongs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Six turns of history carried, so follow-ups like "then?" resolve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attempt count is shown: an answer regenerated once says 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Answers cite the pages they were built from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Leaving the page does not lose the answer — the turn is stored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566928" y="4754880"/>
            <a:ext cx="4023360" cy="1280160"/>
          </a:xfrm>
          <a:prstGeom prst="roundRect">
            <a:avLst>
              <a:gd fmla="val 7143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768096" y="4846320"/>
            <a:ext cx="36210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Two rubrics.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grounded reply is graded against the passages it used; a general-knowledge reply is graded on its own rubric and carries no citations.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4800600" y="1657838"/>
            <a:ext cx="6858000" cy="4228124"/>
          </a:xfrm>
          <a:prstGeom prst="roundRect">
            <a:avLst>
              <a:gd fmla="val 2163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chat.png" id="558" name="Google Shape;5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749278"/>
            <a:ext cx="6675120" cy="404524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7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Nothing reaches the student ungraded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Generate → validate → judge → accept or retry once. The verdict is stored with the resource.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566928" y="1481328"/>
            <a:ext cx="1046074" cy="1051560"/>
          </a:xfrm>
          <a:prstGeom prst="roundRect">
            <a:avLst>
              <a:gd fmla="val 8741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566928" y="1627632"/>
            <a:ext cx="104607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640080" y="1911096"/>
            <a:ext cx="8997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grammar-constrained JSON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1667866" y="1933956"/>
            <a:ext cx="914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1814170" y="1481328"/>
            <a:ext cx="1046074" cy="1051560"/>
          </a:xfrm>
          <a:prstGeom prst="roundRect">
            <a:avLst>
              <a:gd fmla="val 8741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1814170" y="1627632"/>
            <a:ext cx="104607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Gate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1887322" y="1911096"/>
            <a:ext cx="8997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structural validators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2915107" y="1933956"/>
            <a:ext cx="914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3061411" y="1481328"/>
            <a:ext cx="1046074" cy="1051560"/>
          </a:xfrm>
          <a:prstGeom prst="roundRect">
            <a:avLst>
              <a:gd fmla="val 8741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8"/>
          <p:cNvSpPr/>
          <p:nvPr/>
        </p:nvSpPr>
        <p:spPr>
          <a:xfrm>
            <a:off x="3061411" y="1627632"/>
            <a:ext cx="104607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Gate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3134563" y="1911096"/>
            <a:ext cx="8997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LLM judge, per-task rubric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4162349" y="1933956"/>
            <a:ext cx="914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8"/>
          <p:cNvSpPr/>
          <p:nvPr/>
        </p:nvSpPr>
        <p:spPr>
          <a:xfrm>
            <a:off x="4308653" y="1481328"/>
            <a:ext cx="1046074" cy="1051560"/>
          </a:xfrm>
          <a:prstGeom prst="roundRect">
            <a:avLst>
              <a:gd fmla="val 8741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8"/>
          <p:cNvSpPr/>
          <p:nvPr/>
        </p:nvSpPr>
        <p:spPr>
          <a:xfrm>
            <a:off x="4308653" y="1627632"/>
            <a:ext cx="104607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Decide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4381805" y="1911096"/>
            <a:ext cx="8997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≥ 70 accept · else retry once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5409590" y="1933956"/>
            <a:ext cx="914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5555894" y="1481328"/>
            <a:ext cx="1046074" cy="1051560"/>
          </a:xfrm>
          <a:prstGeom prst="roundRect">
            <a:avLst>
              <a:gd fmla="val 8741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5555894" y="1627632"/>
            <a:ext cx="104607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5629046" y="1911096"/>
            <a:ext cx="8997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resource +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566928" y="2834640"/>
            <a:ext cx="6035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1 costs microseconds and keeps the ≈25-second judge call for well-formed content 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chat reply skips gate 1 — there is nothing mechanical to check in free prose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Every verdict is logged, passes as well as failures, into the evaluations collection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That log is what turns "how good is this material" into a question with an answer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566928" y="5029200"/>
            <a:ext cx="6035040" cy="914400"/>
          </a:xfrm>
          <a:prstGeom prst="roundRect">
            <a:avLst>
              <a:gd fmla="val 10000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768096" y="5120640"/>
            <a:ext cx="56327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Four types, one contract.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Adding a fifth means one module beside the existing four, one line in the task registry, one structural validator and one rubric.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6766560" y="2138669"/>
            <a:ext cx="4937760" cy="2672101"/>
          </a:xfrm>
          <a:prstGeom prst="roundRect">
            <a:avLst>
              <a:gd fmla="val 3422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resources.png" id="591" name="Google Shape;5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2230109"/>
            <a:ext cx="4754880" cy="2489221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8"/>
          <p:cNvSpPr/>
          <p:nvPr/>
        </p:nvSpPr>
        <p:spPr>
          <a:xfrm>
            <a:off x="6492240" y="4902211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Resources — everything generated, newest first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9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Resource 1 —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One block of connected prose that says what the passage says.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566928" y="173736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Connected prose, not a summary chopped into bullets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Built only from the retrieved source text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Scoped to one passage, or pooled across the whole document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1 rejects an empty or too-thin summary without spending a judge 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2 grades it against the source on the summary rubric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566928" y="429768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9"/>
          <p:cNvSpPr/>
          <p:nvPr/>
        </p:nvSpPr>
        <p:spPr>
          <a:xfrm>
            <a:off x="768096" y="4389120"/>
            <a:ext cx="362102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Two scopes.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Passage — one extract, optionally the pages that best match a topic you name. Whole document — read in groups and pooled, so the result covers the file rather than its first few pages.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4800600" y="1772297"/>
            <a:ext cx="6858000" cy="3953485"/>
          </a:xfrm>
          <a:prstGeom prst="roundRect">
            <a:avLst>
              <a:gd fmla="val 2313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summary.png" id="606" name="Google Shape;6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863737"/>
            <a:ext cx="6675120" cy="37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9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Resource 2 — Key points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The points the passage itself treats as important — not a summary in bullet form.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566928" y="196596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Each point a complete statement that stands on its 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Ordered as the passage presents them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Sized to the passage, not padded to a round number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1 checks count, emptiness and duplication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2 asks what a validator cannot: is each point actually in the source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566928" y="4480560"/>
            <a:ext cx="4023360" cy="1371600"/>
          </a:xfrm>
          <a:prstGeom prst="roundRect">
            <a:avLst>
              <a:gd fmla="val 6667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0"/>
          <p:cNvSpPr/>
          <p:nvPr/>
        </p:nvSpPr>
        <p:spPr>
          <a:xfrm>
            <a:off x="768096" y="4572000"/>
            <a:ext cx="36210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A summary compresses; key points select.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Generating one from the other produces material that reads well and teaches badly — which is why they are separate tasks with separate rubrics.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4800600" y="1758974"/>
            <a:ext cx="6858000" cy="3980133"/>
          </a:xfrm>
          <a:prstGeom prst="roundRect">
            <a:avLst>
              <a:gd fmla="val 2297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keypoints.png" id="620" name="Google Shape;6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850414"/>
            <a:ext cx="6675120" cy="3797253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0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1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Resource 3 — Multiple-choice questions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Four options, one right, three plausible — and the set as a whole has to be unguessable.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1"/>
          <p:cNvSpPr/>
          <p:nvPr/>
        </p:nvSpPr>
        <p:spPr>
          <a:xfrm>
            <a:off x="566928" y="160020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1"/>
          <p:cNvSpPr/>
          <p:nvPr/>
        </p:nvSpPr>
        <p:spPr>
          <a:xfrm>
            <a:off x="822960" y="1764792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Gate 1 — per question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822960" y="2103120"/>
            <a:ext cx="305409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Four options, none blank, none duplicated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marked answer must be one of them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No "all of the above" giveaway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566928" y="374904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1"/>
          <p:cNvSpPr/>
          <p:nvPr/>
        </p:nvSpPr>
        <p:spPr>
          <a:xfrm>
            <a:off x="822960" y="3913632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Gate 1 — per 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822960" y="4251960"/>
            <a:ext cx="305409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answer is not always in the same slot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correct option is not always the longest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The same question is not asked twice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4315968" y="1721830"/>
            <a:ext cx="3663544" cy="1859859"/>
          </a:xfrm>
          <a:prstGeom prst="roundRect">
            <a:avLst>
              <a:gd fmla="val 4917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mcq.png" id="637" name="Google Shape;6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7408" y="1813270"/>
            <a:ext cx="3480664" cy="167697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1"/>
          <p:cNvSpPr/>
          <p:nvPr/>
        </p:nvSpPr>
        <p:spPr>
          <a:xfrm>
            <a:off x="8052664" y="1585025"/>
            <a:ext cx="3663544" cy="213347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mcqgraded.png" id="639" name="Google Shape;6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4104" y="1676465"/>
            <a:ext cx="3480664" cy="195059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1"/>
          <p:cNvSpPr/>
          <p:nvPr/>
        </p:nvSpPr>
        <p:spPr>
          <a:xfrm>
            <a:off x="4133088" y="3809935"/>
            <a:ext cx="40293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Take the quiz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7869784" y="3809935"/>
            <a:ext cx="40293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Submit — correct answers marked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4407408" y="4206240"/>
            <a:ext cx="7217359" cy="1554480"/>
          </a:xfrm>
          <a:prstGeom prst="roundRect">
            <a:avLst>
              <a:gd fmla="val 5882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1"/>
          <p:cNvSpPr/>
          <p:nvPr/>
        </p:nvSpPr>
        <p:spPr>
          <a:xfrm>
            <a:off x="4608576" y="4297680"/>
            <a:ext cx="681502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The set-level rules are the interesting ones.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Every question can be individually perfect while the set as a whole is still guessable without reading the passage, and no single-item check can see that. The bias rules only apply from four questions upward — below that, the answer landing in the same slot each time is coincidence, not a signal.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2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Resource 4 — Practice questions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2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Short-answer questions with reference answers — the format that makes you produce the idea instead of recognising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566928" y="205740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Answerable from the passage alone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reference answer supplied with every question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Revealed one at a time, or all at once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1 rejects an answer that merely restates its question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Gate 2 grades the pair against the source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566928" y="4526280"/>
            <a:ext cx="4023360" cy="1325880"/>
          </a:xfrm>
          <a:prstGeom prst="roundRect">
            <a:avLst>
              <a:gd fmla="val 6897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2"/>
          <p:cNvSpPr/>
          <p:nvPr/>
        </p:nvSpPr>
        <p:spPr>
          <a:xfrm>
            <a:off x="768096" y="4617720"/>
            <a:ext cx="362102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MCQs test recognition; short answers test recall.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Keeping both is the reason there are four resource types rather than two.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4800600" y="1803667"/>
            <a:ext cx="6858000" cy="3890746"/>
          </a:xfrm>
          <a:prstGeom prst="roundRect">
            <a:avLst>
              <a:gd fmla="val 235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practice.png" id="657" name="Google Shape;6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895107"/>
            <a:ext cx="6675120" cy="3707866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2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3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What you did, and how well it scored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3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Two halves, and the second is the one worth reading.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3"/>
          <p:cNvSpPr/>
          <p:nvPr/>
        </p:nvSpPr>
        <p:spPr>
          <a:xfrm>
            <a:off x="566928" y="16916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566928" y="201168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Documents, conversations and questions asked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Study activity over the last seven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Resources generated, broken down by 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566928" y="32004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Quality, from the evaluation log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3"/>
          <p:cNvSpPr/>
          <p:nvPr/>
        </p:nvSpPr>
        <p:spPr>
          <a:xfrm>
            <a:off x="566928" y="35204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Per task: n, min, median, max, mean, distinct, pass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Acceptance rate against the judge threshold of 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distinct says whether the judge separates good from bad at 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566928" y="4800600"/>
            <a:ext cx="4023360" cy="1280160"/>
          </a:xfrm>
          <a:prstGeom prst="roundRect">
            <a:avLst>
              <a:gd fmla="val 7143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3"/>
          <p:cNvSpPr/>
          <p:nvPr/>
        </p:nvSpPr>
        <p:spPr>
          <a:xfrm>
            <a:off x="768096" y="4892040"/>
            <a:ext cx="36210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Null is not zero.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Acceptance rate is null rather than 0 when nothing has been generated — "no data" and "nothing passed" are different things.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4944684" y="1280160"/>
            <a:ext cx="6569832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analytics.png" id="674" name="Google Shape;6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6124" y="1371600"/>
            <a:ext cx="6386952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23"/>
          <p:cNvSpPr/>
          <p:nvPr/>
        </p:nvSpPr>
        <p:spPr>
          <a:xfrm>
            <a:off x="4892040" y="5120640"/>
            <a:ext cx="1554480" cy="868680"/>
          </a:xfrm>
          <a:prstGeom prst="roundRect">
            <a:avLst>
              <a:gd fmla="val 8421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3"/>
          <p:cNvSpPr/>
          <p:nvPr/>
        </p:nvSpPr>
        <p:spPr>
          <a:xfrm>
            <a:off x="5001768" y="5230368"/>
            <a:ext cx="13350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3"/>
          <p:cNvSpPr/>
          <p:nvPr/>
        </p:nvSpPr>
        <p:spPr>
          <a:xfrm>
            <a:off x="5001768" y="5468112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not readable as JSON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6583680" y="5120640"/>
            <a:ext cx="1554480" cy="868680"/>
          </a:xfrm>
          <a:prstGeom prst="roundRect">
            <a:avLst>
              <a:gd fmla="val 8421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3"/>
          <p:cNvSpPr/>
          <p:nvPr/>
        </p:nvSpPr>
        <p:spPr>
          <a:xfrm>
            <a:off x="6693408" y="5230368"/>
            <a:ext cx="13350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3"/>
          <p:cNvSpPr/>
          <p:nvPr/>
        </p:nvSpPr>
        <p:spPr>
          <a:xfrm>
            <a:off x="6693408" y="5468112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rejected before the judge ran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8275320" y="5120640"/>
            <a:ext cx="1554480" cy="868680"/>
          </a:xfrm>
          <a:prstGeom prst="roundRect">
            <a:avLst>
              <a:gd fmla="val 8421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8385048" y="5230368"/>
            <a:ext cx="13350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judge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8385048" y="5468112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the model scored 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3"/>
          <p:cNvSpPr/>
          <p:nvPr/>
        </p:nvSpPr>
        <p:spPr>
          <a:xfrm>
            <a:off x="9966960" y="5120640"/>
            <a:ext cx="1554480" cy="868680"/>
          </a:xfrm>
          <a:prstGeom prst="roundRect">
            <a:avLst>
              <a:gd fmla="val 8421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3"/>
          <p:cNvSpPr/>
          <p:nvPr/>
        </p:nvSpPr>
        <p:spPr>
          <a:xfrm>
            <a:off x="10076688" y="5230368"/>
            <a:ext cx="13350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skipped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3"/>
          <p:cNvSpPr/>
          <p:nvPr/>
        </p:nvSpPr>
        <p:spPr>
          <a:xfrm>
            <a:off x="10076688" y="5468112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evaluation switched off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3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3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4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One blue, used sparingly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4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 royal-blue LMS: a pale lavender rail against near-white content, and generously rounded white cards with hairline borders instead of heavy shadows.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566928" y="1572768"/>
            <a:ext cx="749808" cy="457200"/>
          </a:xfrm>
          <a:prstGeom prst="roundRect">
            <a:avLst>
              <a:gd fmla="val 12000" name="adj"/>
            </a:avLst>
          </a:prstGeom>
          <a:solidFill>
            <a:srgbClr val="2340E0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4"/>
          <p:cNvSpPr/>
          <p:nvPr/>
        </p:nvSpPr>
        <p:spPr>
          <a:xfrm>
            <a:off x="521208" y="206654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#2340E0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4"/>
          <p:cNvSpPr/>
          <p:nvPr/>
        </p:nvSpPr>
        <p:spPr>
          <a:xfrm>
            <a:off x="521208" y="2231136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4"/>
          <p:cNvSpPr/>
          <p:nvPr/>
        </p:nvSpPr>
        <p:spPr>
          <a:xfrm>
            <a:off x="1463040" y="1572768"/>
            <a:ext cx="749808" cy="457200"/>
          </a:xfrm>
          <a:prstGeom prst="roundRect">
            <a:avLst>
              <a:gd fmla="val 12000" name="adj"/>
            </a:avLst>
          </a:prstGeom>
          <a:solidFill>
            <a:srgbClr val="E5E9FE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4"/>
          <p:cNvSpPr/>
          <p:nvPr/>
        </p:nvSpPr>
        <p:spPr>
          <a:xfrm>
            <a:off x="1417320" y="206654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#E5E9FE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4"/>
          <p:cNvSpPr/>
          <p:nvPr/>
        </p:nvSpPr>
        <p:spPr>
          <a:xfrm>
            <a:off x="1417320" y="2231136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primary-light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4"/>
          <p:cNvSpPr/>
          <p:nvPr/>
        </p:nvSpPr>
        <p:spPr>
          <a:xfrm>
            <a:off x="2359152" y="1572768"/>
            <a:ext cx="749808" cy="457200"/>
          </a:xfrm>
          <a:prstGeom prst="roundRect">
            <a:avLst>
              <a:gd fmla="val 12000" name="adj"/>
            </a:avLst>
          </a:prstGeom>
          <a:solidFill>
            <a:srgbClr val="101533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4"/>
          <p:cNvSpPr/>
          <p:nvPr/>
        </p:nvSpPr>
        <p:spPr>
          <a:xfrm>
            <a:off x="2313432" y="206654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#101533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4"/>
          <p:cNvSpPr/>
          <p:nvPr/>
        </p:nvSpPr>
        <p:spPr>
          <a:xfrm>
            <a:off x="2313432" y="2231136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4"/>
          <p:cNvSpPr/>
          <p:nvPr/>
        </p:nvSpPr>
        <p:spPr>
          <a:xfrm>
            <a:off x="3255264" y="1572768"/>
            <a:ext cx="749808" cy="457200"/>
          </a:xfrm>
          <a:prstGeom prst="roundRect">
            <a:avLst>
              <a:gd fmla="val 12000" name="adj"/>
            </a:avLst>
          </a:prstGeom>
          <a:solidFill>
            <a:srgbClr val="3B4166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4"/>
          <p:cNvSpPr/>
          <p:nvPr/>
        </p:nvSpPr>
        <p:spPr>
          <a:xfrm>
            <a:off x="3209544" y="206654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#3B4166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4"/>
          <p:cNvSpPr/>
          <p:nvPr/>
        </p:nvSpPr>
        <p:spPr>
          <a:xfrm>
            <a:off x="3209544" y="2231136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4"/>
          <p:cNvSpPr/>
          <p:nvPr/>
        </p:nvSpPr>
        <p:spPr>
          <a:xfrm>
            <a:off x="4151376" y="1572768"/>
            <a:ext cx="749808" cy="457200"/>
          </a:xfrm>
          <a:prstGeom prst="roundRect">
            <a:avLst>
              <a:gd fmla="val 12000" name="adj"/>
            </a:avLst>
          </a:prstGeom>
          <a:solidFill>
            <a:srgbClr val="6C7191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4"/>
          <p:cNvSpPr/>
          <p:nvPr/>
        </p:nvSpPr>
        <p:spPr>
          <a:xfrm>
            <a:off x="4105656" y="206654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#6C7191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4"/>
          <p:cNvSpPr/>
          <p:nvPr/>
        </p:nvSpPr>
        <p:spPr>
          <a:xfrm>
            <a:off x="4105656" y="2231136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muted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4"/>
          <p:cNvSpPr/>
          <p:nvPr/>
        </p:nvSpPr>
        <p:spPr>
          <a:xfrm>
            <a:off x="5047488" y="1572768"/>
            <a:ext cx="749808" cy="457200"/>
          </a:xfrm>
          <a:prstGeom prst="roundRect">
            <a:avLst>
              <a:gd fmla="val 12000" name="adj"/>
            </a:avLst>
          </a:prstGeom>
          <a:solidFill>
            <a:srgbClr val="E7E9F5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4"/>
          <p:cNvSpPr/>
          <p:nvPr/>
        </p:nvSpPr>
        <p:spPr>
          <a:xfrm>
            <a:off x="5001768" y="206654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#E7E9F5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4"/>
          <p:cNvSpPr/>
          <p:nvPr/>
        </p:nvSpPr>
        <p:spPr>
          <a:xfrm>
            <a:off x="5001768" y="2231136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border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566928" y="2697480"/>
            <a:ext cx="53492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One saturated colour — #2340E0 marks the active nav pill, the primary button and the data marks. Nothing else gets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Status colours are reserved: green, amber and red mean success, warning and danger — never decoration.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Radii from 8 to 24 px — most of the difference between this and a bootstrap page.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Dark mode is a token swap: not one component is theme-aware, so a new screen costs nothing to support.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Navy-tinted greys in the dark theme — neutral grey reads as a different product wearing the same logo.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4"/>
          <p:cNvSpPr/>
          <p:nvPr/>
        </p:nvSpPr>
        <p:spPr>
          <a:xfrm>
            <a:off x="566928" y="5257800"/>
            <a:ext cx="5349240" cy="960120"/>
          </a:xfrm>
          <a:prstGeom prst="roundRect">
            <a:avLst>
              <a:gd fmla="val 9524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4"/>
          <p:cNvSpPr/>
          <p:nvPr/>
        </p:nvSpPr>
        <p:spPr>
          <a:xfrm>
            <a:off x="768096" y="5349240"/>
            <a:ext cx="49469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Three kinds of route.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Open (/login, /register) · explore (/, /about, /tour) · protected (everything else). The root is Home, not a redirect to a login form.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4"/>
          <p:cNvSpPr/>
          <p:nvPr/>
        </p:nvSpPr>
        <p:spPr>
          <a:xfrm>
            <a:off x="6126480" y="1963897"/>
            <a:ext cx="2743200" cy="1375726"/>
          </a:xfrm>
          <a:prstGeom prst="roundRect">
            <a:avLst>
              <a:gd fmla="val 6647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acctlight.png" id="718" name="Google Shape;7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2055337"/>
            <a:ext cx="2560320" cy="1192846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24"/>
          <p:cNvSpPr/>
          <p:nvPr/>
        </p:nvSpPr>
        <p:spPr>
          <a:xfrm>
            <a:off x="8961120" y="1962064"/>
            <a:ext cx="2743200" cy="1379391"/>
          </a:xfrm>
          <a:prstGeom prst="roundRect">
            <a:avLst>
              <a:gd fmla="val 6629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acctdark.png" id="720" name="Google Shape;7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0" y="2053504"/>
            <a:ext cx="2560320" cy="119651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24"/>
          <p:cNvSpPr/>
          <p:nvPr/>
        </p:nvSpPr>
        <p:spPr>
          <a:xfrm>
            <a:off x="5852160" y="3431063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Light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4"/>
          <p:cNvSpPr/>
          <p:nvPr/>
        </p:nvSpPr>
        <p:spPr>
          <a:xfrm>
            <a:off x="8686800" y="3432896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Dark — same components, swapped tokens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4"/>
          <p:cNvSpPr/>
          <p:nvPr/>
        </p:nvSpPr>
        <p:spPr>
          <a:xfrm>
            <a:off x="6820312" y="4069080"/>
            <a:ext cx="4190176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login.png" id="724" name="Google Shape;72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1752" y="4160520"/>
            <a:ext cx="4007296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4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5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Nothing blocks, and nothing pretends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5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Six decisions that shape what using the app actually feels like.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5"/>
          <p:cNvSpPr/>
          <p:nvPr/>
        </p:nvSpPr>
        <p:spPr>
          <a:xfrm>
            <a:off x="566928" y="1600200"/>
            <a:ext cx="3602736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5"/>
          <p:cNvSpPr/>
          <p:nvPr/>
        </p:nvSpPr>
        <p:spPr>
          <a:xfrm>
            <a:off x="822960" y="1819656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5"/>
          <p:cNvSpPr/>
          <p:nvPr/>
        </p:nvSpPr>
        <p:spPr>
          <a:xfrm>
            <a:off x="822960" y="18196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1188720" y="1819656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Slow work never blocks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822960" y="225856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Upload, generation and chat return immediately and report progress. Leave the page, come back tomorrow — the job lives in the database, not in a browser tab.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4443984" y="1600200"/>
            <a:ext cx="3602736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5"/>
          <p:cNvSpPr/>
          <p:nvPr/>
        </p:nvSpPr>
        <p:spPr>
          <a:xfrm>
            <a:off x="4700016" y="1819656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5"/>
          <p:cNvSpPr/>
          <p:nvPr/>
        </p:nvSpPr>
        <p:spPr>
          <a:xfrm>
            <a:off x="4700016" y="18196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5065776" y="1819656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Status is visible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4700016" y="225856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document row says Processing and becomes Ready on its own. The page watches it, so there is nothing to refresh and nothing to guess at.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5"/>
          <p:cNvSpPr/>
          <p:nvPr/>
        </p:nvSpPr>
        <p:spPr>
          <a:xfrm>
            <a:off x="8321040" y="1600200"/>
            <a:ext cx="3602736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5"/>
          <p:cNvSpPr/>
          <p:nvPr/>
        </p:nvSpPr>
        <p:spPr>
          <a:xfrm>
            <a:off x="8577072" y="1819656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5"/>
          <p:cNvSpPr/>
          <p:nvPr/>
        </p:nvSpPr>
        <p:spPr>
          <a:xfrm>
            <a:off x="8577072" y="18196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8942832" y="1819656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Answers arrive when readable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5"/>
          <p:cNvSpPr/>
          <p:nvPr/>
        </p:nvSpPr>
        <p:spPr>
          <a:xfrm>
            <a:off x="8577072" y="225856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reply is handed over the moment it is finished, not when the judge is done — and a retry never overwrites a finished paragraph on screen.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5"/>
          <p:cNvSpPr/>
          <p:nvPr/>
        </p:nvSpPr>
        <p:spPr>
          <a:xfrm>
            <a:off x="566928" y="3886200"/>
            <a:ext cx="3602736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5"/>
          <p:cNvSpPr/>
          <p:nvPr/>
        </p:nvSpPr>
        <p:spPr>
          <a:xfrm>
            <a:off x="822960" y="4105656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5"/>
          <p:cNvSpPr/>
          <p:nvPr/>
        </p:nvSpPr>
        <p:spPr>
          <a:xfrm>
            <a:off x="822960" y="41056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5"/>
          <p:cNvSpPr/>
          <p:nvPr/>
        </p:nvSpPr>
        <p:spPr>
          <a:xfrm>
            <a:off x="1188720" y="4105656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One place for a dead session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822960" y="454456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A single axios interceptor catches a 401, clears the session and redirects to login — instead of forty call sites each getting it slightly wrong.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5"/>
          <p:cNvSpPr/>
          <p:nvPr/>
        </p:nvSpPr>
        <p:spPr>
          <a:xfrm>
            <a:off x="4443984" y="3886200"/>
            <a:ext cx="3602736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5"/>
          <p:cNvSpPr/>
          <p:nvPr/>
        </p:nvSpPr>
        <p:spPr>
          <a:xfrm>
            <a:off x="4700016" y="4105656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5"/>
          <p:cNvSpPr/>
          <p:nvPr/>
        </p:nvSpPr>
        <p:spPr>
          <a:xfrm>
            <a:off x="4700016" y="41056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5065776" y="4105656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Explore before committing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4700016" y="454456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Home, About and Take a Tour are readable without an account, so a visitor can find out what the product does before signing up.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8321040" y="3886200"/>
            <a:ext cx="3602736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5"/>
          <p:cNvSpPr/>
          <p:nvPr/>
        </p:nvSpPr>
        <p:spPr>
          <a:xfrm>
            <a:off x="8577072" y="4105656"/>
            <a:ext cx="274320" cy="274320"/>
          </a:xfrm>
          <a:prstGeom prst="ellipse">
            <a:avLst/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5"/>
          <p:cNvSpPr/>
          <p:nvPr/>
        </p:nvSpPr>
        <p:spPr>
          <a:xfrm>
            <a:off x="8577072" y="41056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40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340E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5"/>
          <p:cNvSpPr/>
          <p:nvPr/>
        </p:nvSpPr>
        <p:spPr>
          <a:xfrm>
            <a:off x="8942832" y="4105656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Failures are locatable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5"/>
          <p:cNvSpPr/>
          <p:nvPr/>
        </p:nvSpPr>
        <p:spPr>
          <a:xfrm>
            <a:off x="8577072" y="454456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/api/health reports both databases and both model files separately, so a problem is found in seconds rather than guessed at.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6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Keycloak issues the tokens; this backend only verifies them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6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Authentication and authorisation are separate questions, and each is asked in exactly one place.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566928" y="1463040"/>
            <a:ext cx="2036003" cy="960120"/>
          </a:xfrm>
          <a:prstGeom prst="roundRect">
            <a:avLst>
              <a:gd fmla="val 9524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6"/>
          <p:cNvSpPr/>
          <p:nvPr/>
        </p:nvSpPr>
        <p:spPr>
          <a:xfrm>
            <a:off x="566928" y="1609344"/>
            <a:ext cx="20360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Sign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6"/>
          <p:cNvSpPr/>
          <p:nvPr/>
        </p:nvSpPr>
        <p:spPr>
          <a:xfrm>
            <a:off x="640080" y="1892808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LearnMate login theme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6"/>
          <p:cNvSpPr/>
          <p:nvPr/>
        </p:nvSpPr>
        <p:spPr>
          <a:xfrm>
            <a:off x="2657795" y="1869948"/>
            <a:ext cx="10972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6"/>
          <p:cNvSpPr/>
          <p:nvPr/>
        </p:nvSpPr>
        <p:spPr>
          <a:xfrm>
            <a:off x="2822387" y="1463040"/>
            <a:ext cx="2036003" cy="960120"/>
          </a:xfrm>
          <a:prstGeom prst="roundRect">
            <a:avLst>
              <a:gd fmla="val 9524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6"/>
          <p:cNvSpPr/>
          <p:nvPr/>
        </p:nvSpPr>
        <p:spPr>
          <a:xfrm>
            <a:off x="2822387" y="1609344"/>
            <a:ext cx="20360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Keycloak 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6"/>
          <p:cNvSpPr/>
          <p:nvPr/>
        </p:nvSpPr>
        <p:spPr>
          <a:xfrm>
            <a:off x="2895539" y="1892808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learnmate realm · :8081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6"/>
          <p:cNvSpPr/>
          <p:nvPr/>
        </p:nvSpPr>
        <p:spPr>
          <a:xfrm>
            <a:off x="4913254" y="1869948"/>
            <a:ext cx="10972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6"/>
          <p:cNvSpPr/>
          <p:nvPr/>
        </p:nvSpPr>
        <p:spPr>
          <a:xfrm>
            <a:off x="5077846" y="1463040"/>
            <a:ext cx="2036003" cy="960120"/>
          </a:xfrm>
          <a:prstGeom prst="roundRect">
            <a:avLst>
              <a:gd fmla="val 9524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6"/>
          <p:cNvSpPr/>
          <p:nvPr/>
        </p:nvSpPr>
        <p:spPr>
          <a:xfrm>
            <a:off x="5077846" y="1609344"/>
            <a:ext cx="20360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RS256 token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5150998" y="1892808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signed with Keycloak's 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6"/>
          <p:cNvSpPr/>
          <p:nvPr/>
        </p:nvSpPr>
        <p:spPr>
          <a:xfrm>
            <a:off x="7168713" y="1869948"/>
            <a:ext cx="10972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6"/>
          <p:cNvSpPr/>
          <p:nvPr/>
        </p:nvSpPr>
        <p:spPr>
          <a:xfrm>
            <a:off x="7333305" y="1463040"/>
            <a:ext cx="2036003" cy="960120"/>
          </a:xfrm>
          <a:prstGeom prst="roundRect">
            <a:avLst>
              <a:gd fmla="val 9524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6"/>
          <p:cNvSpPr/>
          <p:nvPr/>
        </p:nvSpPr>
        <p:spPr>
          <a:xfrm>
            <a:off x="7333305" y="1609344"/>
            <a:ext cx="20360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JWKS verify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7406457" y="1892808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public keys, cached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9424172" y="1869948"/>
            <a:ext cx="10972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CF7"/>
          </a:solidFill>
          <a:ln cap="flat" cmpd="sng" w="12700">
            <a:solidFill>
              <a:srgbClr val="C3C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6"/>
          <p:cNvSpPr/>
          <p:nvPr/>
        </p:nvSpPr>
        <p:spPr>
          <a:xfrm>
            <a:off x="9588764" y="1463040"/>
            <a:ext cx="2036003" cy="960120"/>
          </a:xfrm>
          <a:prstGeom prst="roundRect">
            <a:avLst>
              <a:gd fmla="val 9524" name="adj"/>
            </a:avLst>
          </a:prstGeom>
          <a:solidFill>
            <a:srgbClr val="F7F8FC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6"/>
          <p:cNvSpPr/>
          <p:nvPr/>
        </p:nvSpPr>
        <p:spPr>
          <a:xfrm>
            <a:off x="9588764" y="1609344"/>
            <a:ext cx="20360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get_current_user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9661916" y="1892808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on every protected 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6"/>
          <p:cNvSpPr/>
          <p:nvPr/>
        </p:nvSpPr>
        <p:spPr>
          <a:xfrm>
            <a:off x="566928" y="2743200"/>
            <a:ext cx="5943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Two kinds of token, one dependency — a token this server issued is HS256; a Keycloak token is RS256. One pair of except clauses catches both, and being unable to reach Keycloak is handled as a different thing from a bad token.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Ownership is checked before work is queued. services/ownership.py is the only place that decision is made, so posting into somebody else's session is a 403 immediately rather than a background job that fails a minute later.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JWT_SECRET_KEY has no default, deliberately — a fallback secret works in development, ships unnoticed, and makes every token it ever signed forgeable.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B416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Local passwords are bcrypt-hashed, never stored or logged in readable form.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6"/>
          <p:cNvSpPr/>
          <p:nvPr/>
        </p:nvSpPr>
        <p:spPr>
          <a:xfrm>
            <a:off x="566928" y="5532120"/>
            <a:ext cx="5943600" cy="777240"/>
          </a:xfrm>
          <a:prstGeom prst="roundRect">
            <a:avLst>
              <a:gd fmla="val 11765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6"/>
          <p:cNvSpPr/>
          <p:nvPr/>
        </p:nvSpPr>
        <p:spPr>
          <a:xfrm>
            <a:off x="768096" y="5623560"/>
            <a:ext cx="5541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One caveat:  </a:t>
            </a:r>
            <a:r>
              <a:rPr b="0" i="0" lang="en-US" sz="10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Keycloak runs start-dev here — the right trade for a development identity provider and the wrong one for anything reachable from outside this machine.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6"/>
          <p:cNvSpPr/>
          <p:nvPr/>
        </p:nvSpPr>
        <p:spPr>
          <a:xfrm>
            <a:off x="6833286" y="2606040"/>
            <a:ext cx="4712867" cy="256032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6F76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login.png" id="796" name="Google Shape;7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4726" y="2697480"/>
            <a:ext cx="4529987" cy="2377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deck/keycloak.png" id="797" name="Google Shape;7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6854" y="5257800"/>
            <a:ext cx="1402452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6"/>
          <p:cNvSpPr/>
          <p:nvPr/>
        </p:nvSpPr>
        <p:spPr>
          <a:xfrm>
            <a:off x="8366760" y="544068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Custom LearnMate login theme, served by Keycloak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33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7"/>
          <p:cNvSpPr/>
          <p:nvPr/>
        </p:nvSpPr>
        <p:spPr>
          <a:xfrm>
            <a:off x="9052560" y="-1097280"/>
            <a:ext cx="4937760" cy="4937760"/>
          </a:xfrm>
          <a:prstGeom prst="ellipse">
            <a:avLst/>
          </a:prstGeom>
          <a:solidFill>
            <a:srgbClr val="1B2350"/>
          </a:solidFill>
          <a:ln cap="flat" cmpd="sng" w="12700">
            <a:solidFill>
              <a:srgbClr val="1B2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7"/>
          <p:cNvSpPr/>
          <p:nvPr/>
        </p:nvSpPr>
        <p:spPr>
          <a:xfrm>
            <a:off x="566928" y="1737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0F5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7"/>
          <p:cNvSpPr/>
          <p:nvPr/>
        </p:nvSpPr>
        <p:spPr>
          <a:xfrm>
            <a:off x="566928" y="210312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7"/>
          <p:cNvSpPr/>
          <p:nvPr/>
        </p:nvSpPr>
        <p:spPr>
          <a:xfrm>
            <a:off x="566928" y="3200400"/>
            <a:ext cx="274320" cy="274320"/>
          </a:xfrm>
          <a:prstGeom prst="ellipse">
            <a:avLst/>
          </a:prstGeom>
          <a:solidFill>
            <a:srgbClr val="1B2350"/>
          </a:solidFill>
          <a:ln cap="flat" cmpd="sng" w="12700">
            <a:solidFill>
              <a:srgbClr val="3B45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7"/>
          <p:cNvSpPr/>
          <p:nvPr/>
        </p:nvSpPr>
        <p:spPr>
          <a:xfrm>
            <a:off x="566928" y="32004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0F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7"/>
          <p:cNvSpPr/>
          <p:nvPr/>
        </p:nvSpPr>
        <p:spPr>
          <a:xfrm>
            <a:off x="1024128" y="319125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9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5D9F5"/>
                </a:solidFill>
                <a:latin typeface="Calibri"/>
                <a:ea typeface="Calibri"/>
                <a:cs typeface="Calibri"/>
                <a:sym typeface="Calibri"/>
              </a:rPr>
              <a:t>Upload a PDF and watch the row turn Ready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7"/>
          <p:cNvSpPr/>
          <p:nvPr/>
        </p:nvSpPr>
        <p:spPr>
          <a:xfrm>
            <a:off x="566928" y="3703320"/>
            <a:ext cx="274320" cy="274320"/>
          </a:xfrm>
          <a:prstGeom prst="ellipse">
            <a:avLst/>
          </a:prstGeom>
          <a:solidFill>
            <a:srgbClr val="1B2350"/>
          </a:solidFill>
          <a:ln cap="flat" cmpd="sng" w="12700">
            <a:solidFill>
              <a:srgbClr val="3B45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7"/>
          <p:cNvSpPr/>
          <p:nvPr/>
        </p:nvSpPr>
        <p:spPr>
          <a:xfrm>
            <a:off x="566928" y="3703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0F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7"/>
          <p:cNvSpPr/>
          <p:nvPr/>
        </p:nvSpPr>
        <p:spPr>
          <a:xfrm>
            <a:off x="1024128" y="369417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9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5D9F5"/>
                </a:solidFill>
                <a:latin typeface="Calibri"/>
                <a:ea typeface="Calibri"/>
                <a:cs typeface="Calibri"/>
                <a:sym typeface="Calibri"/>
              </a:rPr>
              <a:t>Ask it a question — answer with its page citations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7"/>
          <p:cNvSpPr/>
          <p:nvPr/>
        </p:nvSpPr>
        <p:spPr>
          <a:xfrm>
            <a:off x="566928" y="4206240"/>
            <a:ext cx="274320" cy="274320"/>
          </a:xfrm>
          <a:prstGeom prst="ellipse">
            <a:avLst/>
          </a:prstGeom>
          <a:solidFill>
            <a:srgbClr val="1B2350"/>
          </a:solidFill>
          <a:ln cap="flat" cmpd="sng" w="12700">
            <a:solidFill>
              <a:srgbClr val="3B45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7"/>
          <p:cNvSpPr/>
          <p:nvPr/>
        </p:nvSpPr>
        <p:spPr>
          <a:xfrm>
            <a:off x="566928" y="42062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0F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7"/>
          <p:cNvSpPr/>
          <p:nvPr/>
        </p:nvSpPr>
        <p:spPr>
          <a:xfrm>
            <a:off x="1024128" y="419709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9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5D9F5"/>
                </a:solidFill>
                <a:latin typeface="Calibri"/>
                <a:ea typeface="Calibri"/>
                <a:cs typeface="Calibri"/>
                <a:sym typeface="Calibri"/>
              </a:rPr>
              <a:t>Generate an MCQ set and take the quiz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7"/>
          <p:cNvSpPr/>
          <p:nvPr/>
        </p:nvSpPr>
        <p:spPr>
          <a:xfrm>
            <a:off x="566928" y="4709160"/>
            <a:ext cx="274320" cy="274320"/>
          </a:xfrm>
          <a:prstGeom prst="ellipse">
            <a:avLst/>
          </a:prstGeom>
          <a:solidFill>
            <a:srgbClr val="1B2350"/>
          </a:solidFill>
          <a:ln cap="flat" cmpd="sng" w="12700">
            <a:solidFill>
              <a:srgbClr val="3B45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7"/>
          <p:cNvSpPr/>
          <p:nvPr/>
        </p:nvSpPr>
        <p:spPr>
          <a:xfrm>
            <a:off x="566928" y="47091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0F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7"/>
          <p:cNvSpPr/>
          <p:nvPr/>
        </p:nvSpPr>
        <p:spPr>
          <a:xfrm>
            <a:off x="1024128" y="470001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9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5D9F5"/>
                </a:solidFill>
                <a:latin typeface="Calibri"/>
                <a:ea typeface="Calibri"/>
                <a:cs typeface="Calibri"/>
                <a:sym typeface="Calibri"/>
              </a:rPr>
              <a:t>Open the evaluation verdict behind a resource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7"/>
          <p:cNvSpPr/>
          <p:nvPr/>
        </p:nvSpPr>
        <p:spPr>
          <a:xfrm>
            <a:off x="566928" y="5212080"/>
            <a:ext cx="274320" cy="274320"/>
          </a:xfrm>
          <a:prstGeom prst="ellipse">
            <a:avLst/>
          </a:prstGeom>
          <a:solidFill>
            <a:srgbClr val="1B2350"/>
          </a:solidFill>
          <a:ln cap="flat" cmpd="sng" w="12700">
            <a:solidFill>
              <a:srgbClr val="3B45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7"/>
          <p:cNvSpPr/>
          <p:nvPr/>
        </p:nvSpPr>
        <p:spPr>
          <a:xfrm>
            <a:off x="566928" y="5212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F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0F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1024128" y="520293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9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5D9F5"/>
                </a:solidFill>
                <a:latin typeface="Calibri"/>
                <a:ea typeface="Calibri"/>
                <a:cs typeface="Calibri"/>
                <a:sym typeface="Calibri"/>
              </a:rPr>
              <a:t>Analytics: scores per task, and what each gate rejected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8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3000"/>
              <a:buFont typeface="Calibri"/>
              <a:buNone/>
            </a:pPr>
            <a:r>
              <a:rPr sz="3000" b="1">
                <a:solidFill>
                  <a:srgbClr val="101533"/>
                </a:solidFill>
              </a:rPr>
              <a:t>What’s next</a:t>
            </a:r>
            <a:endParaRPr b="1" sz="3000">
              <a:solidFill>
                <a:srgbClr val="1015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8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1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C7191"/>
                </a:solidFill>
                <a:latin typeface="Calibri"/>
                <a:ea typeface="Calibri"/>
                <a:cs typeface="Calibri"/>
                <a:sym typeface="Calibri"/>
              </a:rPr>
              <a:t>Three things left: verify it, ship it, hand it over.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566928" y="1828800"/>
            <a:ext cx="3602736" cy="2468880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8"/>
          <p:cNvSpPr/>
          <p:nvPr/>
        </p:nvSpPr>
        <p:spPr>
          <a:xfrm>
            <a:off x="822960" y="2084831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8"/>
          <p:cNvSpPr/>
          <p:nvPr/>
        </p:nvSpPr>
        <p:spPr>
          <a:xfrm>
            <a:off x="822960" y="2606040"/>
            <a:ext cx="309067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Smoke test already runs end to 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Unit tests for the engine, pytest in CI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Track judge scores across prompt changes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8"/>
          <p:cNvSpPr/>
          <p:nvPr/>
        </p:nvSpPr>
        <p:spPr>
          <a:xfrm>
            <a:off x="4443984" y="1828800"/>
            <a:ext cx="3602736" cy="2468880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8"/>
          <p:cNvSpPr/>
          <p:nvPr/>
        </p:nvSpPr>
        <p:spPr>
          <a:xfrm>
            <a:off x="4700016" y="2084831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8"/>
          <p:cNvSpPr/>
          <p:nvPr/>
        </p:nvSpPr>
        <p:spPr>
          <a:xfrm>
            <a:off x="4700016" y="2606040"/>
            <a:ext cx="309067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GPU offload — seconds, not tens of seconds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Keycloak with TLS and a real database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Containerise the API, back up the volumes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8"/>
          <p:cNvSpPr/>
          <p:nvPr/>
        </p:nvSpPr>
        <p:spPr>
          <a:xfrm>
            <a:off x="8321040" y="1828800"/>
            <a:ext cx="3602736" cy="2468880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12700">
            <a:solidFill>
              <a:srgbClr val="E7E9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8A90B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8"/>
          <p:cNvSpPr/>
          <p:nvPr/>
        </p:nvSpPr>
        <p:spPr>
          <a:xfrm>
            <a:off x="8577072" y="2084831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01533"/>
                </a:solidFill>
                <a:latin typeface="Calibri"/>
                <a:ea typeface="Calibri"/>
                <a:cs typeface="Calibri"/>
                <a:sym typeface="Calibri"/>
              </a:rPr>
              <a:t>Project closure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8"/>
          <p:cNvSpPr/>
          <p:nvPr/>
        </p:nvSpPr>
        <p:spPr>
          <a:xfrm>
            <a:off x="8577072" y="2606040"/>
            <a:ext cx="309067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Freeze the integrated application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Hand over the smoke test and version registry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3B4166"/>
              </a:buClr>
              <a:buSzPts val="10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Keep the standalone components as the record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8"/>
          <p:cNvSpPr/>
          <p:nvPr/>
        </p:nvSpPr>
        <p:spPr>
          <a:xfrm>
            <a:off x="566928" y="4663440"/>
            <a:ext cx="11057839" cy="914400"/>
          </a:xfrm>
          <a:prstGeom prst="roundRect">
            <a:avLst>
              <a:gd fmla="val 10000" name="adj"/>
            </a:avLst>
          </a:prstGeom>
          <a:solidFill>
            <a:srgbClr val="E5E9FE"/>
          </a:solidFill>
          <a:ln cap="flat" cmpd="sng" w="12700">
            <a:solidFill>
              <a:srgbClr val="E5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8"/>
          <p:cNvSpPr/>
          <p:nvPr/>
        </p:nvSpPr>
        <p:spPr>
          <a:xfrm>
            <a:off x="768096" y="4754880"/>
            <a:ext cx="10655503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1533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3B4166"/>
                </a:solidFill>
                <a:latin typeface="Calibri"/>
                <a:ea typeface="Calibri"/>
                <a:cs typeface="Calibri"/>
                <a:sym typeface="Calibri"/>
              </a:rPr>
              <a:t>Nothing here requires rewriting the application.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8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LearnMateAI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8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AE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AEC7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33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9"/>
          <p:cNvSpPr/>
          <p:nvPr/>
        </p:nvSpPr>
        <p:spPr>
          <a:xfrm>
            <a:off x="566928" y="21488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566928" y="5943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6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F76A0"/>
                </a:solidFill>
                <a:latin typeface="Calibri"/>
                <a:ea typeface="Calibri"/>
                <a:cs typeface="Calibri"/>
                <a:sym typeface="Calibri"/>
              </a:rPr>
              <a:t>Group 08  ·  Dinura N. Ginige  ·  Tharumini Gamage  ·  Thevindu Fernando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2026-08-19T11:11:52Z</dcterms:created>
  <dc:creator>Group 08</dc:creator>
</cp:coreProperties>
</file>