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23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7726679" y="1097280"/>
            <a:ext cx="3703320" cy="3703320"/>
          </a:xfrm>
          <a:prstGeom prst="roundRect">
            <a:avLst>
              <a:gd name="adj" fmla="val 6000"/>
            </a:avLst>
          </a:prstGeom>
          <a:solidFill>
            <a:srgbClr val="161C3A"/>
          </a:solidFill>
          <a:ln w="9525">
            <a:solidFill>
              <a:srgbClr val="232A5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065008" y="1463040"/>
            <a:ext cx="457200" cy="50292"/>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065008" y="1755648"/>
            <a:ext cx="3063240" cy="2743200"/>
          </a:xfrm>
          <a:prstGeom prst="rect">
            <a:avLst/>
          </a:prstGeom>
          <a:noFill/>
        </p:spPr>
        <p:txBody>
          <a:bodyPr wrap="square" lIns="0" rIns="0" tIns="0" bIns="0" anchor="t">
            <a:spAutoFit/>
          </a:bodyPr>
          <a:lstStyle/>
          <a:p>
            <a:pPr algn="l">
              <a:lnSpc>
                <a:spcPct val="105000"/>
              </a:lnSpc>
              <a:spcBef>
                <a:spcPts val="0"/>
              </a:spcBef>
              <a:spcAft>
                <a:spcPts val="0"/>
              </a:spcAft>
            </a:pPr>
            <a:r>
              <a:rPr sz="1800" b="1">
                <a:solidFill>
                  <a:srgbClr val="2340E0"/>
                </a:solidFill>
                <a:latin typeface="Segoe UI"/>
              </a:rPr>
              <a:t>2     </a:t>
            </a:r>
            <a:r>
              <a:rPr sz="1050" b="0">
                <a:solidFill>
                  <a:srgbClr val="8E96C4"/>
                </a:solidFill>
                <a:latin typeface="Segoe UI"/>
              </a:rPr>
              <a:t>local language models, run in-process</a:t>
            </a:r>
          </a:p>
          <a:p>
            <a:pPr algn="l">
              <a:lnSpc>
                <a:spcPct val="105000"/>
              </a:lnSpc>
              <a:spcBef>
                <a:spcPts val="1500"/>
              </a:spcBef>
              <a:spcAft>
                <a:spcPts val="0"/>
              </a:spcAft>
            </a:pPr>
            <a:r>
              <a:rPr sz="1800" b="1">
                <a:solidFill>
                  <a:srgbClr val="2340E0"/>
                </a:solidFill>
                <a:latin typeface="Segoe UI"/>
              </a:rPr>
              <a:t>4     </a:t>
            </a:r>
            <a:r>
              <a:rPr sz="1050" b="0">
                <a:solidFill>
                  <a:srgbClr val="8E96C4"/>
                </a:solidFill>
                <a:latin typeface="Segoe UI"/>
              </a:rPr>
              <a:t>kinds of study material, each judged</a:t>
            </a:r>
          </a:p>
          <a:p>
            <a:pPr algn="l">
              <a:lnSpc>
                <a:spcPct val="105000"/>
              </a:lnSpc>
              <a:spcBef>
                <a:spcPts val="1500"/>
              </a:spcBef>
              <a:spcAft>
                <a:spcPts val="0"/>
              </a:spcAft>
            </a:pPr>
            <a:r>
              <a:rPr sz="1800" b="1">
                <a:solidFill>
                  <a:srgbClr val="2340E0"/>
                </a:solidFill>
                <a:latin typeface="Segoe UI"/>
              </a:rPr>
              <a:t>3     </a:t>
            </a:r>
            <a:r>
              <a:rPr sz="1050" b="0">
                <a:solidFill>
                  <a:srgbClr val="8E96C4"/>
                </a:solidFill>
                <a:latin typeface="Segoe UI"/>
              </a:rPr>
              <a:t>data stores: documents, vectors, identity</a:t>
            </a:r>
          </a:p>
          <a:p>
            <a:pPr algn="l">
              <a:lnSpc>
                <a:spcPct val="105000"/>
              </a:lnSpc>
              <a:spcBef>
                <a:spcPts val="1500"/>
              </a:spcBef>
              <a:spcAft>
                <a:spcPts val="0"/>
              </a:spcAft>
            </a:pPr>
            <a:r>
              <a:rPr sz="1800" b="1">
                <a:solidFill>
                  <a:srgbClr val="2340E0"/>
                </a:solidFill>
                <a:latin typeface="Segoe UI"/>
              </a:rPr>
              <a:t>0     </a:t>
            </a:r>
            <a:r>
              <a:rPr sz="1050" b="0">
                <a:solidFill>
                  <a:srgbClr val="8E96C4"/>
                </a:solidFill>
                <a:latin typeface="Segoe UI"/>
              </a:rPr>
              <a:t>bytes that leave the machine</a:t>
            </a:r>
          </a:p>
        </p:txBody>
      </p:sp>
      <p:sp>
        <p:nvSpPr>
          <p:cNvPr id="6" name="TextBox 5"/>
          <p:cNvSpPr txBox="1"/>
          <p:nvPr/>
        </p:nvSpPr>
        <p:spPr>
          <a:xfrm>
            <a:off x="1005840" y="1847088"/>
            <a:ext cx="6675120" cy="365760"/>
          </a:xfrm>
          <a:prstGeom prst="rect">
            <a:avLst/>
          </a:prstGeom>
          <a:noFill/>
        </p:spPr>
        <p:txBody>
          <a:bodyPr wrap="square" lIns="0" rIns="0" tIns="0" bIns="0" anchor="t">
            <a:spAutoFit/>
          </a:bodyPr>
          <a:lstStyle/>
          <a:p>
            <a:pPr algn="l">
              <a:lnSpc>
                <a:spcPct val="122000"/>
              </a:lnSpc>
              <a:spcBef>
                <a:spcPts val="0"/>
              </a:spcBef>
              <a:spcAft>
                <a:spcPts val="0"/>
              </a:spcAft>
            </a:pPr>
            <a:r>
              <a:rPr sz="1000" b="1" i="0" spc="190">
                <a:solidFill>
                  <a:srgbClr val="7C86BC"/>
                </a:solidFill>
                <a:latin typeface="Segoe UI"/>
              </a:rPr>
              <a:t>SEMESTER 5   ·   GROUP PROJECT   ·   GROUP 8</a:t>
            </a:r>
          </a:p>
        </p:txBody>
      </p:sp>
      <p:sp>
        <p:nvSpPr>
          <p:cNvPr id="7" name="TextBox 6"/>
          <p:cNvSpPr txBox="1"/>
          <p:nvPr/>
        </p:nvSpPr>
        <p:spPr>
          <a:xfrm>
            <a:off x="1005840" y="2249424"/>
            <a:ext cx="6949440" cy="1188720"/>
          </a:xfrm>
          <a:prstGeom prst="rect">
            <a:avLst/>
          </a:prstGeom>
          <a:noFill/>
        </p:spPr>
        <p:txBody>
          <a:bodyPr wrap="square" lIns="0" rIns="0" tIns="0" bIns="0" anchor="t">
            <a:spAutoFit/>
          </a:bodyPr>
          <a:lstStyle/>
          <a:p>
            <a:pPr algn="l">
              <a:lnSpc>
                <a:spcPct val="100000"/>
              </a:lnSpc>
              <a:spcBef>
                <a:spcPts val="0"/>
              </a:spcBef>
              <a:spcAft>
                <a:spcPts val="0"/>
              </a:spcAft>
            </a:pPr>
            <a:r>
              <a:rPr sz="5400" b="1" i="0" spc="-30">
                <a:solidFill>
                  <a:srgbClr val="FFFFFF"/>
                </a:solidFill>
                <a:latin typeface="Segoe UI"/>
              </a:rPr>
              <a:t>LearnMateAI</a:t>
            </a:r>
          </a:p>
        </p:txBody>
      </p:sp>
      <p:sp>
        <p:nvSpPr>
          <p:cNvPr id="8" name="Rectangle 7"/>
          <p:cNvSpPr/>
          <p:nvPr/>
        </p:nvSpPr>
        <p:spPr>
          <a:xfrm>
            <a:off x="1005840" y="3584448"/>
            <a:ext cx="566928" cy="45720"/>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3858768"/>
            <a:ext cx="6492240" cy="1280160"/>
          </a:xfrm>
          <a:prstGeom prst="rect">
            <a:avLst/>
          </a:prstGeom>
          <a:noFill/>
        </p:spPr>
        <p:txBody>
          <a:bodyPr wrap="square" lIns="0" rIns="0" tIns="0" bIns="0" anchor="t">
            <a:spAutoFit/>
          </a:bodyPr>
          <a:lstStyle/>
          <a:p>
            <a:pPr algn="l">
              <a:lnSpc>
                <a:spcPct val="134000"/>
              </a:lnSpc>
              <a:spcBef>
                <a:spcPts val="0"/>
              </a:spcBef>
              <a:spcAft>
                <a:spcPts val="0"/>
              </a:spcAft>
            </a:pPr>
            <a:r>
              <a:rPr sz="1700" b="0" i="0">
                <a:solidFill>
                  <a:srgbClr val="C3C9EC"/>
                </a:solidFill>
                <a:latin typeface="Segoe UI"/>
              </a:rPr>
              <a:t>An E-Learning Platform for Self-Learning
Using Large Language Models</a:t>
            </a:r>
          </a:p>
        </p:txBody>
      </p:sp>
      <p:sp>
        <p:nvSpPr>
          <p:cNvPr id="10" name="TextBox 9"/>
          <p:cNvSpPr txBox="1"/>
          <p:nvPr/>
        </p:nvSpPr>
        <p:spPr>
          <a:xfrm>
            <a:off x="1005840" y="5138928"/>
            <a:ext cx="6766560" cy="914400"/>
          </a:xfrm>
          <a:prstGeom prst="rect">
            <a:avLst/>
          </a:prstGeom>
          <a:noFill/>
        </p:spPr>
        <p:txBody>
          <a:bodyPr wrap="square" lIns="0" rIns="0" tIns="0" bIns="0" anchor="t">
            <a:spAutoFit/>
          </a:bodyPr>
          <a:lstStyle/>
          <a:p>
            <a:pPr algn="l">
              <a:lnSpc>
                <a:spcPct val="122000"/>
              </a:lnSpc>
              <a:spcBef>
                <a:spcPts val="0"/>
              </a:spcBef>
              <a:spcAft>
                <a:spcPts val="0"/>
              </a:spcAft>
            </a:pPr>
            <a:r>
              <a:rPr sz="1250" b="1" i="0">
                <a:solidFill>
                  <a:srgbClr val="9AA3D0"/>
                </a:solidFill>
                <a:latin typeface="Segoe UI"/>
              </a:rPr>
              <a:t>Dinura N. Ginige     ·     Tharumini Gamage     ·     Thevindu Fernando</a:t>
            </a:r>
          </a:p>
          <a:p>
            <a:pPr algn="l">
              <a:lnSpc>
                <a:spcPct val="122000"/>
              </a:lnSpc>
              <a:spcBef>
                <a:spcPts val="1000"/>
              </a:spcBef>
              <a:spcAft>
                <a:spcPts val="0"/>
              </a:spcAft>
            </a:pPr>
            <a:r>
              <a:rPr sz="1100" b="0" i="0">
                <a:solidFill>
                  <a:srgbClr val="6C77AE"/>
                </a:solidFill>
                <a:latin typeface="Segoe UI"/>
              </a:rPr>
              <a:t>Every model runs locally. No uploaded document ever leaves the machine.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01 · PROBLEM STATEMENT</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A PDF cannot be asked a question</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6" name="TextBox 5"/>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02</a:t>
            </a:r>
          </a:p>
        </p:txBody>
      </p:sp>
      <p:sp>
        <p:nvSpPr>
          <p:cNvPr id="7" name="TextBox 6"/>
          <p:cNvSpPr txBox="1"/>
          <p:nvPr/>
        </p:nvSpPr>
        <p:spPr>
          <a:xfrm>
            <a:off x="777240" y="1801368"/>
            <a:ext cx="5897880" cy="365760"/>
          </a:xfrm>
          <a:prstGeom prst="rect">
            <a:avLst/>
          </a:prstGeom>
          <a:noFill/>
        </p:spPr>
        <p:txBody>
          <a:bodyPr wrap="square" lIns="0" rIns="0" tIns="0" bIns="0" anchor="t">
            <a:spAutoFit/>
          </a:bodyPr>
          <a:lstStyle/>
          <a:p>
            <a:pPr algn="l" marL="182880" indent="-182880">
              <a:lnSpc>
                <a:spcPct val="128000"/>
              </a:lnSpc>
              <a:spcBef>
                <a:spcPts val="0"/>
              </a:spcBef>
              <a:spcAft>
                <a:spcPts val="1100"/>
              </a:spcAft>
              <a:buClr>
                <a:srgbClr val="2340E0"/>
              </a:buClr>
              <a:buSzPct val="90000"/>
              <a:buFont typeface="Arial"/>
              <a:buChar char="▪"/>
            </a:pPr>
            <a:r>
              <a:rPr sz="1250" b="1">
                <a:solidFill>
                  <a:srgbClr val="101533"/>
                </a:solidFill>
                <a:latin typeface="Segoe UI"/>
              </a:rPr>
              <a:t>Lecture material is static. </a:t>
            </a:r>
            <a:r>
              <a:rPr sz="1250" b="0">
                <a:solidFill>
                  <a:srgbClr val="3B4166"/>
                </a:solidFill>
                <a:latin typeface="Segoe UI"/>
              </a:rPr>
              <a:t>It can be read from beginning to end, but not interrogated, quizzed against, or summarised on demand.</a:t>
            </a:r>
          </a:p>
          <a:p>
            <a:pPr algn="l" marL="182880" indent="-182880">
              <a:lnSpc>
                <a:spcPct val="128000"/>
              </a:lnSpc>
              <a:spcBef>
                <a:spcPts val="0"/>
              </a:spcBef>
              <a:spcAft>
                <a:spcPts val="1100"/>
              </a:spcAft>
              <a:buClr>
                <a:srgbClr val="2340E0"/>
              </a:buClr>
              <a:buSzPct val="90000"/>
              <a:buFont typeface="Arial"/>
              <a:buChar char="▪"/>
            </a:pPr>
            <a:r>
              <a:rPr sz="1250" b="1">
                <a:solidFill>
                  <a:srgbClr val="101533"/>
                </a:solidFill>
                <a:latin typeface="Segoe UI"/>
              </a:rPr>
              <a:t>General chatbots answer from the internet. </a:t>
            </a:r>
            <a:r>
              <a:rPr sz="1250" b="0">
                <a:solidFill>
                  <a:srgbClr val="3B4166"/>
                </a:solidFill>
                <a:latin typeface="Segoe UI"/>
              </a:rPr>
              <a:t>Not from your lecture notes — and with no page you can turn to and check.</a:t>
            </a:r>
          </a:p>
          <a:p>
            <a:pPr algn="l" marL="182880" indent="-182880">
              <a:lnSpc>
                <a:spcPct val="128000"/>
              </a:lnSpc>
              <a:spcBef>
                <a:spcPts val="0"/>
              </a:spcBef>
              <a:spcAft>
                <a:spcPts val="1100"/>
              </a:spcAft>
              <a:buClr>
                <a:srgbClr val="2340E0"/>
              </a:buClr>
              <a:buSzPct val="90000"/>
              <a:buFont typeface="Arial"/>
              <a:buChar char="▪"/>
            </a:pPr>
            <a:r>
              <a:rPr sz="1250" b="1">
                <a:solidFill>
                  <a:srgbClr val="101533"/>
                </a:solidFill>
                <a:latin typeface="Segoe UI"/>
              </a:rPr>
              <a:t>Generated study material is unverified. </a:t>
            </a:r>
            <a:r>
              <a:rPr sz="1250" b="0">
                <a:solidFill>
                  <a:srgbClr val="3B4166"/>
                </a:solidFill>
                <a:latin typeface="Segoe UI"/>
              </a:rPr>
              <a:t>An MCQ with the wrong option marked correct teaches the wrong thing, confidently.</a:t>
            </a:r>
          </a:p>
          <a:p>
            <a:pPr algn="l" marL="182880" indent="-182880">
              <a:lnSpc>
                <a:spcPct val="128000"/>
              </a:lnSpc>
              <a:spcBef>
                <a:spcPts val="0"/>
              </a:spcBef>
              <a:spcAft>
                <a:spcPts val="1100"/>
              </a:spcAft>
              <a:buClr>
                <a:srgbClr val="2340E0"/>
              </a:buClr>
              <a:buSzPct val="90000"/>
              <a:buFont typeface="Arial"/>
              <a:buChar char="▪"/>
            </a:pPr>
            <a:r>
              <a:rPr sz="1250" b="1">
                <a:solidFill>
                  <a:srgbClr val="101533"/>
                </a:solidFill>
                <a:latin typeface="Segoe UI"/>
              </a:rPr>
              <a:t>Course material is sensitive. </a:t>
            </a:r>
            <a:r>
              <a:rPr sz="1250" b="0">
                <a:solidFill>
                  <a:srgbClr val="3B4166"/>
                </a:solidFill>
                <a:latin typeface="Segoe UI"/>
              </a:rPr>
              <a:t>Uploading a department's notes to a cloud model is a privacy question most institutions cannot answer.</a:t>
            </a:r>
          </a:p>
          <a:p>
            <a:pPr algn="l" marL="182880" indent="-182880">
              <a:lnSpc>
                <a:spcPct val="128000"/>
              </a:lnSpc>
              <a:spcBef>
                <a:spcPts val="0"/>
              </a:spcBef>
              <a:spcAft>
                <a:spcPts val="1100"/>
              </a:spcAft>
              <a:buClr>
                <a:srgbClr val="2340E0"/>
              </a:buClr>
              <a:buSzPct val="90000"/>
              <a:buFont typeface="Arial"/>
              <a:buChar char="▪"/>
            </a:pPr>
            <a:r>
              <a:rPr sz="1250" b="1">
                <a:solidFill>
                  <a:srgbClr val="101533"/>
                </a:solidFill>
                <a:latin typeface="Segoe UI"/>
              </a:rPr>
              <a:t>Sri Lankan legal education in particular </a:t>
            </a:r>
            <a:r>
              <a:rPr sz="1250" b="0">
                <a:solidFill>
                  <a:srgbClr val="3B4166"/>
                </a:solidFill>
                <a:latin typeface="Segoe UI"/>
              </a:rPr>
              <a:t>has very little digitised, subject-aligned material to study from.</a:t>
            </a:r>
          </a:p>
        </p:txBody>
      </p:sp>
      <p:sp>
        <p:nvSpPr>
          <p:cNvPr id="8" name="Rounded Rectangle 7"/>
          <p:cNvSpPr/>
          <p:nvPr/>
        </p:nvSpPr>
        <p:spPr>
          <a:xfrm>
            <a:off x="6949440" y="1783080"/>
            <a:ext cx="4462272" cy="278892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205472" y="2020824"/>
            <a:ext cx="3950208"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2340E0"/>
                </a:solidFill>
                <a:latin typeface="Segoe UI"/>
              </a:rPr>
              <a:t>THE GAP</a:t>
            </a:r>
          </a:p>
        </p:txBody>
      </p:sp>
      <p:sp>
        <p:nvSpPr>
          <p:cNvPr id="10" name="TextBox 9"/>
          <p:cNvSpPr txBox="1"/>
          <p:nvPr/>
        </p:nvSpPr>
        <p:spPr>
          <a:xfrm>
            <a:off x="7205472" y="2295144"/>
            <a:ext cx="3950208"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What is missing</a:t>
            </a:r>
          </a:p>
        </p:txBody>
      </p:sp>
      <p:sp>
        <p:nvSpPr>
          <p:cNvPr id="11" name="TextBox 10"/>
          <p:cNvSpPr txBox="1"/>
          <p:nvPr/>
        </p:nvSpPr>
        <p:spPr>
          <a:xfrm>
            <a:off x="7205472" y="2606039"/>
            <a:ext cx="3950208" cy="172821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2340E0"/>
              </a:buClr>
              <a:buSzPct val="85000"/>
              <a:buFont typeface="Arial"/>
              <a:buChar char="▪"/>
            </a:pPr>
            <a:r>
              <a:rPr sz="1150" b="0" i="0">
                <a:solidFill>
                  <a:srgbClr val="6C7191"/>
                </a:solidFill>
                <a:latin typeface="Segoe UI"/>
              </a:rPr>
              <a:t>Study material generated from your own document</a:t>
            </a:r>
          </a:p>
          <a:p>
            <a:pPr algn="l" marL="146304" indent="-146304">
              <a:lnSpc>
                <a:spcPct val="128000"/>
              </a:lnSpc>
              <a:spcBef>
                <a:spcPts val="0"/>
              </a:spcBef>
              <a:spcAft>
                <a:spcPts val="500"/>
              </a:spcAft>
              <a:buClr>
                <a:srgbClr val="2340E0"/>
              </a:buClr>
              <a:buSzPct val="85000"/>
              <a:buFont typeface="Arial"/>
              <a:buChar char="▪"/>
            </a:pPr>
            <a:r>
              <a:rPr sz="1150" b="0" i="0">
                <a:solidFill>
                  <a:srgbClr val="6C7191"/>
                </a:solidFill>
                <a:latin typeface="Segoe UI"/>
              </a:rPr>
              <a:t>Answers that name the page they came from</a:t>
            </a:r>
          </a:p>
          <a:p>
            <a:pPr algn="l" marL="146304" indent="-146304">
              <a:lnSpc>
                <a:spcPct val="128000"/>
              </a:lnSpc>
              <a:spcBef>
                <a:spcPts val="0"/>
              </a:spcBef>
              <a:spcAft>
                <a:spcPts val="500"/>
              </a:spcAft>
              <a:buClr>
                <a:srgbClr val="2340E0"/>
              </a:buClr>
              <a:buSzPct val="85000"/>
              <a:buFont typeface="Arial"/>
              <a:buChar char="▪"/>
            </a:pPr>
            <a:r>
              <a:rPr sz="1150" b="0" i="0">
                <a:solidFill>
                  <a:srgbClr val="6C7191"/>
                </a:solidFill>
                <a:latin typeface="Segoe UI"/>
              </a:rPr>
              <a:t>Every output checked before a student sees it</a:t>
            </a:r>
          </a:p>
          <a:p>
            <a:pPr algn="l" marL="146304" indent="-146304">
              <a:lnSpc>
                <a:spcPct val="128000"/>
              </a:lnSpc>
              <a:spcBef>
                <a:spcPts val="0"/>
              </a:spcBef>
              <a:spcAft>
                <a:spcPts val="500"/>
              </a:spcAft>
              <a:buClr>
                <a:srgbClr val="2340E0"/>
              </a:buClr>
              <a:buSzPct val="85000"/>
              <a:buFont typeface="Arial"/>
              <a:buChar char="▪"/>
            </a:pPr>
            <a:r>
              <a:rPr sz="1150" b="0" i="0">
                <a:solidFill>
                  <a:srgbClr val="6C7191"/>
                </a:solidFill>
                <a:latin typeface="Segoe UI"/>
              </a:rPr>
              <a:t>Nothing leaving the machine it runs on</a:t>
            </a:r>
          </a:p>
        </p:txBody>
      </p:sp>
      <p:sp>
        <p:nvSpPr>
          <p:cNvPr id="12" name="Rounded Rectangle 11"/>
          <p:cNvSpPr/>
          <p:nvPr/>
        </p:nvSpPr>
        <p:spPr>
          <a:xfrm>
            <a:off x="777240" y="4956048"/>
            <a:ext cx="10637215" cy="960120"/>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77240" y="5084064"/>
            <a:ext cx="41148" cy="70408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51560" y="4956048"/>
            <a:ext cx="10106863" cy="960120"/>
          </a:xfrm>
          <a:prstGeom prst="rect">
            <a:avLst/>
          </a:prstGeom>
          <a:noFill/>
        </p:spPr>
        <p:txBody>
          <a:bodyPr wrap="square" lIns="0" rIns="0" tIns="0" bIns="0" anchor="ctr">
            <a:spAutoFit/>
          </a:bodyPr>
          <a:lstStyle/>
          <a:p>
            <a:pPr algn="l">
              <a:lnSpc>
                <a:spcPct val="122000"/>
              </a:lnSpc>
              <a:spcBef>
                <a:spcPts val="0"/>
              </a:spcBef>
              <a:spcAft>
                <a:spcPts val="0"/>
              </a:spcAft>
            </a:pPr>
            <a:r>
              <a:rPr sz="850" b="1" i="0" spc="130">
                <a:solidFill>
                  <a:srgbClr val="2340E0"/>
                </a:solidFill>
                <a:latin typeface="Segoe UI"/>
              </a:rPr>
              <a:t>THE PREMISE</a:t>
            </a:r>
          </a:p>
          <a:p>
            <a:pPr algn="l">
              <a:lnSpc>
                <a:spcPct val="132000"/>
              </a:lnSpc>
              <a:spcBef>
                <a:spcPts val="500"/>
              </a:spcBef>
              <a:spcAft>
                <a:spcPts val="0"/>
              </a:spcAft>
            </a:pPr>
            <a:r>
              <a:rPr sz="1100" b="0" i="0">
                <a:solidFill>
                  <a:srgbClr val="3B4166"/>
                </a:solidFill>
                <a:latin typeface="Segoe UI"/>
              </a:rPr>
              <a:t>Material a student studies from has to be traceable to its source and checked before delivery. Without both, a generated summary and a confident guess are indistinguishable from the outside.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02 · ABOUT</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What LearnMateAI does</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Upload a PDF. Ask it questions and get answers that cite the pages they came from, or generate study material from it. Everything the system produces is graded by a second model before it reaches you.</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03</a:t>
            </a:r>
          </a:p>
        </p:txBody>
      </p:sp>
      <p:sp>
        <p:nvSpPr>
          <p:cNvPr id="8" name="Rounded Rectangle 7"/>
          <p:cNvSpPr/>
          <p:nvPr/>
        </p:nvSpPr>
        <p:spPr>
          <a:xfrm>
            <a:off x="777240" y="2432304"/>
            <a:ext cx="2480995" cy="2139696"/>
          </a:xfrm>
          <a:prstGeom prst="roundRect">
            <a:avLst>
              <a:gd name="adj" fmla="val 9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77240" y="2688336"/>
            <a:ext cx="45720" cy="1627631"/>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69848" y="2670048"/>
            <a:ext cx="1932355" cy="256032"/>
          </a:xfrm>
          <a:prstGeom prst="rect">
            <a:avLst/>
          </a:prstGeom>
          <a:noFill/>
        </p:spPr>
        <p:txBody>
          <a:bodyPr wrap="square" lIns="0" rIns="0" tIns="0" bIns="0" anchor="t">
            <a:spAutoFit/>
          </a:bodyPr>
          <a:lstStyle/>
          <a:p>
            <a:pPr algn="l">
              <a:lnSpc>
                <a:spcPct val="122000"/>
              </a:lnSpc>
              <a:spcBef>
                <a:spcPts val="0"/>
              </a:spcBef>
              <a:spcAft>
                <a:spcPts val="0"/>
              </a:spcAft>
            </a:pPr>
            <a:r>
              <a:rPr sz="950" b="1" i="0" spc="110">
                <a:solidFill>
                  <a:srgbClr val="2340E0"/>
                </a:solidFill>
                <a:latin typeface="Segoe UI"/>
              </a:rPr>
              <a:t>01  UPLOAD</a:t>
            </a:r>
          </a:p>
        </p:txBody>
      </p:sp>
      <p:sp>
        <p:nvSpPr>
          <p:cNvPr id="11" name="TextBox 10"/>
          <p:cNvSpPr txBox="1"/>
          <p:nvPr/>
        </p:nvSpPr>
        <p:spPr>
          <a:xfrm>
            <a:off x="1069848" y="2926080"/>
            <a:ext cx="1932355" cy="365760"/>
          </a:xfrm>
          <a:prstGeom prst="rect">
            <a:avLst/>
          </a:prstGeom>
          <a:noFill/>
        </p:spPr>
        <p:txBody>
          <a:bodyPr wrap="square" lIns="0" rIns="0" tIns="0" bIns="0" anchor="t">
            <a:spAutoFit/>
          </a:bodyPr>
          <a:lstStyle/>
          <a:p>
            <a:pPr algn="l">
              <a:lnSpc>
                <a:spcPct val="112000"/>
              </a:lnSpc>
              <a:spcBef>
                <a:spcPts val="0"/>
              </a:spcBef>
              <a:spcAft>
                <a:spcPts val="0"/>
              </a:spcAft>
            </a:pPr>
            <a:r>
              <a:rPr sz="1300" b="1" i="0">
                <a:solidFill>
                  <a:srgbClr val="101533"/>
                </a:solidFill>
                <a:latin typeface="Segoe UI"/>
              </a:rPr>
              <a:t>Read the document</a:t>
            </a:r>
          </a:p>
        </p:txBody>
      </p:sp>
      <p:sp>
        <p:nvSpPr>
          <p:cNvPr id="12" name="TextBox 11"/>
          <p:cNvSpPr txBox="1"/>
          <p:nvPr/>
        </p:nvSpPr>
        <p:spPr>
          <a:xfrm>
            <a:off x="1069848" y="3310128"/>
            <a:ext cx="1932355" cy="1024127"/>
          </a:xfrm>
          <a:prstGeom prst="rect">
            <a:avLst/>
          </a:prstGeom>
          <a:noFill/>
        </p:spPr>
        <p:txBody>
          <a:bodyPr wrap="square" lIns="0" rIns="0" tIns="0" bIns="0" anchor="t">
            <a:spAutoFit/>
          </a:bodyPr>
          <a:lstStyle/>
          <a:p>
            <a:pPr algn="l">
              <a:lnSpc>
                <a:spcPct val="134000"/>
              </a:lnSpc>
              <a:spcBef>
                <a:spcPts val="0"/>
              </a:spcBef>
              <a:spcAft>
                <a:spcPts val="0"/>
              </a:spcAft>
            </a:pPr>
            <a:r>
              <a:rPr sz="1050" b="0" i="0">
                <a:solidFill>
                  <a:srgbClr val="6C7191"/>
                </a:solidFill>
                <a:latin typeface="Segoe UI"/>
              </a:rPr>
              <a:t>Validate, extract, clean, chunk and embed a PDF into a searchable index. Page numbers survive the whole pipeline — they are what citations point at.</a:t>
            </a:r>
          </a:p>
        </p:txBody>
      </p:sp>
      <p:sp>
        <p:nvSpPr>
          <p:cNvPr id="13" name="Rounded Rectangle 12"/>
          <p:cNvSpPr/>
          <p:nvPr/>
        </p:nvSpPr>
        <p:spPr>
          <a:xfrm>
            <a:off x="3495979" y="2432304"/>
            <a:ext cx="2480995" cy="2139696"/>
          </a:xfrm>
          <a:prstGeom prst="roundRect">
            <a:avLst>
              <a:gd name="adj" fmla="val 9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495979" y="2688336"/>
            <a:ext cx="45720" cy="1627631"/>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88587" y="2670048"/>
            <a:ext cx="1932355" cy="256032"/>
          </a:xfrm>
          <a:prstGeom prst="rect">
            <a:avLst/>
          </a:prstGeom>
          <a:noFill/>
        </p:spPr>
        <p:txBody>
          <a:bodyPr wrap="square" lIns="0" rIns="0" tIns="0" bIns="0" anchor="t">
            <a:spAutoFit/>
          </a:bodyPr>
          <a:lstStyle/>
          <a:p>
            <a:pPr algn="l">
              <a:lnSpc>
                <a:spcPct val="122000"/>
              </a:lnSpc>
              <a:spcBef>
                <a:spcPts val="0"/>
              </a:spcBef>
              <a:spcAft>
                <a:spcPts val="0"/>
              </a:spcAft>
            </a:pPr>
            <a:r>
              <a:rPr sz="950" b="1" i="0" spc="110">
                <a:solidFill>
                  <a:srgbClr val="2340E0"/>
                </a:solidFill>
                <a:latin typeface="Segoe UI"/>
              </a:rPr>
              <a:t>02  ASK</a:t>
            </a:r>
          </a:p>
        </p:txBody>
      </p:sp>
      <p:sp>
        <p:nvSpPr>
          <p:cNvPr id="16" name="TextBox 15"/>
          <p:cNvSpPr txBox="1"/>
          <p:nvPr/>
        </p:nvSpPr>
        <p:spPr>
          <a:xfrm>
            <a:off x="3788587" y="2926080"/>
            <a:ext cx="1932355" cy="365760"/>
          </a:xfrm>
          <a:prstGeom prst="rect">
            <a:avLst/>
          </a:prstGeom>
          <a:noFill/>
        </p:spPr>
        <p:txBody>
          <a:bodyPr wrap="square" lIns="0" rIns="0" tIns="0" bIns="0" anchor="t">
            <a:spAutoFit/>
          </a:bodyPr>
          <a:lstStyle/>
          <a:p>
            <a:pPr algn="l">
              <a:lnSpc>
                <a:spcPct val="112000"/>
              </a:lnSpc>
              <a:spcBef>
                <a:spcPts val="0"/>
              </a:spcBef>
              <a:spcAft>
                <a:spcPts val="0"/>
              </a:spcAft>
            </a:pPr>
            <a:r>
              <a:rPr sz="1300" b="1" i="0">
                <a:solidFill>
                  <a:srgbClr val="101533"/>
                </a:solidFill>
                <a:latin typeface="Segoe UI"/>
              </a:rPr>
              <a:t>Grounded chat</a:t>
            </a:r>
          </a:p>
        </p:txBody>
      </p:sp>
      <p:sp>
        <p:nvSpPr>
          <p:cNvPr id="17" name="TextBox 16"/>
          <p:cNvSpPr txBox="1"/>
          <p:nvPr/>
        </p:nvSpPr>
        <p:spPr>
          <a:xfrm>
            <a:off x="3788587" y="3310128"/>
            <a:ext cx="1932355" cy="1024127"/>
          </a:xfrm>
          <a:prstGeom prst="rect">
            <a:avLst/>
          </a:prstGeom>
          <a:noFill/>
        </p:spPr>
        <p:txBody>
          <a:bodyPr wrap="square" lIns="0" rIns="0" tIns="0" bIns="0" anchor="t">
            <a:spAutoFit/>
          </a:bodyPr>
          <a:lstStyle/>
          <a:p>
            <a:pPr algn="l">
              <a:lnSpc>
                <a:spcPct val="134000"/>
              </a:lnSpc>
              <a:spcBef>
                <a:spcPts val="0"/>
              </a:spcBef>
              <a:spcAft>
                <a:spcPts val="0"/>
              </a:spcAft>
            </a:pPr>
            <a:r>
              <a:rPr sz="1050" b="0" i="0">
                <a:solidFill>
                  <a:srgbClr val="6C7191"/>
                </a:solidFill>
                <a:latin typeface="Segoe UI"/>
              </a:rPr>
              <a:t>Answers built from the retrieved passages, carrying the pages they came from. A question the document does not cover is answered separately, without citations.</a:t>
            </a:r>
          </a:p>
        </p:txBody>
      </p:sp>
      <p:sp>
        <p:nvSpPr>
          <p:cNvPr id="18" name="Rounded Rectangle 17"/>
          <p:cNvSpPr/>
          <p:nvPr/>
        </p:nvSpPr>
        <p:spPr>
          <a:xfrm>
            <a:off x="6214719" y="2432304"/>
            <a:ext cx="2480995" cy="2139696"/>
          </a:xfrm>
          <a:prstGeom prst="roundRect">
            <a:avLst>
              <a:gd name="adj" fmla="val 9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14719" y="2688336"/>
            <a:ext cx="45720" cy="1627631"/>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07327" y="2670048"/>
            <a:ext cx="1932355" cy="256032"/>
          </a:xfrm>
          <a:prstGeom prst="rect">
            <a:avLst/>
          </a:prstGeom>
          <a:noFill/>
        </p:spPr>
        <p:txBody>
          <a:bodyPr wrap="square" lIns="0" rIns="0" tIns="0" bIns="0" anchor="t">
            <a:spAutoFit/>
          </a:bodyPr>
          <a:lstStyle/>
          <a:p>
            <a:pPr algn="l">
              <a:lnSpc>
                <a:spcPct val="122000"/>
              </a:lnSpc>
              <a:spcBef>
                <a:spcPts val="0"/>
              </a:spcBef>
              <a:spcAft>
                <a:spcPts val="0"/>
              </a:spcAft>
            </a:pPr>
            <a:r>
              <a:rPr sz="950" b="1" i="0" spc="110">
                <a:solidFill>
                  <a:srgbClr val="2340E0"/>
                </a:solidFill>
                <a:latin typeface="Segoe UI"/>
              </a:rPr>
              <a:t>03  GENERATE</a:t>
            </a:r>
          </a:p>
        </p:txBody>
      </p:sp>
      <p:sp>
        <p:nvSpPr>
          <p:cNvPr id="21" name="TextBox 20"/>
          <p:cNvSpPr txBox="1"/>
          <p:nvPr/>
        </p:nvSpPr>
        <p:spPr>
          <a:xfrm>
            <a:off x="6507327" y="2926080"/>
            <a:ext cx="1932355" cy="365760"/>
          </a:xfrm>
          <a:prstGeom prst="rect">
            <a:avLst/>
          </a:prstGeom>
          <a:noFill/>
        </p:spPr>
        <p:txBody>
          <a:bodyPr wrap="square" lIns="0" rIns="0" tIns="0" bIns="0" anchor="t">
            <a:spAutoFit/>
          </a:bodyPr>
          <a:lstStyle/>
          <a:p>
            <a:pPr algn="l">
              <a:lnSpc>
                <a:spcPct val="112000"/>
              </a:lnSpc>
              <a:spcBef>
                <a:spcPts val="0"/>
              </a:spcBef>
              <a:spcAft>
                <a:spcPts val="0"/>
              </a:spcAft>
            </a:pPr>
            <a:r>
              <a:rPr sz="1300" b="1" i="0">
                <a:solidFill>
                  <a:srgbClr val="101533"/>
                </a:solidFill>
                <a:latin typeface="Segoe UI"/>
              </a:rPr>
              <a:t>Four kinds of material</a:t>
            </a:r>
          </a:p>
        </p:txBody>
      </p:sp>
      <p:sp>
        <p:nvSpPr>
          <p:cNvPr id="22" name="TextBox 21"/>
          <p:cNvSpPr txBox="1"/>
          <p:nvPr/>
        </p:nvSpPr>
        <p:spPr>
          <a:xfrm>
            <a:off x="6507327" y="3310128"/>
            <a:ext cx="1932355" cy="1024127"/>
          </a:xfrm>
          <a:prstGeom prst="rect">
            <a:avLst/>
          </a:prstGeom>
          <a:noFill/>
        </p:spPr>
        <p:txBody>
          <a:bodyPr wrap="square" lIns="0" rIns="0" tIns="0" bIns="0" anchor="t">
            <a:spAutoFit/>
          </a:bodyPr>
          <a:lstStyle/>
          <a:p>
            <a:pPr algn="l">
              <a:lnSpc>
                <a:spcPct val="134000"/>
              </a:lnSpc>
              <a:spcBef>
                <a:spcPts val="0"/>
              </a:spcBef>
              <a:spcAft>
                <a:spcPts val="0"/>
              </a:spcAft>
            </a:pPr>
            <a:r>
              <a:rPr sz="1050" b="0" i="0">
                <a:solidFill>
                  <a:srgbClr val="6C7191"/>
                </a:solidFill>
                <a:latin typeface="Segoe UI"/>
              </a:rPr>
              <a:t>Summary, key points, MCQs and short-answer practice questions — from a single passage or pooled across the whole document.</a:t>
            </a:r>
          </a:p>
        </p:txBody>
      </p:sp>
      <p:sp>
        <p:nvSpPr>
          <p:cNvPr id="23" name="Rounded Rectangle 22"/>
          <p:cNvSpPr/>
          <p:nvPr/>
        </p:nvSpPr>
        <p:spPr>
          <a:xfrm>
            <a:off x="8933459" y="2432304"/>
            <a:ext cx="2480995" cy="2139696"/>
          </a:xfrm>
          <a:prstGeom prst="roundRect">
            <a:avLst>
              <a:gd name="adj" fmla="val 9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933459" y="2688336"/>
            <a:ext cx="45720" cy="1627631"/>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226067" y="2670048"/>
            <a:ext cx="1932355" cy="256032"/>
          </a:xfrm>
          <a:prstGeom prst="rect">
            <a:avLst/>
          </a:prstGeom>
          <a:noFill/>
        </p:spPr>
        <p:txBody>
          <a:bodyPr wrap="square" lIns="0" rIns="0" tIns="0" bIns="0" anchor="t">
            <a:spAutoFit/>
          </a:bodyPr>
          <a:lstStyle/>
          <a:p>
            <a:pPr algn="l">
              <a:lnSpc>
                <a:spcPct val="122000"/>
              </a:lnSpc>
              <a:spcBef>
                <a:spcPts val="0"/>
              </a:spcBef>
              <a:spcAft>
                <a:spcPts val="0"/>
              </a:spcAft>
            </a:pPr>
            <a:r>
              <a:rPr sz="950" b="1" i="0" spc="110">
                <a:solidFill>
                  <a:srgbClr val="2340E0"/>
                </a:solidFill>
                <a:latin typeface="Segoe UI"/>
              </a:rPr>
              <a:t>04  JUDGE</a:t>
            </a:r>
          </a:p>
        </p:txBody>
      </p:sp>
      <p:sp>
        <p:nvSpPr>
          <p:cNvPr id="26" name="TextBox 25"/>
          <p:cNvSpPr txBox="1"/>
          <p:nvPr/>
        </p:nvSpPr>
        <p:spPr>
          <a:xfrm>
            <a:off x="9226067" y="2926080"/>
            <a:ext cx="1932355" cy="365760"/>
          </a:xfrm>
          <a:prstGeom prst="rect">
            <a:avLst/>
          </a:prstGeom>
          <a:noFill/>
        </p:spPr>
        <p:txBody>
          <a:bodyPr wrap="square" lIns="0" rIns="0" tIns="0" bIns="0" anchor="t">
            <a:spAutoFit/>
          </a:bodyPr>
          <a:lstStyle/>
          <a:p>
            <a:pPr algn="l">
              <a:lnSpc>
                <a:spcPct val="112000"/>
              </a:lnSpc>
              <a:spcBef>
                <a:spcPts val="0"/>
              </a:spcBef>
              <a:spcAft>
                <a:spcPts val="0"/>
              </a:spcAft>
            </a:pPr>
            <a:r>
              <a:rPr sz="1300" b="1" i="0">
                <a:solidFill>
                  <a:srgbClr val="101533"/>
                </a:solidFill>
                <a:latin typeface="Segoe UI"/>
              </a:rPr>
              <a:t>Checked before delivery</a:t>
            </a:r>
          </a:p>
        </p:txBody>
      </p:sp>
      <p:sp>
        <p:nvSpPr>
          <p:cNvPr id="27" name="TextBox 26"/>
          <p:cNvSpPr txBox="1"/>
          <p:nvPr/>
        </p:nvSpPr>
        <p:spPr>
          <a:xfrm>
            <a:off x="9226067" y="3310128"/>
            <a:ext cx="1932355" cy="1024127"/>
          </a:xfrm>
          <a:prstGeom prst="rect">
            <a:avLst/>
          </a:prstGeom>
          <a:noFill/>
        </p:spPr>
        <p:txBody>
          <a:bodyPr wrap="square" lIns="0" rIns="0" tIns="0" bIns="0" anchor="t">
            <a:spAutoFit/>
          </a:bodyPr>
          <a:lstStyle/>
          <a:p>
            <a:pPr algn="l">
              <a:lnSpc>
                <a:spcPct val="134000"/>
              </a:lnSpc>
              <a:spcBef>
                <a:spcPts val="0"/>
              </a:spcBef>
              <a:spcAft>
                <a:spcPts val="0"/>
              </a:spcAft>
            </a:pPr>
            <a:r>
              <a:rPr sz="1050" b="0" i="0">
                <a:solidFill>
                  <a:srgbClr val="6C7191"/>
                </a:solidFill>
                <a:latin typeface="Segoe UI"/>
              </a:rPr>
              <a:t>Structural validators first, then a second model from a different family grades the output and can send it back for one more attempt.</a:t>
            </a:r>
          </a:p>
        </p:txBody>
      </p:sp>
      <p:sp>
        <p:nvSpPr>
          <p:cNvPr id="28" name="TextBox 27"/>
          <p:cNvSpPr txBox="1"/>
          <p:nvPr/>
        </p:nvSpPr>
        <p:spPr>
          <a:xfrm>
            <a:off x="777240" y="4956048"/>
            <a:ext cx="2480995"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spc="-20">
                <a:solidFill>
                  <a:srgbClr val="2340E0"/>
                </a:solidFill>
                <a:latin typeface="Segoe UI"/>
              </a:rPr>
              <a:t>2 × 3B</a:t>
            </a:r>
          </a:p>
        </p:txBody>
      </p:sp>
      <p:sp>
        <p:nvSpPr>
          <p:cNvPr id="29" name="TextBox 28"/>
          <p:cNvSpPr txBox="1"/>
          <p:nvPr/>
        </p:nvSpPr>
        <p:spPr>
          <a:xfrm>
            <a:off x="777240" y="5376672"/>
            <a:ext cx="2480995" cy="384048"/>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6C7191"/>
                </a:solidFill>
                <a:latin typeface="Segoe UI"/>
              </a:rPr>
              <a:t>local language models: one writes, one grades</a:t>
            </a:r>
          </a:p>
        </p:txBody>
      </p:sp>
      <p:sp>
        <p:nvSpPr>
          <p:cNvPr id="30" name="TextBox 29"/>
          <p:cNvSpPr txBox="1"/>
          <p:nvPr/>
        </p:nvSpPr>
        <p:spPr>
          <a:xfrm>
            <a:off x="3495979" y="4956048"/>
            <a:ext cx="2480995"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spc="-20">
                <a:solidFill>
                  <a:srgbClr val="2340E0"/>
                </a:solidFill>
                <a:latin typeface="Segoe UI"/>
              </a:rPr>
              <a:t>10 + 1</a:t>
            </a:r>
          </a:p>
        </p:txBody>
      </p:sp>
      <p:sp>
        <p:nvSpPr>
          <p:cNvPr id="31" name="TextBox 30"/>
          <p:cNvSpPr txBox="1"/>
          <p:nvPr/>
        </p:nvSpPr>
        <p:spPr>
          <a:xfrm>
            <a:off x="3495979" y="5376672"/>
            <a:ext cx="2480995" cy="384048"/>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6C7191"/>
                </a:solidFill>
                <a:latin typeface="Segoe UI"/>
              </a:rPr>
              <a:t>MongoDB collections, plus a GridFS bucket</a:t>
            </a:r>
          </a:p>
        </p:txBody>
      </p:sp>
      <p:sp>
        <p:nvSpPr>
          <p:cNvPr id="32" name="TextBox 31"/>
          <p:cNvSpPr txBox="1"/>
          <p:nvPr/>
        </p:nvSpPr>
        <p:spPr>
          <a:xfrm>
            <a:off x="6214719" y="4956048"/>
            <a:ext cx="2480995"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spc="-20">
                <a:solidFill>
                  <a:srgbClr val="2340E0"/>
                </a:solidFill>
                <a:latin typeface="Segoe UI"/>
              </a:rPr>
              <a:t>4</a:t>
            </a:r>
          </a:p>
        </p:txBody>
      </p:sp>
      <p:sp>
        <p:nvSpPr>
          <p:cNvPr id="33" name="TextBox 32"/>
          <p:cNvSpPr txBox="1"/>
          <p:nvPr/>
        </p:nvSpPr>
        <p:spPr>
          <a:xfrm>
            <a:off x="6214719" y="5376672"/>
            <a:ext cx="2480995" cy="384048"/>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6C7191"/>
                </a:solidFill>
                <a:latin typeface="Segoe UI"/>
              </a:rPr>
              <a:t>resource types, each with its own structural gate</a:t>
            </a:r>
          </a:p>
        </p:txBody>
      </p:sp>
      <p:sp>
        <p:nvSpPr>
          <p:cNvPr id="34" name="TextBox 33"/>
          <p:cNvSpPr txBox="1"/>
          <p:nvPr/>
        </p:nvSpPr>
        <p:spPr>
          <a:xfrm>
            <a:off x="8933459" y="4956048"/>
            <a:ext cx="2480995"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spc="-20">
                <a:solidFill>
                  <a:srgbClr val="2340E0"/>
                </a:solidFill>
                <a:latin typeface="Segoe UI"/>
              </a:rPr>
              <a:t>70 / 100</a:t>
            </a:r>
          </a:p>
        </p:txBody>
      </p:sp>
      <p:sp>
        <p:nvSpPr>
          <p:cNvPr id="35" name="TextBox 34"/>
          <p:cNvSpPr txBox="1"/>
          <p:nvPr/>
        </p:nvSpPr>
        <p:spPr>
          <a:xfrm>
            <a:off x="8933459" y="5376672"/>
            <a:ext cx="2480995" cy="384048"/>
          </a:xfrm>
          <a:prstGeom prst="rect">
            <a:avLst/>
          </a:prstGeom>
          <a:noFill/>
        </p:spPr>
        <p:txBody>
          <a:bodyPr wrap="square" lIns="0" rIns="0" tIns="0" bIns="0" anchor="t">
            <a:spAutoFit/>
          </a:bodyPr>
          <a:lstStyle/>
          <a:p>
            <a:pPr algn="l">
              <a:lnSpc>
                <a:spcPct val="124000"/>
              </a:lnSpc>
              <a:spcBef>
                <a:spcPts val="0"/>
              </a:spcBef>
              <a:spcAft>
                <a:spcPts val="0"/>
              </a:spcAft>
            </a:pPr>
            <a:r>
              <a:rPr sz="950" b="0" i="0">
                <a:solidFill>
                  <a:srgbClr val="6C7191"/>
                </a:solidFill>
                <a:latin typeface="Segoe UI"/>
              </a:rPr>
              <a:t>the judge score an output must clear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03 · ARCHITECTURE</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One machine, four moving parts</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React talks to FastAPI over JSON and a bearer token. The backend is split into a web layer and an engine that knows nothing about HTTP.</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04</a:t>
            </a:r>
          </a:p>
        </p:txBody>
      </p:sp>
      <p:sp>
        <p:nvSpPr>
          <p:cNvPr id="8" name="Rounded Rectangle 7"/>
          <p:cNvSpPr/>
          <p:nvPr/>
        </p:nvSpPr>
        <p:spPr>
          <a:xfrm>
            <a:off x="777240" y="2103120"/>
            <a:ext cx="2651760" cy="265176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1" y="2340863"/>
            <a:ext cx="2139696"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2340E0"/>
                </a:solidFill>
                <a:latin typeface="Segoe UI"/>
              </a:rPr>
              <a:t>CLIENT</a:t>
            </a:r>
          </a:p>
        </p:txBody>
      </p:sp>
      <p:sp>
        <p:nvSpPr>
          <p:cNvPr id="10" name="TextBox 9"/>
          <p:cNvSpPr txBox="1"/>
          <p:nvPr/>
        </p:nvSpPr>
        <p:spPr>
          <a:xfrm>
            <a:off x="1033271" y="2615183"/>
            <a:ext cx="2139696"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integrated-frontend</a:t>
            </a:r>
          </a:p>
        </p:txBody>
      </p:sp>
      <p:sp>
        <p:nvSpPr>
          <p:cNvPr id="11" name="TextBox 10"/>
          <p:cNvSpPr txBox="1"/>
          <p:nvPr/>
        </p:nvSpPr>
        <p:spPr>
          <a:xfrm>
            <a:off x="1033271" y="2926079"/>
            <a:ext cx="2139696" cy="159105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React 19 · Vite 8</a:t>
            </a:r>
          </a:p>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Tailwind 4 · React Router 7</a:t>
            </a:r>
          </a:p>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axios + two interceptors</a:t>
            </a:r>
          </a:p>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useJob — poll a 202 to done</a:t>
            </a:r>
          </a:p>
        </p:txBody>
      </p:sp>
      <p:sp>
        <p:nvSpPr>
          <p:cNvPr id="12" name="Right Arrow 11"/>
          <p:cNvSpPr/>
          <p:nvPr/>
        </p:nvSpPr>
        <p:spPr>
          <a:xfrm>
            <a:off x="3538728" y="3364992"/>
            <a:ext cx="347472"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172968" y="3072384"/>
            <a:ext cx="1078992" cy="237744"/>
          </a:xfrm>
          <a:prstGeom prst="rect">
            <a:avLst/>
          </a:prstGeom>
          <a:noFill/>
        </p:spPr>
        <p:txBody>
          <a:bodyPr wrap="square" lIns="0" rIns="0" tIns="0" bIns="0" anchor="t">
            <a:spAutoFit/>
          </a:bodyPr>
          <a:lstStyle/>
          <a:p>
            <a:pPr algn="ctr">
              <a:lnSpc>
                <a:spcPct val="100000"/>
              </a:lnSpc>
              <a:spcBef>
                <a:spcPts val="0"/>
              </a:spcBef>
              <a:spcAft>
                <a:spcPts val="0"/>
              </a:spcAft>
            </a:pPr>
            <a:r>
              <a:rPr sz="850" b="0" i="0">
                <a:solidFill>
                  <a:srgbClr val="6C7191"/>
                </a:solidFill>
                <a:latin typeface="Segoe UI"/>
              </a:rPr>
              <a:t>JSON + JWT</a:t>
            </a:r>
          </a:p>
        </p:txBody>
      </p:sp>
      <p:sp>
        <p:nvSpPr>
          <p:cNvPr id="14" name="Rounded Rectangle 13"/>
          <p:cNvSpPr/>
          <p:nvPr/>
        </p:nvSpPr>
        <p:spPr>
          <a:xfrm>
            <a:off x="3977639" y="2103120"/>
            <a:ext cx="3657600" cy="265176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206240" y="2340864"/>
            <a:ext cx="3200400"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2340E0"/>
                </a:solidFill>
                <a:latin typeface="Segoe UI"/>
              </a:rPr>
              <a:t>SERVER</a:t>
            </a:r>
          </a:p>
        </p:txBody>
      </p:sp>
      <p:sp>
        <p:nvSpPr>
          <p:cNvPr id="16" name="TextBox 15"/>
          <p:cNvSpPr txBox="1"/>
          <p:nvPr/>
        </p:nvSpPr>
        <p:spPr>
          <a:xfrm>
            <a:off x="4206240" y="2596896"/>
            <a:ext cx="3200400" cy="274320"/>
          </a:xfrm>
          <a:prstGeom prst="rect">
            <a:avLst/>
          </a:prstGeom>
          <a:noFill/>
        </p:spPr>
        <p:txBody>
          <a:bodyPr wrap="square" lIns="0" rIns="0" tIns="0" bIns="0" anchor="t">
            <a:spAutoFit/>
          </a:bodyPr>
          <a:lstStyle/>
          <a:p>
            <a:pPr algn="l">
              <a:lnSpc>
                <a:spcPct val="122000"/>
              </a:lnSpc>
              <a:spcBef>
                <a:spcPts val="0"/>
              </a:spcBef>
              <a:spcAft>
                <a:spcPts val="0"/>
              </a:spcAft>
            </a:pPr>
            <a:r>
              <a:rPr sz="1350" b="1" i="0">
                <a:solidFill>
                  <a:srgbClr val="101533"/>
                </a:solidFill>
                <a:latin typeface="Segoe UI"/>
              </a:rPr>
              <a:t>integrated-backend · FastAPI</a:t>
            </a:r>
          </a:p>
        </p:txBody>
      </p:sp>
      <p:sp>
        <p:nvSpPr>
          <p:cNvPr id="17" name="Rounded Rectangle 16"/>
          <p:cNvSpPr/>
          <p:nvPr/>
        </p:nvSpPr>
        <p:spPr>
          <a:xfrm>
            <a:off x="4206240" y="2999232"/>
            <a:ext cx="3200400" cy="749808"/>
          </a:xfrm>
          <a:prstGeom prst="roundRect">
            <a:avLst>
              <a:gd name="adj" fmla="val 12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297679" y="2999232"/>
            <a:ext cx="3017520" cy="749808"/>
          </a:xfrm>
          <a:prstGeom prst="rect">
            <a:avLst/>
          </a:prstGeom>
          <a:noFill/>
        </p:spPr>
        <p:txBody>
          <a:bodyPr wrap="square" lIns="0" rIns="0" tIns="0" bIns="0" anchor="ctr">
            <a:spAutoFit/>
          </a:bodyPr>
          <a:lstStyle/>
          <a:p>
            <a:pPr algn="ctr">
              <a:lnSpc>
                <a:spcPct val="110000"/>
              </a:lnSpc>
              <a:spcBef>
                <a:spcPts val="0"/>
              </a:spcBef>
              <a:spcAft>
                <a:spcPts val="0"/>
              </a:spcAft>
            </a:pPr>
            <a:r>
              <a:rPr sz="1050" b="1" i="0">
                <a:solidFill>
                  <a:srgbClr val="101533"/>
                </a:solidFill>
                <a:latin typeface="Segoe UI"/>
              </a:rPr>
              <a:t>app/  —  the web layer</a:t>
            </a:r>
          </a:p>
          <a:p>
            <a:pPr algn="ctr">
              <a:lnSpc>
                <a:spcPct val="116000"/>
              </a:lnSpc>
              <a:spcBef>
                <a:spcPts val="400"/>
              </a:spcBef>
              <a:spcAft>
                <a:spcPts val="0"/>
              </a:spcAft>
            </a:pPr>
            <a:r>
              <a:rPr sz="850" b="0" i="0">
                <a:solidFill>
                  <a:srgbClr val="6C7191"/>
                </a:solidFill>
                <a:latin typeface="Segoe UI"/>
              </a:rPr>
              <a:t>routers · services · auth · jobs · ownership</a:t>
            </a:r>
          </a:p>
        </p:txBody>
      </p:sp>
      <p:sp>
        <p:nvSpPr>
          <p:cNvPr id="19" name="Rounded Rectangle 18"/>
          <p:cNvSpPr/>
          <p:nvPr/>
        </p:nvSpPr>
        <p:spPr>
          <a:xfrm>
            <a:off x="4206240" y="3858768"/>
            <a:ext cx="3200400" cy="749808"/>
          </a:xfrm>
          <a:prstGeom prst="roundRect">
            <a:avLst>
              <a:gd name="adj" fmla="val 12000"/>
            </a:avLst>
          </a:prstGeom>
          <a:solidFill>
            <a:srgbClr val="F7F8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297679" y="3858768"/>
            <a:ext cx="3017520" cy="749808"/>
          </a:xfrm>
          <a:prstGeom prst="rect">
            <a:avLst/>
          </a:prstGeom>
          <a:noFill/>
        </p:spPr>
        <p:txBody>
          <a:bodyPr wrap="square" lIns="0" rIns="0" tIns="0" bIns="0" anchor="ctr">
            <a:spAutoFit/>
          </a:bodyPr>
          <a:lstStyle/>
          <a:p>
            <a:pPr algn="ctr">
              <a:lnSpc>
                <a:spcPct val="110000"/>
              </a:lnSpc>
              <a:spcBef>
                <a:spcPts val="0"/>
              </a:spcBef>
              <a:spcAft>
                <a:spcPts val="0"/>
              </a:spcAft>
            </a:pPr>
            <a:r>
              <a:rPr sz="1050" b="1" i="0">
                <a:solidFill>
                  <a:srgbClr val="101533"/>
                </a:solidFill>
                <a:latin typeface="Segoe UI"/>
              </a:rPr>
              <a:t>learnmate/  —  the engine</a:t>
            </a:r>
          </a:p>
          <a:p>
            <a:pPr algn="ctr">
              <a:lnSpc>
                <a:spcPct val="116000"/>
              </a:lnSpc>
              <a:spcBef>
                <a:spcPts val="400"/>
              </a:spcBef>
              <a:spcAft>
                <a:spcPts val="0"/>
              </a:spcAft>
            </a:pPr>
            <a:r>
              <a:rPr sz="850" b="0" i="0">
                <a:solidFill>
                  <a:srgbClr val="6C7191"/>
                </a:solidFill>
                <a:latin typeface="Segoe UI"/>
              </a:rPr>
              <a:t>ingestion · agents · evaluator · storage</a:t>
            </a:r>
          </a:p>
        </p:txBody>
      </p:sp>
      <p:sp>
        <p:nvSpPr>
          <p:cNvPr id="21" name="Right Arrow 20"/>
          <p:cNvSpPr/>
          <p:nvPr/>
        </p:nvSpPr>
        <p:spPr>
          <a:xfrm>
            <a:off x="7744968" y="3364992"/>
            <a:ext cx="347472"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8183879" y="2103120"/>
            <a:ext cx="3227832" cy="566928"/>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75319" y="2103120"/>
            <a:ext cx="3044951" cy="566928"/>
          </a:xfrm>
          <a:prstGeom prst="rect">
            <a:avLst/>
          </a:prstGeom>
          <a:noFill/>
        </p:spPr>
        <p:txBody>
          <a:bodyPr wrap="square" lIns="0" rIns="0" tIns="0" bIns="0" anchor="ctr">
            <a:spAutoFit/>
          </a:bodyPr>
          <a:lstStyle/>
          <a:p>
            <a:pPr algn="ctr">
              <a:lnSpc>
                <a:spcPct val="110000"/>
              </a:lnSpc>
              <a:spcBef>
                <a:spcPts val="0"/>
              </a:spcBef>
              <a:spcAft>
                <a:spcPts val="0"/>
              </a:spcAft>
            </a:pPr>
            <a:r>
              <a:rPr sz="1050" b="1" i="0">
                <a:solidFill>
                  <a:srgbClr val="101533"/>
                </a:solidFill>
                <a:latin typeface="Segoe UI"/>
              </a:rPr>
              <a:t>MongoDB 8   ·   :27018</a:t>
            </a:r>
          </a:p>
          <a:p>
            <a:pPr algn="ctr">
              <a:lnSpc>
                <a:spcPct val="116000"/>
              </a:lnSpc>
              <a:spcBef>
                <a:spcPts val="400"/>
              </a:spcBef>
              <a:spcAft>
                <a:spcPts val="0"/>
              </a:spcAft>
            </a:pPr>
            <a:r>
              <a:rPr sz="850" b="0" i="0">
                <a:solidFill>
                  <a:srgbClr val="6C7191"/>
                </a:solidFill>
                <a:latin typeface="Segoe UI"/>
              </a:rPr>
              <a:t>10 collections + GridFS</a:t>
            </a:r>
          </a:p>
        </p:txBody>
      </p:sp>
      <p:sp>
        <p:nvSpPr>
          <p:cNvPr id="24" name="Rounded Rectangle 23"/>
          <p:cNvSpPr/>
          <p:nvPr/>
        </p:nvSpPr>
        <p:spPr>
          <a:xfrm>
            <a:off x="8183879" y="2798063"/>
            <a:ext cx="3227832" cy="566928"/>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275319" y="2798063"/>
            <a:ext cx="3044951" cy="566928"/>
          </a:xfrm>
          <a:prstGeom prst="rect">
            <a:avLst/>
          </a:prstGeom>
          <a:noFill/>
        </p:spPr>
        <p:txBody>
          <a:bodyPr wrap="square" lIns="0" rIns="0" tIns="0" bIns="0" anchor="ctr">
            <a:spAutoFit/>
          </a:bodyPr>
          <a:lstStyle/>
          <a:p>
            <a:pPr algn="ctr">
              <a:lnSpc>
                <a:spcPct val="110000"/>
              </a:lnSpc>
              <a:spcBef>
                <a:spcPts val="0"/>
              </a:spcBef>
              <a:spcAft>
                <a:spcPts val="0"/>
              </a:spcAft>
            </a:pPr>
            <a:r>
              <a:rPr sz="1050" b="1" i="0">
                <a:solidFill>
                  <a:srgbClr val="101533"/>
                </a:solidFill>
                <a:latin typeface="Segoe UI"/>
              </a:rPr>
              <a:t>Qdrant 1.18   ·   :6335</a:t>
            </a:r>
          </a:p>
          <a:p>
            <a:pPr algn="ctr">
              <a:lnSpc>
                <a:spcPct val="116000"/>
              </a:lnSpc>
              <a:spcBef>
                <a:spcPts val="400"/>
              </a:spcBef>
              <a:spcAft>
                <a:spcPts val="0"/>
              </a:spcAft>
            </a:pPr>
            <a:r>
              <a:rPr sz="850" b="0" i="0">
                <a:solidFill>
                  <a:srgbClr val="6C7191"/>
                </a:solidFill>
                <a:latin typeface="Segoe UI"/>
              </a:rPr>
              <a:t>chunk vectors, HNSW index</a:t>
            </a:r>
          </a:p>
        </p:txBody>
      </p:sp>
      <p:sp>
        <p:nvSpPr>
          <p:cNvPr id="26" name="Rounded Rectangle 25"/>
          <p:cNvSpPr/>
          <p:nvPr/>
        </p:nvSpPr>
        <p:spPr>
          <a:xfrm>
            <a:off x="8183879" y="3493008"/>
            <a:ext cx="3227832" cy="566928"/>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275319" y="3493008"/>
            <a:ext cx="3044951" cy="566928"/>
          </a:xfrm>
          <a:prstGeom prst="rect">
            <a:avLst/>
          </a:prstGeom>
          <a:noFill/>
        </p:spPr>
        <p:txBody>
          <a:bodyPr wrap="square" lIns="0" rIns="0" tIns="0" bIns="0" anchor="ctr">
            <a:spAutoFit/>
          </a:bodyPr>
          <a:lstStyle/>
          <a:p>
            <a:pPr algn="ctr">
              <a:lnSpc>
                <a:spcPct val="110000"/>
              </a:lnSpc>
              <a:spcBef>
                <a:spcPts val="0"/>
              </a:spcBef>
              <a:spcAft>
                <a:spcPts val="0"/>
              </a:spcAft>
            </a:pPr>
            <a:r>
              <a:rPr sz="1050" b="1" i="0">
                <a:solidFill>
                  <a:srgbClr val="101533"/>
                </a:solidFill>
                <a:latin typeface="Segoe UI"/>
              </a:rPr>
              <a:t>Local models</a:t>
            </a:r>
          </a:p>
          <a:p>
            <a:pPr algn="ctr">
              <a:lnSpc>
                <a:spcPct val="116000"/>
              </a:lnSpc>
              <a:spcBef>
                <a:spcPts val="400"/>
              </a:spcBef>
              <a:spcAft>
                <a:spcPts val="0"/>
              </a:spcAft>
            </a:pPr>
            <a:r>
              <a:rPr sz="850" b="0" i="0">
                <a:solidFill>
                  <a:srgbClr val="6C7191"/>
                </a:solidFill>
                <a:latin typeface="Segoe UI"/>
              </a:rPr>
              <a:t>2 × Q4 GGUF via llama.cpp</a:t>
            </a:r>
          </a:p>
        </p:txBody>
      </p:sp>
      <p:sp>
        <p:nvSpPr>
          <p:cNvPr id="28" name="Rounded Rectangle 27"/>
          <p:cNvSpPr/>
          <p:nvPr/>
        </p:nvSpPr>
        <p:spPr>
          <a:xfrm>
            <a:off x="8183879" y="4187952"/>
            <a:ext cx="3227832" cy="566928"/>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275319" y="4187952"/>
            <a:ext cx="3044951" cy="566928"/>
          </a:xfrm>
          <a:prstGeom prst="rect">
            <a:avLst/>
          </a:prstGeom>
          <a:noFill/>
        </p:spPr>
        <p:txBody>
          <a:bodyPr wrap="square" lIns="0" rIns="0" tIns="0" bIns="0" anchor="ctr">
            <a:spAutoFit/>
          </a:bodyPr>
          <a:lstStyle/>
          <a:p>
            <a:pPr algn="ctr">
              <a:lnSpc>
                <a:spcPct val="110000"/>
              </a:lnSpc>
              <a:spcBef>
                <a:spcPts val="0"/>
              </a:spcBef>
              <a:spcAft>
                <a:spcPts val="0"/>
              </a:spcAft>
            </a:pPr>
            <a:r>
              <a:rPr sz="1050" b="1" i="0">
                <a:solidFill>
                  <a:srgbClr val="101533"/>
                </a:solidFill>
                <a:latin typeface="Segoe UI"/>
              </a:rPr>
              <a:t>Keycloak 26   ·   :8081</a:t>
            </a:r>
          </a:p>
          <a:p>
            <a:pPr algn="ctr">
              <a:lnSpc>
                <a:spcPct val="116000"/>
              </a:lnSpc>
              <a:spcBef>
                <a:spcPts val="400"/>
              </a:spcBef>
              <a:spcAft>
                <a:spcPts val="0"/>
              </a:spcAft>
            </a:pPr>
            <a:r>
              <a:rPr sz="850" b="0" i="0">
                <a:solidFill>
                  <a:srgbClr val="6C7191"/>
                </a:solidFill>
                <a:latin typeface="Segoe UI"/>
              </a:rPr>
              <a:t>realm, JWKS, login theme</a:t>
            </a:r>
          </a:p>
        </p:txBody>
      </p:sp>
      <p:sp>
        <p:nvSpPr>
          <p:cNvPr id="30" name="Rounded Rectangle 29"/>
          <p:cNvSpPr/>
          <p:nvPr/>
        </p:nvSpPr>
        <p:spPr>
          <a:xfrm>
            <a:off x="777240" y="5010912"/>
            <a:ext cx="10637215" cy="1078992"/>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777240" y="5138928"/>
            <a:ext cx="41148" cy="822959"/>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051560" y="5010912"/>
            <a:ext cx="10106863" cy="1078992"/>
          </a:xfrm>
          <a:prstGeom prst="rect">
            <a:avLst/>
          </a:prstGeom>
          <a:noFill/>
        </p:spPr>
        <p:txBody>
          <a:bodyPr wrap="square" lIns="0" rIns="0" tIns="0" bIns="0" anchor="ctr">
            <a:spAutoFit/>
          </a:bodyPr>
          <a:lstStyle/>
          <a:p>
            <a:pPr algn="l">
              <a:lnSpc>
                <a:spcPct val="122000"/>
              </a:lnSpc>
              <a:spcBef>
                <a:spcPts val="0"/>
              </a:spcBef>
              <a:spcAft>
                <a:spcPts val="0"/>
              </a:spcAft>
            </a:pPr>
            <a:r>
              <a:rPr sz="850" b="1" i="0" spc="130">
                <a:solidFill>
                  <a:srgbClr val="2340E0"/>
                </a:solidFill>
                <a:latin typeface="Segoe UI"/>
              </a:rPr>
              <a:t>EVERYTHING SLOW IS A JOB</a:t>
            </a:r>
          </a:p>
          <a:p>
            <a:pPr algn="l">
              <a:lnSpc>
                <a:spcPct val="132000"/>
              </a:lnSpc>
              <a:spcBef>
                <a:spcPts val="500"/>
              </a:spcBef>
              <a:spcAft>
                <a:spcPts val="0"/>
              </a:spcAft>
            </a:pPr>
            <a:r>
              <a:rPr sz="1100" b="0" i="0">
                <a:solidFill>
                  <a:srgbClr val="3B4166"/>
                </a:solidFill>
                <a:latin typeface="Segoe UI"/>
              </a:rPr>
              <a:t>Local inference on a 3B model takes tens of seconds, so no slow endpoint holds a connection open. Upload, generation and chat each answer 202 with a job id, and the client polls /api/jobs/{id} through queued → running → done. The queue lives in MongoDB, not in memory, so reloading the page does not lose your place. One worker thread — because llama_cpp.Llama holds a single mutable context, and two threads generating at once corrupt both replies.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04 · GROUP APPROACH</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Three tracks, merged on main</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Each member built their part as a standalone component first. Work landed on feature branches and pull requests into main, then the pieces were integrated into one application.</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05</a:t>
            </a:r>
          </a:p>
        </p:txBody>
      </p:sp>
      <p:sp>
        <p:nvSpPr>
          <p:cNvPr id="8" name="Rounded Rectangle 7"/>
          <p:cNvSpPr/>
          <p:nvPr/>
        </p:nvSpPr>
        <p:spPr>
          <a:xfrm>
            <a:off x="777240" y="2395728"/>
            <a:ext cx="3362858" cy="278892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1" y="2633472"/>
            <a:ext cx="2850794"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2340E0"/>
                </a:solidFill>
                <a:latin typeface="Segoe UI"/>
              </a:rPr>
              <a:t>DINURA N. GINIGE</a:t>
            </a:r>
          </a:p>
        </p:txBody>
      </p:sp>
      <p:sp>
        <p:nvSpPr>
          <p:cNvPr id="10" name="TextBox 9"/>
          <p:cNvSpPr txBox="1"/>
          <p:nvPr/>
        </p:nvSpPr>
        <p:spPr>
          <a:xfrm>
            <a:off x="1033271" y="2907791"/>
            <a:ext cx="2850794"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Engine &amp; integration</a:t>
            </a:r>
          </a:p>
        </p:txBody>
      </p:sp>
      <p:sp>
        <p:nvSpPr>
          <p:cNvPr id="11" name="TextBox 10"/>
          <p:cNvSpPr txBox="1"/>
          <p:nvPr/>
        </p:nvSpPr>
        <p:spPr>
          <a:xfrm>
            <a:off x="1033271" y="3218687"/>
            <a:ext cx="2850794" cy="172821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Chat agent and resource agent, both as LangGraph state machines</a:t>
            </a:r>
          </a:p>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Evaluator: structural validators and the LLM judge</a:t>
            </a:r>
          </a:p>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Retrieval, embeddings and reranking</a:t>
            </a:r>
          </a:p>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app/ layer — auth, jobs, ownership</a:t>
            </a:r>
          </a:p>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Integration of all components; frontend shell and design system</a:t>
            </a:r>
          </a:p>
        </p:txBody>
      </p:sp>
      <p:sp>
        <p:nvSpPr>
          <p:cNvPr id="12" name="Rounded Rectangle 11"/>
          <p:cNvSpPr/>
          <p:nvPr/>
        </p:nvSpPr>
        <p:spPr>
          <a:xfrm>
            <a:off x="4414418" y="2395728"/>
            <a:ext cx="3362858" cy="278892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670450" y="2633472"/>
            <a:ext cx="2850794"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0891B2"/>
                </a:solidFill>
                <a:latin typeface="Segoe UI"/>
              </a:rPr>
              <a:t>THARUMINI GAMAGE</a:t>
            </a:r>
          </a:p>
        </p:txBody>
      </p:sp>
      <p:sp>
        <p:nvSpPr>
          <p:cNvPr id="14" name="TextBox 13"/>
          <p:cNvSpPr txBox="1"/>
          <p:nvPr/>
        </p:nvSpPr>
        <p:spPr>
          <a:xfrm>
            <a:off x="4670450" y="2907791"/>
            <a:ext cx="2850794"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Documents &amp; resources</a:t>
            </a:r>
          </a:p>
        </p:txBody>
      </p:sp>
      <p:sp>
        <p:nvSpPr>
          <p:cNvPr id="15" name="TextBox 14"/>
          <p:cNvSpPr txBox="1"/>
          <p:nvPr/>
        </p:nvSpPr>
        <p:spPr>
          <a:xfrm>
            <a:off x="4670450" y="3218687"/>
            <a:ext cx="2850794" cy="172821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0891B2"/>
              </a:buClr>
              <a:buSzPct val="85000"/>
              <a:buFont typeface="Arial"/>
              <a:buChar char="▪"/>
            </a:pPr>
            <a:r>
              <a:rPr sz="1050" b="0" i="0">
                <a:solidFill>
                  <a:srgbClr val="6C7191"/>
                </a:solidFill>
                <a:latin typeface="Segoe UI"/>
              </a:rPr>
              <a:t>PDF document-processing pipeline</a:t>
            </a:r>
          </a:p>
          <a:p>
            <a:pPr algn="l" marL="146304" indent="-146304">
              <a:lnSpc>
                <a:spcPct val="128000"/>
              </a:lnSpc>
              <a:spcBef>
                <a:spcPts val="0"/>
              </a:spcBef>
              <a:spcAft>
                <a:spcPts val="500"/>
              </a:spcAft>
              <a:buClr>
                <a:srgbClr val="0891B2"/>
              </a:buClr>
              <a:buSzPct val="85000"/>
              <a:buFont typeface="Arial"/>
              <a:buChar char="▪"/>
            </a:pPr>
            <a:r>
              <a:rPr sz="1050" b="0" i="0">
                <a:solidFill>
                  <a:srgbClr val="6C7191"/>
                </a:solidFill>
                <a:latin typeface="Segoe UI"/>
              </a:rPr>
              <a:t>Resource generator service</a:t>
            </a:r>
          </a:p>
          <a:p>
            <a:pPr algn="l" marL="146304" indent="-146304">
              <a:lnSpc>
                <a:spcPct val="128000"/>
              </a:lnSpc>
              <a:spcBef>
                <a:spcPts val="0"/>
              </a:spcBef>
              <a:spcAft>
                <a:spcPts val="500"/>
              </a:spcAft>
              <a:buClr>
                <a:srgbClr val="0891B2"/>
              </a:buClr>
              <a:buSzPct val="85000"/>
              <a:buFont typeface="Arial"/>
              <a:buChar char="▪"/>
            </a:pPr>
            <a:r>
              <a:rPr sz="1050" b="0" i="0">
                <a:solidFill>
                  <a:srgbClr val="6C7191"/>
                </a:solidFill>
                <a:latin typeface="Segoe UI"/>
              </a:rPr>
              <a:t>Backend API and database work</a:t>
            </a:r>
          </a:p>
          <a:p>
            <a:pPr algn="l" marL="146304" indent="-146304">
              <a:lnSpc>
                <a:spcPct val="128000"/>
              </a:lnSpc>
              <a:spcBef>
                <a:spcPts val="0"/>
              </a:spcBef>
              <a:spcAft>
                <a:spcPts val="500"/>
              </a:spcAft>
              <a:buClr>
                <a:srgbClr val="0891B2"/>
              </a:buClr>
              <a:buSzPct val="85000"/>
              <a:buFont typeface="Arial"/>
              <a:buChar char="▪"/>
            </a:pPr>
            <a:r>
              <a:rPr sz="1050" b="0" i="0">
                <a:solidFill>
                  <a:srgbClr val="6C7191"/>
                </a:solidFill>
                <a:latin typeface="Segoe UI"/>
              </a:rPr>
              <a:t>Frontend pages and layouts</a:t>
            </a:r>
          </a:p>
        </p:txBody>
      </p:sp>
      <p:sp>
        <p:nvSpPr>
          <p:cNvPr id="16" name="Rounded Rectangle 15"/>
          <p:cNvSpPr/>
          <p:nvPr/>
        </p:nvSpPr>
        <p:spPr>
          <a:xfrm>
            <a:off x="8051596" y="2395728"/>
            <a:ext cx="3362858" cy="278892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307628" y="2633472"/>
            <a:ext cx="2850794"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7C3AED"/>
                </a:solidFill>
                <a:latin typeface="Segoe UI"/>
              </a:rPr>
              <a:t>THEVINDU FERNANDO</a:t>
            </a:r>
          </a:p>
        </p:txBody>
      </p:sp>
      <p:sp>
        <p:nvSpPr>
          <p:cNvPr id="18" name="TextBox 17"/>
          <p:cNvSpPr txBox="1"/>
          <p:nvPr/>
        </p:nvSpPr>
        <p:spPr>
          <a:xfrm>
            <a:off x="8307628" y="2907791"/>
            <a:ext cx="2850794"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Offline ML track</a:t>
            </a:r>
          </a:p>
        </p:txBody>
      </p:sp>
      <p:sp>
        <p:nvSpPr>
          <p:cNvPr id="19" name="TextBox 18"/>
          <p:cNvSpPr txBox="1"/>
          <p:nvPr/>
        </p:nvSpPr>
        <p:spPr>
          <a:xfrm>
            <a:off x="8307628" y="3218687"/>
            <a:ext cx="2850794" cy="172821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7C3AED"/>
              </a:buClr>
              <a:buSzPct val="85000"/>
              <a:buFont typeface="Arial"/>
              <a:buChar char="▪"/>
            </a:pPr>
            <a:r>
              <a:rPr sz="1050" b="0" i="0">
                <a:solidFill>
                  <a:srgbClr val="6C7191"/>
                </a:solidFill>
                <a:latin typeface="Segoe UI"/>
              </a:rPr>
              <a:t>Sri Lankan legal corpus → instruction pairs</a:t>
            </a:r>
          </a:p>
          <a:p>
            <a:pPr algn="l" marL="146304" indent="-146304">
              <a:lnSpc>
                <a:spcPct val="128000"/>
              </a:lnSpc>
              <a:spcBef>
                <a:spcPts val="0"/>
              </a:spcBef>
              <a:spcAft>
                <a:spcPts val="500"/>
              </a:spcAft>
              <a:buClr>
                <a:srgbClr val="7C3AED"/>
              </a:buClr>
              <a:buSzPct val="85000"/>
              <a:buFont typeface="Arial"/>
              <a:buChar char="▪"/>
            </a:pPr>
            <a:r>
              <a:rPr sz="1050" b="0" i="0">
                <a:solidFill>
                  <a:srgbClr val="6C7191"/>
                </a:solidFill>
                <a:latin typeface="Segoe UI"/>
              </a:rPr>
              <a:t>LoRA / QLoRA fine-tune of Qwen 2.5</a:t>
            </a:r>
          </a:p>
          <a:p>
            <a:pPr algn="l" marL="146304" indent="-146304">
              <a:lnSpc>
                <a:spcPct val="128000"/>
              </a:lnSpc>
              <a:spcBef>
                <a:spcPts val="0"/>
              </a:spcBef>
              <a:spcAft>
                <a:spcPts val="500"/>
              </a:spcAft>
              <a:buClr>
                <a:srgbClr val="7C3AED"/>
              </a:buClr>
              <a:buSzPct val="85000"/>
              <a:buFont typeface="Arial"/>
              <a:buChar char="▪"/>
            </a:pPr>
            <a:r>
              <a:rPr sz="1050" b="0" i="0">
                <a:solidFill>
                  <a:srgbClr val="6C7191"/>
                </a:solidFill>
                <a:latin typeface="Segoe UI"/>
              </a:rPr>
              <a:t>Evaluation gate and version registry</a:t>
            </a:r>
          </a:p>
          <a:p>
            <a:pPr algn="l" marL="146304" indent="-146304">
              <a:lnSpc>
                <a:spcPct val="128000"/>
              </a:lnSpc>
              <a:spcBef>
                <a:spcPts val="0"/>
              </a:spcBef>
              <a:spcAft>
                <a:spcPts val="500"/>
              </a:spcAft>
              <a:buClr>
                <a:srgbClr val="7C3AED"/>
              </a:buClr>
              <a:buSzPct val="85000"/>
              <a:buFont typeface="Arial"/>
              <a:buChar char="▪"/>
            </a:pPr>
            <a:r>
              <a:rPr sz="1050" b="0" i="0">
                <a:solidFill>
                  <a:srgbClr val="6C7191"/>
                </a:solidFill>
                <a:latin typeface="Segoe UI"/>
              </a:rPr>
              <a:t>MLOps promote / rollback workflow</a:t>
            </a:r>
          </a:p>
        </p:txBody>
      </p:sp>
      <p:sp>
        <p:nvSpPr>
          <p:cNvPr id="20" name="Rounded Rectangle 19"/>
          <p:cNvSpPr/>
          <p:nvPr/>
        </p:nvSpPr>
        <p:spPr>
          <a:xfrm>
            <a:off x="777240" y="5230368"/>
            <a:ext cx="10637215" cy="868680"/>
          </a:xfrm>
          <a:prstGeom prst="roundRect">
            <a:avLst>
              <a:gd name="adj" fmla="val 10000"/>
            </a:avLst>
          </a:prstGeom>
          <a:solidFill>
            <a:srgbClr val="F7F8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77240" y="5358383"/>
            <a:ext cx="41148" cy="612647"/>
          </a:xfrm>
          <a:prstGeom prst="rect">
            <a:avLst/>
          </a:prstGeom>
          <a:solidFill>
            <a:srgbClr val="6C71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51560" y="5230368"/>
            <a:ext cx="10106863" cy="868680"/>
          </a:xfrm>
          <a:prstGeom prst="rect">
            <a:avLst/>
          </a:prstGeom>
          <a:noFill/>
        </p:spPr>
        <p:txBody>
          <a:bodyPr wrap="square" lIns="0" rIns="0" tIns="0" bIns="0" anchor="ctr">
            <a:spAutoFit/>
          </a:bodyPr>
          <a:lstStyle/>
          <a:p>
            <a:pPr algn="l">
              <a:lnSpc>
                <a:spcPct val="132000"/>
              </a:lnSpc>
              <a:spcBef>
                <a:spcPts val="0"/>
              </a:spcBef>
              <a:spcAft>
                <a:spcPts val="0"/>
              </a:spcAft>
            </a:pPr>
            <a:r>
              <a:rPr sz="1100" b="0" i="0">
                <a:solidFill>
                  <a:srgbClr val="3B4166"/>
                </a:solidFill>
                <a:latin typeface="Segoe UI"/>
              </a:rPr>
              <a:t>The standalone components — components-Dinura/, backend/ and frontend/ — are kept frozen as references. The live application is integrated-backend/ and integrated-frontend/. model-Thevindu/ stays out of the request path by design.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05 · DATA PREPROCESSING</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From a PDF to something a model can search</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Five stages in one pipeline. What comes out is page text a human can read and chunk vectors a machine can search.</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06</a:t>
            </a:r>
          </a:p>
        </p:txBody>
      </p:sp>
      <p:sp>
        <p:nvSpPr>
          <p:cNvPr id="8" name="Rounded Rectangle 7"/>
          <p:cNvSpPr/>
          <p:nvPr/>
        </p:nvSpPr>
        <p:spPr>
          <a:xfrm>
            <a:off x="777240" y="2249424"/>
            <a:ext cx="1834835" cy="786384"/>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2249424"/>
            <a:ext cx="1651955" cy="786384"/>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Validate</a:t>
            </a:r>
          </a:p>
          <a:p>
            <a:pPr algn="ctr">
              <a:lnSpc>
                <a:spcPct val="116000"/>
              </a:lnSpc>
              <a:spcBef>
                <a:spcPts val="400"/>
              </a:spcBef>
              <a:spcAft>
                <a:spcPts val="0"/>
              </a:spcAft>
            </a:pPr>
            <a:r>
              <a:rPr sz="850" b="0" i="0">
                <a:solidFill>
                  <a:srgbClr val="6C7191"/>
                </a:solidFill>
                <a:latin typeface="Segoe UI"/>
              </a:rPr>
              <a:t>PDF · ≤ 10 MB · ≤ 300 pp</a:t>
            </a:r>
          </a:p>
        </p:txBody>
      </p:sp>
      <p:sp>
        <p:nvSpPr>
          <p:cNvPr id="10" name="Right Arrow 9"/>
          <p:cNvSpPr/>
          <p:nvPr/>
        </p:nvSpPr>
        <p:spPr>
          <a:xfrm>
            <a:off x="2703515" y="2578608"/>
            <a:ext cx="182880"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2977835" y="2249424"/>
            <a:ext cx="1834835" cy="786384"/>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069275" y="2249424"/>
            <a:ext cx="1651955" cy="786384"/>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Extract</a:t>
            </a:r>
          </a:p>
          <a:p>
            <a:pPr algn="ctr">
              <a:lnSpc>
                <a:spcPct val="116000"/>
              </a:lnSpc>
              <a:spcBef>
                <a:spcPts val="400"/>
              </a:spcBef>
              <a:spcAft>
                <a:spcPts val="0"/>
              </a:spcAft>
            </a:pPr>
            <a:r>
              <a:rPr sz="850" b="0" i="0">
                <a:solidFill>
                  <a:srgbClr val="6C7191"/>
                </a:solidFill>
                <a:latin typeface="Segoe UI"/>
              </a:rPr>
              <a:t>PyMuPDF, page by page</a:t>
            </a:r>
          </a:p>
        </p:txBody>
      </p:sp>
      <p:sp>
        <p:nvSpPr>
          <p:cNvPr id="13" name="Right Arrow 12"/>
          <p:cNvSpPr/>
          <p:nvPr/>
        </p:nvSpPr>
        <p:spPr>
          <a:xfrm>
            <a:off x="4904110" y="2578608"/>
            <a:ext cx="182880"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178430" y="2249424"/>
            <a:ext cx="1834835" cy="786384"/>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269870" y="2249424"/>
            <a:ext cx="1651955" cy="786384"/>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Clean</a:t>
            </a:r>
          </a:p>
          <a:p>
            <a:pPr algn="ctr">
              <a:lnSpc>
                <a:spcPct val="116000"/>
              </a:lnSpc>
              <a:spcBef>
                <a:spcPts val="400"/>
              </a:spcBef>
              <a:spcAft>
                <a:spcPts val="0"/>
              </a:spcAft>
            </a:pPr>
            <a:r>
              <a:rPr sz="850" b="0" i="0">
                <a:solidFill>
                  <a:srgbClr val="6C7191"/>
                </a:solidFill>
                <a:latin typeface="Segoe UI"/>
              </a:rPr>
              <a:t>heads · ligatures · hyphens</a:t>
            </a:r>
          </a:p>
        </p:txBody>
      </p:sp>
      <p:sp>
        <p:nvSpPr>
          <p:cNvPr id="16" name="Right Arrow 15"/>
          <p:cNvSpPr/>
          <p:nvPr/>
        </p:nvSpPr>
        <p:spPr>
          <a:xfrm>
            <a:off x="7104705" y="2578608"/>
            <a:ext cx="182880"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7379025" y="2249424"/>
            <a:ext cx="1834835" cy="786384"/>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470465" y="2249424"/>
            <a:ext cx="1651955" cy="786384"/>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Chunk</a:t>
            </a:r>
          </a:p>
          <a:p>
            <a:pPr algn="ctr">
              <a:lnSpc>
                <a:spcPct val="116000"/>
              </a:lnSpc>
              <a:spcBef>
                <a:spcPts val="400"/>
              </a:spcBef>
              <a:spcAft>
                <a:spcPts val="0"/>
              </a:spcAft>
            </a:pPr>
            <a:r>
              <a:rPr sz="850" b="0" i="0">
                <a:solidFill>
                  <a:srgbClr val="6C7191"/>
                </a:solidFill>
                <a:latin typeface="Segoe UI"/>
              </a:rPr>
              <a:t>900 chars / 150 overlap</a:t>
            </a:r>
          </a:p>
        </p:txBody>
      </p:sp>
      <p:sp>
        <p:nvSpPr>
          <p:cNvPr id="19" name="Right Arrow 18"/>
          <p:cNvSpPr/>
          <p:nvPr/>
        </p:nvSpPr>
        <p:spPr>
          <a:xfrm>
            <a:off x="9305300" y="2578608"/>
            <a:ext cx="182880"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579620" y="2249424"/>
            <a:ext cx="1834835" cy="786384"/>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671060" y="2249424"/>
            <a:ext cx="1651955" cy="786384"/>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Embed</a:t>
            </a:r>
          </a:p>
          <a:p>
            <a:pPr algn="ctr">
              <a:lnSpc>
                <a:spcPct val="116000"/>
              </a:lnSpc>
              <a:spcBef>
                <a:spcPts val="400"/>
              </a:spcBef>
              <a:spcAft>
                <a:spcPts val="0"/>
              </a:spcAft>
            </a:pPr>
            <a:r>
              <a:rPr sz="850" b="0" i="0">
                <a:solidFill>
                  <a:srgbClr val="6C7191"/>
                </a:solidFill>
                <a:latin typeface="Segoe UI"/>
              </a:rPr>
              <a:t>MiniLM → Qdrant</a:t>
            </a:r>
          </a:p>
        </p:txBody>
      </p:sp>
      <p:sp>
        <p:nvSpPr>
          <p:cNvPr id="22" name="Rounded Rectangle 21"/>
          <p:cNvSpPr/>
          <p:nvPr/>
        </p:nvSpPr>
        <p:spPr>
          <a:xfrm>
            <a:off x="777240" y="3310128"/>
            <a:ext cx="5154015" cy="192024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33271" y="3547872"/>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What cleaning actually removes</a:t>
            </a:r>
          </a:p>
        </p:txBody>
      </p:sp>
      <p:sp>
        <p:nvSpPr>
          <p:cNvPr id="24" name="TextBox 23"/>
          <p:cNvSpPr txBox="1"/>
          <p:nvPr/>
        </p:nvSpPr>
        <p:spPr>
          <a:xfrm>
            <a:off x="1033271" y="3858768"/>
            <a:ext cx="4641951" cy="113385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Running heads and footers repeated on every page</a:t>
            </a:r>
          </a:p>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Ligatures rejoined into plain letters</a:t>
            </a:r>
          </a:p>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Hyphenation reconnected across line breaks</a:t>
            </a:r>
          </a:p>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Chunks under 80 characters dropped as noise</a:t>
            </a:r>
          </a:p>
        </p:txBody>
      </p:sp>
      <p:sp>
        <p:nvSpPr>
          <p:cNvPr id="25" name="Rounded Rectangle 24"/>
          <p:cNvSpPr/>
          <p:nvPr/>
        </p:nvSpPr>
        <p:spPr>
          <a:xfrm>
            <a:off x="6260439" y="3310128"/>
            <a:ext cx="5154015" cy="192024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16471" y="3547872"/>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How a document is represented</a:t>
            </a:r>
          </a:p>
        </p:txBody>
      </p:sp>
      <p:sp>
        <p:nvSpPr>
          <p:cNvPr id="27" name="TextBox 26"/>
          <p:cNvSpPr txBox="1"/>
          <p:nvPr/>
        </p:nvSpPr>
        <p:spPr>
          <a:xfrm>
            <a:off x="6516471" y="3858768"/>
            <a:ext cx="4641951" cy="113385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0891B2"/>
              </a:buClr>
              <a:buSzPct val="85000"/>
              <a:buFont typeface="Arial"/>
              <a:buChar char="▪"/>
            </a:pPr>
            <a:r>
              <a:rPr sz="1100" b="1">
                <a:solidFill>
                  <a:srgbClr val="3B4166"/>
                </a:solidFill>
                <a:latin typeface="Segoe UI"/>
              </a:rPr>
              <a:t>pages</a:t>
            </a:r>
            <a:r>
              <a:rPr sz="1100" b="0">
                <a:solidFill>
                  <a:srgbClr val="6C7191"/>
                </a:solidFill>
                <a:latin typeface="Segoe UI"/>
              </a:rPr>
              <a:t> — cleaned page text, what the models actually read</a:t>
            </a:r>
          </a:p>
          <a:p>
            <a:pPr algn="l" marL="146304" indent="-146304">
              <a:lnSpc>
                <a:spcPct val="128000"/>
              </a:lnSpc>
              <a:spcBef>
                <a:spcPts val="0"/>
              </a:spcBef>
              <a:spcAft>
                <a:spcPts val="500"/>
              </a:spcAft>
              <a:buClr>
                <a:srgbClr val="0891B2"/>
              </a:buClr>
              <a:buSzPct val="85000"/>
              <a:buFont typeface="Arial"/>
              <a:buChar char="▪"/>
            </a:pPr>
            <a:r>
              <a:rPr sz="1100" b="1">
                <a:solidFill>
                  <a:srgbClr val="3B4166"/>
                </a:solidFill>
                <a:latin typeface="Segoe UI"/>
              </a:rPr>
              <a:t>chunks</a:t>
            </a:r>
            <a:r>
              <a:rPr sz="1100" b="0">
                <a:solidFill>
                  <a:srgbClr val="6C7191"/>
                </a:solidFill>
                <a:latin typeface="Segoe UI"/>
              </a:rPr>
              <a:t> — 900-character overlapping windows, split on sentence and paragraph boundaries</a:t>
            </a:r>
          </a:p>
          <a:p>
            <a:pPr algn="l" marL="146304" indent="-146304">
              <a:lnSpc>
                <a:spcPct val="128000"/>
              </a:lnSpc>
              <a:spcBef>
                <a:spcPts val="0"/>
              </a:spcBef>
              <a:spcAft>
                <a:spcPts val="500"/>
              </a:spcAft>
              <a:buClr>
                <a:srgbClr val="0891B2"/>
              </a:buClr>
              <a:buSzPct val="85000"/>
              <a:buFont typeface="Arial"/>
              <a:buChar char="▪"/>
            </a:pPr>
            <a:r>
              <a:rPr sz="1100" b="1">
                <a:solidFill>
                  <a:srgbClr val="3B4166"/>
                </a:solidFill>
                <a:latin typeface="Segoe UI"/>
              </a:rPr>
              <a:t>Qdrant</a:t>
            </a:r>
            <a:r>
              <a:rPr sz="1100" b="0">
                <a:solidFill>
                  <a:srgbClr val="6C7191"/>
                </a:solidFill>
                <a:latin typeface="Segoe UI"/>
              </a:rPr>
              <a:t> — one 384-dimension vector per chunk, HNSW index</a:t>
            </a:r>
          </a:p>
          <a:p>
            <a:pPr algn="l" marL="146304" indent="-146304">
              <a:lnSpc>
                <a:spcPct val="128000"/>
              </a:lnSpc>
              <a:spcBef>
                <a:spcPts val="0"/>
              </a:spcBef>
              <a:spcAft>
                <a:spcPts val="500"/>
              </a:spcAft>
              <a:buClr>
                <a:srgbClr val="0891B2"/>
              </a:buClr>
              <a:buSzPct val="85000"/>
              <a:buFont typeface="Arial"/>
              <a:buChar char="▪"/>
            </a:pPr>
            <a:r>
              <a:rPr sz="1100" b="1">
                <a:solidFill>
                  <a:srgbClr val="3B4166"/>
                </a:solidFill>
                <a:latin typeface="Segoe UI"/>
              </a:rPr>
              <a:t>GridFS</a:t>
            </a:r>
            <a:r>
              <a:rPr sz="1100" b="0">
                <a:solidFill>
                  <a:srgbClr val="6C7191"/>
                </a:solidFill>
                <a:latin typeface="Segoe UI"/>
              </a:rPr>
              <a:t> — the original file, so text and PDF cannot be separated</a:t>
            </a:r>
          </a:p>
        </p:txBody>
      </p:sp>
      <p:sp>
        <p:nvSpPr>
          <p:cNvPr id="28" name="Rounded Rectangle 27"/>
          <p:cNvSpPr/>
          <p:nvPr/>
        </p:nvSpPr>
        <p:spPr>
          <a:xfrm>
            <a:off x="777240" y="5413248"/>
            <a:ext cx="10637215" cy="786384"/>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77240" y="5541264"/>
            <a:ext cx="41148" cy="530352"/>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51560" y="5413248"/>
            <a:ext cx="10106863" cy="786384"/>
          </a:xfrm>
          <a:prstGeom prst="rect">
            <a:avLst/>
          </a:prstGeom>
          <a:noFill/>
        </p:spPr>
        <p:txBody>
          <a:bodyPr wrap="square" lIns="0" rIns="0" tIns="0" bIns="0" anchor="ctr">
            <a:spAutoFit/>
          </a:bodyPr>
          <a:lstStyle/>
          <a:p>
            <a:pPr algn="l">
              <a:lnSpc>
                <a:spcPct val="122000"/>
              </a:lnSpc>
              <a:spcBef>
                <a:spcPts val="0"/>
              </a:spcBef>
              <a:spcAft>
                <a:spcPts val="0"/>
              </a:spcAft>
            </a:pPr>
            <a:r>
              <a:rPr sz="850" b="1" i="0" spc="130">
                <a:solidFill>
                  <a:srgbClr val="2340E0"/>
                </a:solidFill>
                <a:latin typeface="Segoe UI"/>
              </a:rPr>
              <a:t>STORED ONCE</a:t>
            </a:r>
          </a:p>
          <a:p>
            <a:pPr algn="l">
              <a:lnSpc>
                <a:spcPct val="132000"/>
              </a:lnSpc>
              <a:spcBef>
                <a:spcPts val="500"/>
              </a:spcBef>
              <a:spcAft>
                <a:spcPts val="0"/>
              </a:spcAft>
            </a:pPr>
            <a:r>
              <a:rPr sz="1100" b="0" i="0">
                <a:solidFill>
                  <a:srgbClr val="3B4166"/>
                </a:solidFill>
                <a:latin typeface="Segoe UI"/>
              </a:rPr>
              <a:t>Documents are keyed by the SHA-256 of their bytes, so a file ten students upload is extracted and embedded a single time. That is also why ownership cannot be a field on the document and lives in user_documents instead.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06 · MODELS USED — 1 OF 3</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The generator: Qwen2.5-3B-Instruct</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Writes every chat reply and every piece of study material. Runs in-process through llama.cpp — no API key, no network call.</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07</a:t>
            </a:r>
          </a:p>
        </p:txBody>
      </p:sp>
      <p:graphicFrame>
        <p:nvGraphicFramePr>
          <p:cNvPr id="8" name="Table 7"/>
          <p:cNvGraphicFramePr>
            <a:graphicFrameLocks noGrp="1"/>
          </p:cNvGraphicFramePr>
          <p:nvPr/>
        </p:nvGraphicFramePr>
        <p:xfrm>
          <a:off x="777240" y="2432304"/>
          <a:ext cx="5897880" cy="2331720"/>
        </p:xfrm>
        <a:graphic>
          <a:graphicData uri="http://schemas.openxmlformats.org/drawingml/2006/table">
            <a:tbl>
              <a:tblPr>
                <a:tableStyleId>{5C22544A-7EE6-4342-B048-85BDC9FD1C3A}</a:tableStyleId>
              </a:tblPr>
              <a:tblGrid>
                <a:gridCol w="2240280"/>
                <a:gridCol w="3657600"/>
              </a:tblGrid>
              <a:tr h="329184">
                <a:tc>
                  <a:txBody>
                    <a:bodyPr wrap="square"/>
                    <a:lstStyle/>
                    <a:p>
                      <a:pPr algn="l">
                        <a:lnSpc>
                          <a:spcPct val="114000"/>
                        </a:lnSpc>
                      </a:pPr>
                      <a:r>
                        <a:rPr sz="900" b="1" spc="90">
                          <a:solidFill>
                            <a:srgbClr val="6C7191"/>
                          </a:solidFill>
                          <a:latin typeface="Segoe UI"/>
                        </a:rPr>
                        <a:t>Property</a:t>
                      </a:r>
                    </a:p>
                  </a:txBody>
                  <a:tcPr marL="128016" marR="91440" marT="27432" marB="27432" anchor="ctr">
                    <a:solidFill>
                      <a:srgbClr val="F7F8FD"/>
                    </a:solidFill>
                    <a:lnB w="6350" cap="flat" cmpd="sng" algn="ctr">
                      <a:solidFill>
                        <a:srgbClr val="E7E9F5"/>
                      </a:solidFill>
                    </a:lnB>
                  </a:tcPr>
                </a:tc>
                <a:tc>
                  <a:txBody>
                    <a:bodyPr wrap="square"/>
                    <a:lstStyle/>
                    <a:p>
                      <a:pPr algn="l">
                        <a:lnSpc>
                          <a:spcPct val="114000"/>
                        </a:lnSpc>
                      </a:pPr>
                      <a:r>
                        <a:rPr sz="900" b="1" spc="90">
                          <a:solidFill>
                            <a:srgbClr val="6C7191"/>
                          </a:solidFill>
                          <a:latin typeface="Segoe UI"/>
                        </a:rPr>
                        <a:t>Value</a:t>
                      </a:r>
                    </a:p>
                  </a:txBody>
                  <a:tcPr marL="128016" marR="91440" marT="27432" marB="27432" anchor="ctr">
                    <a:solidFill>
                      <a:srgbClr val="F7F8FD"/>
                    </a:solidFill>
                    <a:lnB w="6350" cap="flat" cmpd="sng" algn="ctr">
                      <a:solidFill>
                        <a:srgbClr val="E7E9F5"/>
                      </a:solidFill>
                    </a:lnB>
                  </a:tcPr>
                </a:tc>
              </a:tr>
              <a:tr h="333756">
                <a:tc>
                  <a:txBody>
                    <a:bodyPr wrap="square"/>
                    <a:lstStyle/>
                    <a:p>
                      <a:pPr algn="l">
                        <a:lnSpc>
                          <a:spcPct val="114000"/>
                        </a:lnSpc>
                      </a:pPr>
                      <a:r>
                        <a:rPr sz="1050" b="1">
                          <a:solidFill>
                            <a:srgbClr val="101533"/>
                          </a:solidFill>
                          <a:latin typeface="Segoe UI"/>
                        </a:rPr>
                        <a:t>Model</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50" b="0">
                          <a:solidFill>
                            <a:srgbClr val="3B4166"/>
                          </a:solidFill>
                          <a:latin typeface="Segoe UI"/>
                        </a:rPr>
                        <a:t>Qwen2.5-3B-Instruct</a:t>
                      </a:r>
                    </a:p>
                  </a:txBody>
                  <a:tcPr marL="128016" marR="91440" marT="27432" marB="27432" anchor="ctr">
                    <a:solidFill>
                      <a:srgbClr val="FFFFFF"/>
                    </a:solidFill>
                    <a:lnB w="6350" cap="flat" cmpd="sng" algn="ctr">
                      <a:solidFill>
                        <a:srgbClr val="E7E9F5"/>
                      </a:solidFill>
                    </a:lnB>
                  </a:tcPr>
                </a:tc>
              </a:tr>
              <a:tr h="333756">
                <a:tc>
                  <a:txBody>
                    <a:bodyPr wrap="square"/>
                    <a:lstStyle/>
                    <a:p>
                      <a:pPr algn="l">
                        <a:lnSpc>
                          <a:spcPct val="114000"/>
                        </a:lnSpc>
                      </a:pPr>
                      <a:r>
                        <a:rPr sz="1050" b="1">
                          <a:solidFill>
                            <a:srgbClr val="101533"/>
                          </a:solidFill>
                          <a:latin typeface="Segoe UI"/>
                        </a:rPr>
                        <a:t>Format</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50" b="0">
                          <a:solidFill>
                            <a:srgbClr val="3B4166"/>
                          </a:solidFill>
                          <a:latin typeface="Segoe UI"/>
                        </a:rPr>
                        <a:t>Q4 quantised GGUF, ≈ 2 GB on disk</a:t>
                      </a:r>
                    </a:p>
                  </a:txBody>
                  <a:tcPr marL="128016" marR="91440" marT="27432" marB="27432" anchor="ctr">
                    <a:solidFill>
                      <a:srgbClr val="FFFFFF"/>
                    </a:solidFill>
                    <a:lnB w="6350" cap="flat" cmpd="sng" algn="ctr">
                      <a:solidFill>
                        <a:srgbClr val="E7E9F5"/>
                      </a:solidFill>
                    </a:lnB>
                  </a:tcPr>
                </a:tc>
              </a:tr>
              <a:tr h="333756">
                <a:tc>
                  <a:txBody>
                    <a:bodyPr wrap="square"/>
                    <a:lstStyle/>
                    <a:p>
                      <a:pPr algn="l">
                        <a:lnSpc>
                          <a:spcPct val="114000"/>
                        </a:lnSpc>
                      </a:pPr>
                      <a:r>
                        <a:rPr sz="1050" b="1">
                          <a:solidFill>
                            <a:srgbClr val="101533"/>
                          </a:solidFill>
                          <a:latin typeface="Segoe UI"/>
                        </a:rPr>
                        <a:t>Runtime</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50" b="0">
                          <a:solidFill>
                            <a:srgbClr val="3B4166"/>
                          </a:solidFill>
                          <a:latin typeface="Segoe UI"/>
                        </a:rPr>
                        <a:t>llama-cpp-python 0.3, in the API process</a:t>
                      </a:r>
                    </a:p>
                  </a:txBody>
                  <a:tcPr marL="128016" marR="91440" marT="27432" marB="27432" anchor="ctr">
                    <a:solidFill>
                      <a:srgbClr val="FFFFFF"/>
                    </a:solidFill>
                    <a:lnB w="6350" cap="flat" cmpd="sng" algn="ctr">
                      <a:solidFill>
                        <a:srgbClr val="E7E9F5"/>
                      </a:solidFill>
                    </a:lnB>
                  </a:tcPr>
                </a:tc>
              </a:tr>
              <a:tr h="333756">
                <a:tc>
                  <a:txBody>
                    <a:bodyPr wrap="square"/>
                    <a:lstStyle/>
                    <a:p>
                      <a:pPr algn="l">
                        <a:lnSpc>
                          <a:spcPct val="114000"/>
                        </a:lnSpc>
                      </a:pPr>
                      <a:r>
                        <a:rPr sz="1050" b="1">
                          <a:solidFill>
                            <a:srgbClr val="101533"/>
                          </a:solidFill>
                          <a:latin typeface="Segoe UI"/>
                        </a:rPr>
                        <a:t>Source text per call</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50" b="0">
                          <a:solidFill>
                            <a:srgbClr val="3B4166"/>
                          </a:solidFill>
                          <a:latin typeface="Segoe UI"/>
                        </a:rPr>
                        <a:t>≤ 6 000 characters of retrieved passage</a:t>
                      </a:r>
                    </a:p>
                  </a:txBody>
                  <a:tcPr marL="128016" marR="91440" marT="27432" marB="27432" anchor="ctr">
                    <a:solidFill>
                      <a:srgbClr val="FFFFFF"/>
                    </a:solidFill>
                    <a:lnB w="6350" cap="flat" cmpd="sng" algn="ctr">
                      <a:solidFill>
                        <a:srgbClr val="E7E9F5"/>
                      </a:solidFill>
                    </a:lnB>
                  </a:tcPr>
                </a:tc>
              </a:tr>
              <a:tr h="333756">
                <a:tc>
                  <a:txBody>
                    <a:bodyPr wrap="square"/>
                    <a:lstStyle/>
                    <a:p>
                      <a:pPr algn="l">
                        <a:lnSpc>
                          <a:spcPct val="114000"/>
                        </a:lnSpc>
                      </a:pPr>
                      <a:r>
                        <a:rPr sz="1050" b="1">
                          <a:solidFill>
                            <a:srgbClr val="101533"/>
                          </a:solidFill>
                          <a:latin typeface="Segoe UI"/>
                        </a:rPr>
                        <a:t>Chat history carried</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50" b="0">
                          <a:solidFill>
                            <a:srgbClr val="3B4166"/>
                          </a:solidFill>
                          <a:latin typeface="Segoe UI"/>
                        </a:rPr>
                        <a:t>6 turns</a:t>
                      </a:r>
                    </a:p>
                  </a:txBody>
                  <a:tcPr marL="128016" marR="91440" marT="27432" marB="27432" anchor="ctr">
                    <a:solidFill>
                      <a:srgbClr val="FFFFFF"/>
                    </a:solidFill>
                    <a:lnB w="6350" cap="flat" cmpd="sng" algn="ctr">
                      <a:solidFill>
                        <a:srgbClr val="E7E9F5"/>
                      </a:solidFill>
                    </a:lnB>
                  </a:tcPr>
                </a:tc>
              </a:tr>
              <a:tr h="333756">
                <a:tc>
                  <a:txBody>
                    <a:bodyPr wrap="square"/>
                    <a:lstStyle/>
                    <a:p>
                      <a:pPr algn="l">
                        <a:lnSpc>
                          <a:spcPct val="114000"/>
                        </a:lnSpc>
                      </a:pPr>
                      <a:r>
                        <a:rPr sz="1050" b="1">
                          <a:solidFill>
                            <a:srgbClr val="101533"/>
                          </a:solidFill>
                          <a:latin typeface="Segoe UI"/>
                        </a:rPr>
                        <a:t>Attempts</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50" b="0">
                          <a:solidFill>
                            <a:srgbClr val="3B4166"/>
                          </a:solidFill>
                          <a:latin typeface="Segoe UI"/>
                        </a:rPr>
                        <a:t>2 — one regeneration on a rejection</a:t>
                      </a:r>
                    </a:p>
                  </a:txBody>
                  <a:tcPr marL="128016" marR="91440" marT="27432" marB="27432" anchor="ctr">
                    <a:solidFill>
                      <a:srgbClr val="FFFFFF"/>
                    </a:solidFill>
                    <a:lnB w="6350" cap="flat" cmpd="sng" algn="ctr">
                      <a:solidFill>
                        <a:srgbClr val="E7E9F5"/>
                      </a:solidFill>
                    </a:lnB>
                  </a:tcPr>
                </a:tc>
              </a:tr>
            </a:tbl>
          </a:graphicData>
        </a:graphic>
      </p:graphicFrame>
      <p:sp>
        <p:nvSpPr>
          <p:cNvPr id="9" name="Rounded Rectangle 8"/>
          <p:cNvSpPr/>
          <p:nvPr/>
        </p:nvSpPr>
        <p:spPr>
          <a:xfrm>
            <a:off x="6949440" y="2432304"/>
            <a:ext cx="4462272" cy="242316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205472" y="2670048"/>
            <a:ext cx="3950208"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Why this model</a:t>
            </a:r>
          </a:p>
        </p:txBody>
      </p:sp>
      <p:sp>
        <p:nvSpPr>
          <p:cNvPr id="11" name="TextBox 10"/>
          <p:cNvSpPr txBox="1"/>
          <p:nvPr/>
        </p:nvSpPr>
        <p:spPr>
          <a:xfrm>
            <a:off x="7205472" y="2980944"/>
            <a:ext cx="3950208" cy="163677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3B fits an ordinary laptop, and Q4 quantisation makes it roughly a quarter of the size for a small loss in quality</a:t>
            </a:r>
          </a:p>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Grammar-constrained decoding forces valid JSON — asked politely, a 3B model returns prose about half the time</a:t>
            </a:r>
          </a:p>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Instruction-tuned, so a prompt describing the task works without few-shot examples</a:t>
            </a:r>
          </a:p>
        </p:txBody>
      </p:sp>
      <p:sp>
        <p:nvSpPr>
          <p:cNvPr id="12" name="Rounded Rectangle 11"/>
          <p:cNvSpPr/>
          <p:nvPr/>
        </p:nvSpPr>
        <p:spPr>
          <a:xfrm>
            <a:off x="777240" y="5074920"/>
            <a:ext cx="10637215" cy="1005840"/>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77240" y="5202936"/>
            <a:ext cx="41148" cy="74980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51560" y="5074920"/>
            <a:ext cx="10106863" cy="1005840"/>
          </a:xfrm>
          <a:prstGeom prst="rect">
            <a:avLst/>
          </a:prstGeom>
          <a:noFill/>
        </p:spPr>
        <p:txBody>
          <a:bodyPr wrap="square" lIns="0" rIns="0" tIns="0" bIns="0" anchor="ctr">
            <a:spAutoFit/>
          </a:bodyPr>
          <a:lstStyle/>
          <a:p>
            <a:pPr algn="l">
              <a:lnSpc>
                <a:spcPct val="122000"/>
              </a:lnSpc>
              <a:spcBef>
                <a:spcPts val="0"/>
              </a:spcBef>
              <a:spcAft>
                <a:spcPts val="0"/>
              </a:spcAft>
            </a:pPr>
            <a:r>
              <a:rPr sz="850" b="1" i="0" spc="130">
                <a:solidFill>
                  <a:srgbClr val="2340E0"/>
                </a:solidFill>
                <a:latin typeface="Segoe UI"/>
              </a:rPr>
              <a:t>THREE INTERCHANGEABLE BACKENDS</a:t>
            </a:r>
          </a:p>
          <a:p>
            <a:pPr algn="l">
              <a:lnSpc>
                <a:spcPct val="132000"/>
              </a:lnSpc>
              <a:spcBef>
                <a:spcPts val="500"/>
              </a:spcBef>
              <a:spcAft>
                <a:spcPts val="0"/>
              </a:spcAft>
            </a:pPr>
            <a:r>
              <a:rPr sz="1100" b="0" i="0">
                <a:solidFill>
                  <a:srgbClr val="3B4166"/>
                </a:solidFill>
                <a:latin typeface="Segoe UI"/>
              </a:rPr>
              <a:t>llama.cpp (the default, fully local), a served HTTP endpoint, or a cloud API. Our wrapper implements LangChain's BaseChatModel interface, so swapping the generator is two lines of .env and no code change. The cloud path is an availability fallback — process down, timeout, missing pointer — never a per-answer quality router.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07 · MODELS USED — 2 OF 3</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The judge: Llama-3.2-3B-Instruct</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Grades what the generator wrote against the passage it was given, and says what to fix.</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08</a:t>
            </a:r>
          </a:p>
        </p:txBody>
      </p:sp>
      <p:sp>
        <p:nvSpPr>
          <p:cNvPr id="8" name="Rounded Rectangle 7"/>
          <p:cNvSpPr/>
          <p:nvPr/>
        </p:nvSpPr>
        <p:spPr>
          <a:xfrm>
            <a:off x="777240" y="2194560"/>
            <a:ext cx="5154015" cy="1481328"/>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1" y="2432304"/>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2340E0"/>
                </a:solidFill>
                <a:latin typeface="Segoe UI"/>
              </a:rPr>
              <a:t>GATE 1  ·  NO MODEL INVOLVED</a:t>
            </a:r>
          </a:p>
        </p:txBody>
      </p:sp>
      <p:sp>
        <p:nvSpPr>
          <p:cNvPr id="10" name="TextBox 9"/>
          <p:cNvSpPr txBox="1"/>
          <p:nvPr/>
        </p:nvSpPr>
        <p:spPr>
          <a:xfrm>
            <a:off x="1033271" y="2706624"/>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Structural validators</a:t>
            </a:r>
          </a:p>
        </p:txBody>
      </p:sp>
      <p:sp>
        <p:nvSpPr>
          <p:cNvPr id="11" name="TextBox 10"/>
          <p:cNvSpPr txBox="1"/>
          <p:nvPr/>
        </p:nvSpPr>
        <p:spPr>
          <a:xfrm>
            <a:off x="1033271" y="3017520"/>
            <a:ext cx="4641951" cy="420624"/>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Decidable in plain Python in microseconds: an MCQ has four options and exactly one marked answer, a summary is present and long enough, a practice answer is not a restatement of its question. Catching these here means the ≈ 25-second judge call is only ever spent on well-formed content.</a:t>
            </a:r>
          </a:p>
        </p:txBody>
      </p:sp>
      <p:sp>
        <p:nvSpPr>
          <p:cNvPr id="12" name="Rounded Rectangle 11"/>
          <p:cNvSpPr/>
          <p:nvPr/>
        </p:nvSpPr>
        <p:spPr>
          <a:xfrm>
            <a:off x="777240" y="3785615"/>
            <a:ext cx="5154015" cy="1481328"/>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33271" y="4023359"/>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0891B2"/>
                </a:solidFill>
                <a:latin typeface="Segoe UI"/>
              </a:rPr>
              <a:t>GATE 2  ·  THE JUDGE</a:t>
            </a:r>
          </a:p>
        </p:txBody>
      </p:sp>
      <p:sp>
        <p:nvSpPr>
          <p:cNvPr id="14" name="TextBox 13"/>
          <p:cNvSpPr txBox="1"/>
          <p:nvPr/>
        </p:nvSpPr>
        <p:spPr>
          <a:xfrm>
            <a:off x="1033271" y="4297679"/>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Scored against the source</a:t>
            </a:r>
          </a:p>
        </p:txBody>
      </p:sp>
      <p:sp>
        <p:nvSpPr>
          <p:cNvPr id="15" name="TextBox 14"/>
          <p:cNvSpPr txBox="1"/>
          <p:nvPr/>
        </p:nvSpPr>
        <p:spPr>
          <a:xfrm>
            <a:off x="1033271" y="4608575"/>
            <a:ext cx="4641951" cy="420624"/>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A per-task rubric — one each for MCQ, practice questions, key points, summary, and two more for grounded and general chat replies. Below 70 the judge returns an instruction and the generator gets one more attempt; the better of the two is what the student sees.</a:t>
            </a:r>
          </a:p>
        </p:txBody>
      </p:sp>
      <p:sp>
        <p:nvSpPr>
          <p:cNvPr id="16" name="Rounded Rectangle 15"/>
          <p:cNvSpPr/>
          <p:nvPr/>
        </p:nvSpPr>
        <p:spPr>
          <a:xfrm>
            <a:off x="6260439" y="2194560"/>
            <a:ext cx="5154015" cy="1481328"/>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16471" y="2432304"/>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Why a different model family</a:t>
            </a:r>
          </a:p>
        </p:txBody>
      </p:sp>
      <p:sp>
        <p:nvSpPr>
          <p:cNvPr id="18" name="TextBox 17"/>
          <p:cNvSpPr txBox="1"/>
          <p:nvPr/>
        </p:nvSpPr>
        <p:spPr>
          <a:xfrm>
            <a:off x="6516471" y="2743200"/>
            <a:ext cx="4641951" cy="694944"/>
          </a:xfrm>
          <a:prstGeom prst="rect">
            <a:avLst/>
          </a:prstGeom>
          <a:noFill/>
        </p:spPr>
        <p:txBody>
          <a:bodyPr wrap="square" lIns="0" rIns="0" tIns="0" bIns="0" anchor="t">
            <a:spAutoFit/>
          </a:bodyPr>
          <a:lstStyle/>
          <a:p>
            <a:pPr algn="l">
              <a:lnSpc>
                <a:spcPct val="136000"/>
              </a:lnSpc>
              <a:spcBef>
                <a:spcPts val="0"/>
              </a:spcBef>
              <a:spcAft>
                <a:spcPts val="0"/>
              </a:spcAft>
            </a:pPr>
            <a:r>
              <a:rPr sz="1100" b="0" i="0">
                <a:solidFill>
                  <a:srgbClr val="6C7191"/>
                </a:solidFill>
                <a:latin typeface="Segoe UI"/>
              </a:rPr>
              <a:t>A model grading its own writing rates its own style highly, and the quality check quietly stops catching anything. Different weights means a genuine second opinion rather than a rubber stamp.</a:t>
            </a:r>
          </a:p>
        </p:txBody>
      </p:sp>
      <p:sp>
        <p:nvSpPr>
          <p:cNvPr id="19" name="Rounded Rectangle 18"/>
          <p:cNvSpPr/>
          <p:nvPr/>
        </p:nvSpPr>
        <p:spPr>
          <a:xfrm>
            <a:off x="6260439" y="3785615"/>
            <a:ext cx="5154015" cy="1481328"/>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16471" y="4023359"/>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A chat reply skips gate 1</a:t>
            </a:r>
          </a:p>
        </p:txBody>
      </p:sp>
      <p:sp>
        <p:nvSpPr>
          <p:cNvPr id="21" name="TextBox 20"/>
          <p:cNvSpPr txBox="1"/>
          <p:nvPr/>
        </p:nvSpPr>
        <p:spPr>
          <a:xfrm>
            <a:off x="6516471" y="4334255"/>
            <a:ext cx="4641951" cy="694944"/>
          </a:xfrm>
          <a:prstGeom prst="rect">
            <a:avLst/>
          </a:prstGeom>
          <a:noFill/>
        </p:spPr>
        <p:txBody>
          <a:bodyPr wrap="square" lIns="0" rIns="0" tIns="0" bIns="0" anchor="t">
            <a:spAutoFit/>
          </a:bodyPr>
          <a:lstStyle/>
          <a:p>
            <a:pPr algn="l">
              <a:lnSpc>
                <a:spcPct val="136000"/>
              </a:lnSpc>
              <a:spcBef>
                <a:spcPts val="0"/>
              </a:spcBef>
              <a:spcAft>
                <a:spcPts val="0"/>
              </a:spcAft>
            </a:pPr>
            <a:r>
              <a:rPr sz="1100" b="0" i="0">
                <a:solidFill>
                  <a:srgbClr val="6C7191"/>
                </a:solidFill>
                <a:latin typeface="Segoe UI"/>
              </a:rPr>
              <a:t>There is nothing mechanical to check in free prose, so a chat answer goes straight to the judge — graded on whether it is supported by the retrieved context, or, when there is none, on general-knowledge criteria instead.</a:t>
            </a:r>
          </a:p>
        </p:txBody>
      </p:sp>
      <p:sp>
        <p:nvSpPr>
          <p:cNvPr id="22" name="Rounded Rectangle 21"/>
          <p:cNvSpPr/>
          <p:nvPr/>
        </p:nvSpPr>
        <p:spPr>
          <a:xfrm>
            <a:off x="777240" y="5138928"/>
            <a:ext cx="10637215" cy="896112"/>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77240" y="5266944"/>
            <a:ext cx="41148" cy="640080"/>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51560" y="5138928"/>
            <a:ext cx="10106863" cy="896112"/>
          </a:xfrm>
          <a:prstGeom prst="rect">
            <a:avLst/>
          </a:prstGeom>
          <a:noFill/>
        </p:spPr>
        <p:txBody>
          <a:bodyPr wrap="square" lIns="0" rIns="0" tIns="0" bIns="0" anchor="ctr">
            <a:spAutoFit/>
          </a:bodyPr>
          <a:lstStyle/>
          <a:p>
            <a:pPr algn="l">
              <a:lnSpc>
                <a:spcPct val="122000"/>
              </a:lnSpc>
              <a:spcBef>
                <a:spcPts val="0"/>
              </a:spcBef>
              <a:spcAft>
                <a:spcPts val="0"/>
              </a:spcAft>
            </a:pPr>
            <a:r>
              <a:rPr sz="850" b="1" i="0" spc="130">
                <a:solidFill>
                  <a:srgbClr val="2340E0"/>
                </a:solidFill>
                <a:latin typeface="Segoe UI"/>
              </a:rPr>
              <a:t>EVERY VERDICT IS LOGGED</a:t>
            </a:r>
          </a:p>
          <a:p>
            <a:pPr algn="l">
              <a:lnSpc>
                <a:spcPct val="132000"/>
              </a:lnSpc>
              <a:spcBef>
                <a:spcPts val="500"/>
              </a:spcBef>
              <a:spcAft>
                <a:spcPts val="0"/>
              </a:spcAft>
            </a:pPr>
            <a:r>
              <a:rPr sz="1100" b="0" i="0">
                <a:solidFill>
                  <a:srgbClr val="3B4166"/>
                </a:solidFill>
                <a:latin typeface="Segoe UI"/>
              </a:rPr>
              <a:t>Passes as well as failures, into the evaluations collection. That is what turns “how good is the material this produced” from an impression into a question with an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08 · MODELS USED — 3 OF 3</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Retrieval: a fast model and an accurate one</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Finding the right passage takes two stages, because the model that can search everything and the model that judges a pair are not the same model.</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09</a:t>
            </a:r>
          </a:p>
        </p:txBody>
      </p:sp>
      <p:sp>
        <p:nvSpPr>
          <p:cNvPr id="8" name="Rounded Rectangle 7"/>
          <p:cNvSpPr/>
          <p:nvPr/>
        </p:nvSpPr>
        <p:spPr>
          <a:xfrm>
            <a:off x="777240" y="2432304"/>
            <a:ext cx="1864095" cy="768096"/>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2432304"/>
            <a:ext cx="1681215" cy="768096"/>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Question</a:t>
            </a:r>
          </a:p>
          <a:p>
            <a:pPr algn="ctr">
              <a:lnSpc>
                <a:spcPct val="116000"/>
              </a:lnSpc>
              <a:spcBef>
                <a:spcPts val="400"/>
              </a:spcBef>
              <a:spcAft>
                <a:spcPts val="0"/>
              </a:spcAft>
            </a:pPr>
            <a:r>
              <a:rPr sz="850" b="0" i="0">
                <a:solidFill>
                  <a:srgbClr val="6C7191"/>
                </a:solidFill>
                <a:latin typeface="Segoe UI"/>
              </a:rPr>
              <a:t>the student's message</a:t>
            </a:r>
          </a:p>
        </p:txBody>
      </p:sp>
      <p:sp>
        <p:nvSpPr>
          <p:cNvPr id="10" name="Right Arrow 9"/>
          <p:cNvSpPr/>
          <p:nvPr/>
        </p:nvSpPr>
        <p:spPr>
          <a:xfrm>
            <a:off x="2732775" y="2752344"/>
            <a:ext cx="146303"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2970519" y="2432304"/>
            <a:ext cx="1864095" cy="768096"/>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061959" y="2432304"/>
            <a:ext cx="1681215" cy="768096"/>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Bi-encoder</a:t>
            </a:r>
          </a:p>
          <a:p>
            <a:pPr algn="ctr">
              <a:lnSpc>
                <a:spcPct val="116000"/>
              </a:lnSpc>
              <a:spcBef>
                <a:spcPts val="400"/>
              </a:spcBef>
              <a:spcAft>
                <a:spcPts val="0"/>
              </a:spcAft>
            </a:pPr>
            <a:r>
              <a:rPr sz="850" b="0" i="0">
                <a:solidFill>
                  <a:srgbClr val="6C7191"/>
                </a:solidFill>
                <a:latin typeface="Segoe UI"/>
              </a:rPr>
              <a:t>all-MiniLM-L6-v2</a:t>
            </a:r>
          </a:p>
        </p:txBody>
      </p:sp>
      <p:sp>
        <p:nvSpPr>
          <p:cNvPr id="13" name="Right Arrow 12"/>
          <p:cNvSpPr/>
          <p:nvPr/>
        </p:nvSpPr>
        <p:spPr>
          <a:xfrm>
            <a:off x="4926055" y="2752344"/>
            <a:ext cx="146303"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163799" y="2432304"/>
            <a:ext cx="1864095" cy="768096"/>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255239" y="2432304"/>
            <a:ext cx="1681215" cy="768096"/>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Qdrant ANN</a:t>
            </a:r>
          </a:p>
          <a:p>
            <a:pPr algn="ctr">
              <a:lnSpc>
                <a:spcPct val="116000"/>
              </a:lnSpc>
              <a:spcBef>
                <a:spcPts val="400"/>
              </a:spcBef>
              <a:spcAft>
                <a:spcPts val="0"/>
              </a:spcAft>
            </a:pPr>
            <a:r>
              <a:rPr sz="850" b="0" i="0">
                <a:solidFill>
                  <a:srgbClr val="6C7191"/>
                </a:solidFill>
                <a:latin typeface="Segoe UI"/>
              </a:rPr>
              <a:t>20 candidates</a:t>
            </a:r>
          </a:p>
        </p:txBody>
      </p:sp>
      <p:sp>
        <p:nvSpPr>
          <p:cNvPr id="16" name="Right Arrow 15"/>
          <p:cNvSpPr/>
          <p:nvPr/>
        </p:nvSpPr>
        <p:spPr>
          <a:xfrm>
            <a:off x="7119335" y="2752344"/>
            <a:ext cx="146303"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7357079" y="2432304"/>
            <a:ext cx="1864095" cy="768096"/>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448519" y="2432304"/>
            <a:ext cx="1681215" cy="768096"/>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Cross-encoder</a:t>
            </a:r>
          </a:p>
          <a:p>
            <a:pPr algn="ctr">
              <a:lnSpc>
                <a:spcPct val="116000"/>
              </a:lnSpc>
              <a:spcBef>
                <a:spcPts val="400"/>
              </a:spcBef>
              <a:spcAft>
                <a:spcPts val="0"/>
              </a:spcAft>
            </a:pPr>
            <a:r>
              <a:rPr sz="850" b="0" i="0">
                <a:solidFill>
                  <a:srgbClr val="6C7191"/>
                </a:solidFill>
                <a:latin typeface="Segoe UI"/>
              </a:rPr>
              <a:t>ms-marco-MiniLM-L-6</a:t>
            </a:r>
          </a:p>
        </p:txBody>
      </p:sp>
      <p:sp>
        <p:nvSpPr>
          <p:cNvPr id="19" name="Right Arrow 18"/>
          <p:cNvSpPr/>
          <p:nvPr/>
        </p:nvSpPr>
        <p:spPr>
          <a:xfrm>
            <a:off x="9312615" y="2752344"/>
            <a:ext cx="146303"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550359" y="2432304"/>
            <a:ext cx="1864095" cy="768096"/>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641799" y="2432304"/>
            <a:ext cx="1681215" cy="768096"/>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Top 3 chunks</a:t>
            </a:r>
          </a:p>
          <a:p>
            <a:pPr algn="ctr">
              <a:lnSpc>
                <a:spcPct val="116000"/>
              </a:lnSpc>
              <a:spcBef>
                <a:spcPts val="400"/>
              </a:spcBef>
              <a:spcAft>
                <a:spcPts val="0"/>
              </a:spcAft>
            </a:pPr>
            <a:r>
              <a:rPr sz="850" b="0" i="0">
                <a:solidFill>
                  <a:srgbClr val="6C7191"/>
                </a:solidFill>
                <a:latin typeface="Segoe UI"/>
              </a:rPr>
              <a:t>into the prompt</a:t>
            </a:r>
          </a:p>
        </p:txBody>
      </p:sp>
      <p:sp>
        <p:nvSpPr>
          <p:cNvPr id="22" name="Rounded Rectangle 21"/>
          <p:cNvSpPr/>
          <p:nvPr/>
        </p:nvSpPr>
        <p:spPr>
          <a:xfrm>
            <a:off x="777240" y="3364992"/>
            <a:ext cx="5154015" cy="1755648"/>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33271" y="3602736"/>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2340E0"/>
                </a:solidFill>
                <a:latin typeface="Segoe UI"/>
              </a:rPr>
              <a:t>STAGE 1  ·  ≈ 90 MB</a:t>
            </a:r>
          </a:p>
        </p:txBody>
      </p:sp>
      <p:sp>
        <p:nvSpPr>
          <p:cNvPr id="24" name="TextBox 23"/>
          <p:cNvSpPr txBox="1"/>
          <p:nvPr/>
        </p:nvSpPr>
        <p:spPr>
          <a:xfrm>
            <a:off x="1033271" y="3877056"/>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Bi-encoder — recall</a:t>
            </a:r>
          </a:p>
        </p:txBody>
      </p:sp>
      <p:sp>
        <p:nvSpPr>
          <p:cNvPr id="25" name="TextBox 24"/>
          <p:cNvSpPr txBox="1"/>
          <p:nvPr/>
        </p:nvSpPr>
        <p:spPr>
          <a:xfrm>
            <a:off x="1033271" y="4187952"/>
            <a:ext cx="4641951" cy="694944"/>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Encodes every chunk once at upload and the question at query time, then compares vectors. It never sees the question and the chunk together, which is exactly why it is fast enough to search thousands of chunks in milliseconds.</a:t>
            </a:r>
          </a:p>
        </p:txBody>
      </p:sp>
      <p:sp>
        <p:nvSpPr>
          <p:cNvPr id="26" name="Rounded Rectangle 25"/>
          <p:cNvSpPr/>
          <p:nvPr/>
        </p:nvSpPr>
        <p:spPr>
          <a:xfrm>
            <a:off x="6260439" y="3364992"/>
            <a:ext cx="5154015" cy="1755648"/>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16471" y="3602736"/>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0891B2"/>
                </a:solidFill>
                <a:latin typeface="Segoe UI"/>
              </a:rPr>
              <a:t>STAGE 2  ·  ≈ 90 MB</a:t>
            </a:r>
          </a:p>
        </p:txBody>
      </p:sp>
      <p:sp>
        <p:nvSpPr>
          <p:cNvPr id="28" name="TextBox 27"/>
          <p:cNvSpPr txBox="1"/>
          <p:nvPr/>
        </p:nvSpPr>
        <p:spPr>
          <a:xfrm>
            <a:off x="6516471" y="3877056"/>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Cross-encoder — precision</a:t>
            </a:r>
          </a:p>
        </p:txBody>
      </p:sp>
      <p:sp>
        <p:nvSpPr>
          <p:cNvPr id="29" name="TextBox 28"/>
          <p:cNvSpPr txBox="1"/>
          <p:nvPr/>
        </p:nvSpPr>
        <p:spPr>
          <a:xfrm>
            <a:off x="6516471" y="4187952"/>
            <a:ext cx="4641951" cy="694944"/>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Reads the question and one candidate chunk together and scores the pair. Far more accurate and far too slow to run over a corpus — so it only reorders the 20 the first stage already found.</a:t>
            </a:r>
          </a:p>
        </p:txBody>
      </p:sp>
      <p:sp>
        <p:nvSpPr>
          <p:cNvPr id="30" name="Rounded Rectangle 29"/>
          <p:cNvSpPr/>
          <p:nvPr/>
        </p:nvSpPr>
        <p:spPr>
          <a:xfrm>
            <a:off x="777240" y="5303520"/>
            <a:ext cx="10637215" cy="841248"/>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777240" y="5431536"/>
            <a:ext cx="41148" cy="585216"/>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051560" y="5303520"/>
            <a:ext cx="10106863" cy="841248"/>
          </a:xfrm>
          <a:prstGeom prst="rect">
            <a:avLst/>
          </a:prstGeom>
          <a:noFill/>
        </p:spPr>
        <p:txBody>
          <a:bodyPr wrap="square" lIns="0" rIns="0" tIns="0" bIns="0" anchor="ctr">
            <a:spAutoFit/>
          </a:bodyPr>
          <a:lstStyle/>
          <a:p>
            <a:pPr algn="l">
              <a:lnSpc>
                <a:spcPct val="132000"/>
              </a:lnSpc>
              <a:spcBef>
                <a:spcPts val="0"/>
              </a:spcBef>
              <a:spcAft>
                <a:spcPts val="0"/>
              </a:spcAft>
            </a:pPr>
            <a:r>
              <a:rPr sz="1100" b="0" i="0">
                <a:solidFill>
                  <a:srgbClr val="3B4166"/>
                </a:solidFill>
                <a:latin typeface="Segoe UI"/>
              </a:rPr>
              <a:t>The reranker can only reorder what retrieval found, so the 20 candidates are the real recall ceiling — TOP_K = 3 is merely how much of the reordered list reaches the prompt. A chunk scoring below 0.5 is dropped rather than padded 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09 · DATABASES USED</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Three stores, three jobs</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Different kinds of state, deliberately not forced into one engine.</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10</a:t>
            </a:r>
          </a:p>
        </p:txBody>
      </p:sp>
      <p:sp>
        <p:nvSpPr>
          <p:cNvPr id="8" name="Rounded Rectangle 7"/>
          <p:cNvSpPr/>
          <p:nvPr/>
        </p:nvSpPr>
        <p:spPr>
          <a:xfrm>
            <a:off x="777240" y="2176272"/>
            <a:ext cx="3362858" cy="2121408"/>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1" y="2414015"/>
            <a:ext cx="2850794"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2340E0"/>
                </a:solidFill>
                <a:latin typeface="Segoe UI"/>
              </a:rPr>
              <a:t>:27018  ·  10 COLLECTIONS + GRIDFS</a:t>
            </a:r>
          </a:p>
        </p:txBody>
      </p:sp>
      <p:sp>
        <p:nvSpPr>
          <p:cNvPr id="10" name="TextBox 9"/>
          <p:cNvSpPr txBox="1"/>
          <p:nvPr/>
        </p:nvSpPr>
        <p:spPr>
          <a:xfrm>
            <a:off x="1033271" y="2688335"/>
            <a:ext cx="2850794"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MongoDB 8</a:t>
            </a:r>
          </a:p>
        </p:txBody>
      </p:sp>
      <p:sp>
        <p:nvSpPr>
          <p:cNvPr id="11" name="TextBox 10"/>
          <p:cNvSpPr txBox="1"/>
          <p:nvPr/>
        </p:nvSpPr>
        <p:spPr>
          <a:xfrm>
            <a:off x="1033271" y="2999231"/>
            <a:ext cx="2850794" cy="1060704"/>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Everything that is not a vector. The records genuinely differ in shape — an MCQ, a summary and a chat turn are not the same thing — so a document database stores them without inventing a table for each.</a:t>
            </a:r>
          </a:p>
        </p:txBody>
      </p:sp>
      <p:sp>
        <p:nvSpPr>
          <p:cNvPr id="12" name="Rounded Rectangle 11"/>
          <p:cNvSpPr/>
          <p:nvPr/>
        </p:nvSpPr>
        <p:spPr>
          <a:xfrm>
            <a:off x="4414418" y="2176272"/>
            <a:ext cx="3362858" cy="2121408"/>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670450" y="2414015"/>
            <a:ext cx="2850794"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0891B2"/>
                </a:solidFill>
                <a:latin typeface="Segoe UI"/>
              </a:rPr>
              <a:t>:6335  ·  ONE VECTOR COLLECTION</a:t>
            </a:r>
          </a:p>
        </p:txBody>
      </p:sp>
      <p:sp>
        <p:nvSpPr>
          <p:cNvPr id="14" name="TextBox 13"/>
          <p:cNvSpPr txBox="1"/>
          <p:nvPr/>
        </p:nvSpPr>
        <p:spPr>
          <a:xfrm>
            <a:off x="4670450" y="2688335"/>
            <a:ext cx="2850794"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Qdrant 1.18</a:t>
            </a:r>
          </a:p>
        </p:txBody>
      </p:sp>
      <p:sp>
        <p:nvSpPr>
          <p:cNvPr id="15" name="TextBox 14"/>
          <p:cNvSpPr txBox="1"/>
          <p:nvPr/>
        </p:nvSpPr>
        <p:spPr>
          <a:xfrm>
            <a:off x="4670450" y="2999231"/>
            <a:ext cx="2850794" cy="1060704"/>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A purpose-built vector database. It answers “which passages are closest in meaning to this question” in milliseconds using an HNSW index, rather than comparing against every chunk one at a time.</a:t>
            </a:r>
          </a:p>
        </p:txBody>
      </p:sp>
      <p:sp>
        <p:nvSpPr>
          <p:cNvPr id="16" name="Rounded Rectangle 15"/>
          <p:cNvSpPr/>
          <p:nvPr/>
        </p:nvSpPr>
        <p:spPr>
          <a:xfrm>
            <a:off x="8051596" y="2176272"/>
            <a:ext cx="3362858" cy="2121408"/>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307628" y="2414015"/>
            <a:ext cx="2850794"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7C3AED"/>
                </a:solidFill>
                <a:latin typeface="Segoe UI"/>
              </a:rPr>
              <a:t>:8081  ·  THE LEARNMATE REALM</a:t>
            </a:r>
          </a:p>
        </p:txBody>
      </p:sp>
      <p:sp>
        <p:nvSpPr>
          <p:cNvPr id="18" name="TextBox 17"/>
          <p:cNvSpPr txBox="1"/>
          <p:nvPr/>
        </p:nvSpPr>
        <p:spPr>
          <a:xfrm>
            <a:off x="8307628" y="2688335"/>
            <a:ext cx="2850794"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Keycloak 26</a:t>
            </a:r>
          </a:p>
        </p:txBody>
      </p:sp>
      <p:sp>
        <p:nvSpPr>
          <p:cNvPr id="19" name="TextBox 18"/>
          <p:cNvSpPr txBox="1"/>
          <p:nvPr/>
        </p:nvSpPr>
        <p:spPr>
          <a:xfrm>
            <a:off x="8307628" y="2999231"/>
            <a:ext cx="2850794" cy="1060704"/>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The identity store: the realm, its public client and its users, imported from JSON the first time the volume is empty and kept in the container's own volume.</a:t>
            </a:r>
          </a:p>
        </p:txBody>
      </p:sp>
      <p:sp>
        <p:nvSpPr>
          <p:cNvPr id="20" name="TextBox 19"/>
          <p:cNvSpPr txBox="1"/>
          <p:nvPr/>
        </p:nvSpPr>
        <p:spPr>
          <a:xfrm>
            <a:off x="777240" y="4206240"/>
            <a:ext cx="10637215"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30">
                <a:solidFill>
                  <a:srgbClr val="6C7191"/>
                </a:solidFill>
                <a:latin typeface="Segoe UI"/>
              </a:rPr>
              <a:t>THE TEN COLLECTIONS, PLUS THE FILE BUCKET</a:t>
            </a:r>
          </a:p>
        </p:txBody>
      </p:sp>
      <p:sp>
        <p:nvSpPr>
          <p:cNvPr id="21" name="Rounded Rectangle 20"/>
          <p:cNvSpPr/>
          <p:nvPr/>
        </p:nvSpPr>
        <p:spPr>
          <a:xfrm>
            <a:off x="777240" y="4498848"/>
            <a:ext cx="917143" cy="310896"/>
          </a:xfrm>
          <a:prstGeom prst="roundRect">
            <a:avLst>
              <a:gd name="adj" fmla="val 5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Bef>
                <a:spcPts val="0"/>
              </a:spcBef>
              <a:spcAft>
                <a:spcPts val="0"/>
              </a:spcAft>
            </a:pPr>
            <a:r>
              <a:rPr sz="800" b="1" i="0">
                <a:solidFill>
                  <a:srgbClr val="1A31B8"/>
                </a:solidFill>
                <a:latin typeface="Segoe UI"/>
              </a:rPr>
              <a:t>users</a:t>
            </a:r>
          </a:p>
        </p:txBody>
      </p:sp>
      <p:sp>
        <p:nvSpPr>
          <p:cNvPr id="22" name="Rounded Rectangle 21"/>
          <p:cNvSpPr/>
          <p:nvPr/>
        </p:nvSpPr>
        <p:spPr>
          <a:xfrm>
            <a:off x="1749247" y="4498848"/>
            <a:ext cx="917143" cy="310896"/>
          </a:xfrm>
          <a:prstGeom prst="roundRect">
            <a:avLst>
              <a:gd name="adj" fmla="val 5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Bef>
                <a:spcPts val="0"/>
              </a:spcBef>
              <a:spcAft>
                <a:spcPts val="0"/>
              </a:spcAft>
            </a:pPr>
            <a:r>
              <a:rPr sz="800" b="1" i="0">
                <a:solidFill>
                  <a:srgbClr val="1A31B8"/>
                </a:solidFill>
                <a:latin typeface="Segoe UI"/>
              </a:rPr>
              <a:t>user_documents</a:t>
            </a:r>
          </a:p>
        </p:txBody>
      </p:sp>
      <p:sp>
        <p:nvSpPr>
          <p:cNvPr id="23" name="Rounded Rectangle 22"/>
          <p:cNvSpPr/>
          <p:nvPr/>
        </p:nvSpPr>
        <p:spPr>
          <a:xfrm>
            <a:off x="2721254" y="4498848"/>
            <a:ext cx="917143" cy="310896"/>
          </a:xfrm>
          <a:prstGeom prst="roundRect">
            <a:avLst>
              <a:gd name="adj" fmla="val 5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Bef>
                <a:spcPts val="0"/>
              </a:spcBef>
              <a:spcAft>
                <a:spcPts val="0"/>
              </a:spcAft>
            </a:pPr>
            <a:r>
              <a:rPr sz="800" b="1" i="0">
                <a:solidFill>
                  <a:srgbClr val="1A31B8"/>
                </a:solidFill>
                <a:latin typeface="Segoe UI"/>
              </a:rPr>
              <a:t>documents</a:t>
            </a:r>
          </a:p>
        </p:txBody>
      </p:sp>
      <p:sp>
        <p:nvSpPr>
          <p:cNvPr id="24" name="Rounded Rectangle 23"/>
          <p:cNvSpPr/>
          <p:nvPr/>
        </p:nvSpPr>
        <p:spPr>
          <a:xfrm>
            <a:off x="3693261" y="4498848"/>
            <a:ext cx="917143" cy="310896"/>
          </a:xfrm>
          <a:prstGeom prst="roundRect">
            <a:avLst>
              <a:gd name="adj" fmla="val 5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Bef>
                <a:spcPts val="0"/>
              </a:spcBef>
              <a:spcAft>
                <a:spcPts val="0"/>
              </a:spcAft>
            </a:pPr>
            <a:r>
              <a:rPr sz="800" b="1" i="0">
                <a:solidFill>
                  <a:srgbClr val="1A31B8"/>
                </a:solidFill>
                <a:latin typeface="Segoe UI"/>
              </a:rPr>
              <a:t>pages</a:t>
            </a:r>
          </a:p>
        </p:txBody>
      </p:sp>
      <p:sp>
        <p:nvSpPr>
          <p:cNvPr id="25" name="Rounded Rectangle 24"/>
          <p:cNvSpPr/>
          <p:nvPr/>
        </p:nvSpPr>
        <p:spPr>
          <a:xfrm>
            <a:off x="4665268" y="4498848"/>
            <a:ext cx="917143" cy="310896"/>
          </a:xfrm>
          <a:prstGeom prst="roundRect">
            <a:avLst>
              <a:gd name="adj" fmla="val 5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Bef>
                <a:spcPts val="0"/>
              </a:spcBef>
              <a:spcAft>
                <a:spcPts val="0"/>
              </a:spcAft>
            </a:pPr>
            <a:r>
              <a:rPr sz="800" b="1" i="0">
                <a:solidFill>
                  <a:srgbClr val="1A31B8"/>
                </a:solidFill>
                <a:latin typeface="Segoe UI"/>
              </a:rPr>
              <a:t>chunks</a:t>
            </a:r>
          </a:p>
        </p:txBody>
      </p:sp>
      <p:sp>
        <p:nvSpPr>
          <p:cNvPr id="26" name="Rounded Rectangle 25"/>
          <p:cNvSpPr/>
          <p:nvPr/>
        </p:nvSpPr>
        <p:spPr>
          <a:xfrm>
            <a:off x="5637276" y="4498848"/>
            <a:ext cx="917143" cy="310896"/>
          </a:xfrm>
          <a:prstGeom prst="roundRect">
            <a:avLst>
              <a:gd name="adj" fmla="val 5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Bef>
                <a:spcPts val="0"/>
              </a:spcBef>
              <a:spcAft>
                <a:spcPts val="0"/>
              </a:spcAft>
            </a:pPr>
            <a:r>
              <a:rPr sz="800" b="1" i="0">
                <a:solidFill>
                  <a:srgbClr val="1A31B8"/>
                </a:solidFill>
                <a:latin typeface="Segoe UI"/>
              </a:rPr>
              <a:t>sessions</a:t>
            </a:r>
          </a:p>
        </p:txBody>
      </p:sp>
      <p:sp>
        <p:nvSpPr>
          <p:cNvPr id="27" name="Rounded Rectangle 26"/>
          <p:cNvSpPr/>
          <p:nvPr/>
        </p:nvSpPr>
        <p:spPr>
          <a:xfrm>
            <a:off x="6609283" y="4498848"/>
            <a:ext cx="917143" cy="310896"/>
          </a:xfrm>
          <a:prstGeom prst="roundRect">
            <a:avLst>
              <a:gd name="adj" fmla="val 5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Bef>
                <a:spcPts val="0"/>
              </a:spcBef>
              <a:spcAft>
                <a:spcPts val="0"/>
              </a:spcAft>
            </a:pPr>
            <a:r>
              <a:rPr sz="800" b="1" i="0">
                <a:solidFill>
                  <a:srgbClr val="1A31B8"/>
                </a:solidFill>
                <a:latin typeface="Segoe UI"/>
              </a:rPr>
              <a:t>chat_turns</a:t>
            </a:r>
          </a:p>
        </p:txBody>
      </p:sp>
      <p:sp>
        <p:nvSpPr>
          <p:cNvPr id="28" name="Rounded Rectangle 27"/>
          <p:cNvSpPr/>
          <p:nvPr/>
        </p:nvSpPr>
        <p:spPr>
          <a:xfrm>
            <a:off x="7581290" y="4498848"/>
            <a:ext cx="917143" cy="310896"/>
          </a:xfrm>
          <a:prstGeom prst="roundRect">
            <a:avLst>
              <a:gd name="adj" fmla="val 5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Bef>
                <a:spcPts val="0"/>
              </a:spcBef>
              <a:spcAft>
                <a:spcPts val="0"/>
              </a:spcAft>
            </a:pPr>
            <a:r>
              <a:rPr sz="800" b="1" i="0">
                <a:solidFill>
                  <a:srgbClr val="1A31B8"/>
                </a:solidFill>
                <a:latin typeface="Segoe UI"/>
              </a:rPr>
              <a:t>resources</a:t>
            </a:r>
          </a:p>
        </p:txBody>
      </p:sp>
      <p:sp>
        <p:nvSpPr>
          <p:cNvPr id="29" name="Rounded Rectangle 28"/>
          <p:cNvSpPr/>
          <p:nvPr/>
        </p:nvSpPr>
        <p:spPr>
          <a:xfrm>
            <a:off x="8553297" y="4498848"/>
            <a:ext cx="917143" cy="310896"/>
          </a:xfrm>
          <a:prstGeom prst="roundRect">
            <a:avLst>
              <a:gd name="adj" fmla="val 5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Bef>
                <a:spcPts val="0"/>
              </a:spcBef>
              <a:spcAft>
                <a:spcPts val="0"/>
              </a:spcAft>
            </a:pPr>
            <a:r>
              <a:rPr sz="800" b="1" i="0">
                <a:solidFill>
                  <a:srgbClr val="1A31B8"/>
                </a:solidFill>
                <a:latin typeface="Segoe UI"/>
              </a:rPr>
              <a:t>evaluations</a:t>
            </a:r>
          </a:p>
        </p:txBody>
      </p:sp>
      <p:sp>
        <p:nvSpPr>
          <p:cNvPr id="30" name="Rounded Rectangle 29"/>
          <p:cNvSpPr/>
          <p:nvPr/>
        </p:nvSpPr>
        <p:spPr>
          <a:xfrm>
            <a:off x="9525304" y="4498848"/>
            <a:ext cx="917143" cy="310896"/>
          </a:xfrm>
          <a:prstGeom prst="roundRect">
            <a:avLst>
              <a:gd name="adj" fmla="val 5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Bef>
                <a:spcPts val="0"/>
              </a:spcBef>
              <a:spcAft>
                <a:spcPts val="0"/>
              </a:spcAft>
            </a:pPr>
            <a:r>
              <a:rPr sz="800" b="1" i="0">
                <a:solidFill>
                  <a:srgbClr val="1A31B8"/>
                </a:solidFill>
                <a:latin typeface="Segoe UI"/>
              </a:rPr>
              <a:t>jobs</a:t>
            </a:r>
          </a:p>
        </p:txBody>
      </p:sp>
      <p:sp>
        <p:nvSpPr>
          <p:cNvPr id="31" name="Rounded Rectangle 30"/>
          <p:cNvSpPr/>
          <p:nvPr/>
        </p:nvSpPr>
        <p:spPr>
          <a:xfrm>
            <a:off x="10497312" y="4498848"/>
            <a:ext cx="917143" cy="310896"/>
          </a:xfrm>
          <a:prstGeom prst="roundRect">
            <a:avLst>
              <a:gd name="adj" fmla="val 50000"/>
            </a:avLst>
          </a:prstGeom>
          <a:solidFill>
            <a:srgbClr val="F7F8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Bef>
                <a:spcPts val="0"/>
              </a:spcBef>
              <a:spcAft>
                <a:spcPts val="0"/>
              </a:spcAft>
            </a:pPr>
            <a:r>
              <a:rPr sz="800" b="1" i="0">
                <a:solidFill>
                  <a:srgbClr val="6C7191"/>
                </a:solidFill>
                <a:latin typeface="Segoe UI"/>
              </a:rPr>
              <a:t>pdfs (GridFS)</a:t>
            </a:r>
          </a:p>
        </p:txBody>
      </p:sp>
      <p:sp>
        <p:nvSpPr>
          <p:cNvPr id="32" name="Rounded Rectangle 31"/>
          <p:cNvSpPr/>
          <p:nvPr/>
        </p:nvSpPr>
        <p:spPr>
          <a:xfrm>
            <a:off x="777240" y="5047488"/>
            <a:ext cx="10637215" cy="1005840"/>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777240" y="5175503"/>
            <a:ext cx="41148" cy="74980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051560" y="5047488"/>
            <a:ext cx="10106863" cy="1005840"/>
          </a:xfrm>
          <a:prstGeom prst="rect">
            <a:avLst/>
          </a:prstGeom>
          <a:noFill/>
        </p:spPr>
        <p:txBody>
          <a:bodyPr wrap="square" lIns="0" rIns="0" tIns="0" bIns="0" anchor="ctr">
            <a:spAutoFit/>
          </a:bodyPr>
          <a:lstStyle/>
          <a:p>
            <a:pPr algn="l">
              <a:lnSpc>
                <a:spcPct val="122000"/>
              </a:lnSpc>
              <a:spcBef>
                <a:spcPts val="0"/>
              </a:spcBef>
              <a:spcAft>
                <a:spcPts val="0"/>
              </a:spcAft>
            </a:pPr>
            <a:r>
              <a:rPr sz="850" b="1" i="0" spc="130">
                <a:solidFill>
                  <a:srgbClr val="2340E0"/>
                </a:solidFill>
                <a:latin typeface="Segoe UI"/>
              </a:rPr>
              <a:t>WHY THE PORTS ARE UNUSUAL</a:t>
            </a:r>
          </a:p>
          <a:p>
            <a:pPr algn="l">
              <a:lnSpc>
                <a:spcPct val="132000"/>
              </a:lnSpc>
              <a:spcBef>
                <a:spcPts val="500"/>
              </a:spcBef>
              <a:spcAft>
                <a:spcPts val="0"/>
              </a:spcAft>
            </a:pPr>
            <a:r>
              <a:rPr sz="1100" b="0" i="0">
                <a:solidFill>
                  <a:srgbClr val="3B4166"/>
                </a:solidFill>
                <a:latin typeface="Segoe UI"/>
              </a:rPr>
              <a:t>All three publish on non-default host ports. This machine already answers on 27017, 6333 and 8080 for other projects — and sharing a database server means sharing a failure: another project's `docker compose down -v` would take this one's PDFs, sessions and generated resources with it. Each has its own container and its own named volume.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10 · ML AND FINE-TUNED LLM</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Two ML stories, kept apart</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The live path runs on every request. The offline fine-tune has never been in the request path, and will not be until it passes its gate.</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11</a:t>
            </a:r>
          </a:p>
        </p:txBody>
      </p:sp>
      <p:sp>
        <p:nvSpPr>
          <p:cNvPr id="8" name="Rounded Rectangle 7"/>
          <p:cNvSpPr/>
          <p:nvPr/>
        </p:nvSpPr>
        <p:spPr>
          <a:xfrm>
            <a:off x="777240" y="2395728"/>
            <a:ext cx="4892040" cy="278892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1" y="2633472"/>
            <a:ext cx="4379975"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7C3AED"/>
                </a:solidFill>
                <a:latin typeface="Segoe UI"/>
              </a:rPr>
              <a:t>OFFLINE TRACK  ·  MODEL-THEVINDU/</a:t>
            </a:r>
          </a:p>
        </p:txBody>
      </p:sp>
      <p:sp>
        <p:nvSpPr>
          <p:cNvPr id="10" name="TextBox 9"/>
          <p:cNvSpPr txBox="1"/>
          <p:nvPr/>
        </p:nvSpPr>
        <p:spPr>
          <a:xfrm>
            <a:off x="1033271" y="2907791"/>
            <a:ext cx="4379975"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Corpus to candidate, in six stages</a:t>
            </a:r>
          </a:p>
        </p:txBody>
      </p:sp>
      <p:sp>
        <p:nvSpPr>
          <p:cNvPr id="11" name="TextBox 10"/>
          <p:cNvSpPr txBox="1"/>
          <p:nvPr/>
        </p:nvSpPr>
        <p:spPr>
          <a:xfrm>
            <a:off x="1033271" y="3218687"/>
            <a:ext cx="4379975" cy="172821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7C3AED"/>
              </a:buClr>
              <a:buSzPct val="85000"/>
              <a:buFont typeface="Arial"/>
              <a:buChar char="▪"/>
            </a:pPr>
            <a:r>
              <a:rPr sz="1050" b="0" i="0">
                <a:solidFill>
                  <a:srgbClr val="6C7191"/>
                </a:solidFill>
                <a:latin typeface="Segoe UI"/>
              </a:rPr>
              <a:t>Parse, clean and section-aware chunking of Sri Lankan legal PDFs</a:t>
            </a:r>
          </a:p>
          <a:p>
            <a:pPr algn="l" marL="146304" indent="-146304">
              <a:lnSpc>
                <a:spcPct val="128000"/>
              </a:lnSpc>
              <a:spcBef>
                <a:spcPts val="0"/>
              </a:spcBef>
              <a:spcAft>
                <a:spcPts val="500"/>
              </a:spcAft>
              <a:buClr>
                <a:srgbClr val="7C3AED"/>
              </a:buClr>
              <a:buSzPct val="85000"/>
              <a:buFont typeface="Arial"/>
              <a:buChar char="▪"/>
            </a:pPr>
            <a:r>
              <a:rPr sz="1050" b="0" i="0">
                <a:solidFill>
                  <a:srgbClr val="6C7191"/>
                </a:solidFill>
                <a:latin typeface="Segoe UI"/>
              </a:rPr>
              <a:t>Instruction pairs: Q&amp;A, summary, MCQ</a:t>
            </a:r>
          </a:p>
          <a:p>
            <a:pPr algn="l" marL="146304" indent="-146304">
              <a:lnSpc>
                <a:spcPct val="128000"/>
              </a:lnSpc>
              <a:spcBef>
                <a:spcPts val="0"/>
              </a:spcBef>
              <a:spcAft>
                <a:spcPts val="500"/>
              </a:spcAft>
              <a:buClr>
                <a:srgbClr val="7C3AED"/>
              </a:buClr>
              <a:buSzPct val="85000"/>
              <a:buFont typeface="Arial"/>
              <a:buChar char="▪"/>
            </a:pPr>
            <a:r>
              <a:rPr sz="1050" b="0" i="0">
                <a:solidFill>
                  <a:srgbClr val="6C7191"/>
                </a:solidFill>
                <a:latin typeface="Segoe UI"/>
              </a:rPr>
              <a:t>Splits by (doc_id, chapter), plus a whole-document holdout</a:t>
            </a:r>
          </a:p>
          <a:p>
            <a:pPr algn="l" marL="146304" indent="-146304">
              <a:lnSpc>
                <a:spcPct val="128000"/>
              </a:lnSpc>
              <a:spcBef>
                <a:spcPts val="0"/>
              </a:spcBef>
              <a:spcAft>
                <a:spcPts val="500"/>
              </a:spcAft>
              <a:buClr>
                <a:srgbClr val="7C3AED"/>
              </a:buClr>
              <a:buSzPct val="85000"/>
              <a:buFont typeface="Arial"/>
              <a:buChar char="▪"/>
            </a:pPr>
            <a:r>
              <a:rPr sz="1050" b="0" i="0">
                <a:solidFill>
                  <a:srgbClr val="6C7191"/>
                </a:solidFill>
                <a:latin typeface="Segoe UI"/>
              </a:rPr>
              <a:t>LoRA / QLoRA on Qwen2.5-1.5B-Instruct, Colab T4</a:t>
            </a:r>
          </a:p>
          <a:p>
            <a:pPr algn="l" marL="146304" indent="-146304">
              <a:lnSpc>
                <a:spcPct val="128000"/>
              </a:lnSpc>
              <a:spcBef>
                <a:spcPts val="0"/>
              </a:spcBef>
              <a:spcAft>
                <a:spcPts val="500"/>
              </a:spcAft>
              <a:buClr>
                <a:srgbClr val="7C3AED"/>
              </a:buClr>
              <a:buSzPct val="85000"/>
              <a:buFont typeface="Arial"/>
              <a:buChar char="▪"/>
            </a:pPr>
            <a:r>
              <a:rPr sz="1050" b="0" i="0">
                <a:solidFill>
                  <a:srgbClr val="6C7191"/>
                </a:solidFill>
                <a:latin typeface="Segoe UI"/>
              </a:rPr>
              <a:t>Evaluated against acceptance_thresholds.yaml</a:t>
            </a:r>
          </a:p>
          <a:p>
            <a:pPr algn="l" marL="146304" indent="-146304">
              <a:lnSpc>
                <a:spcPct val="128000"/>
              </a:lnSpc>
              <a:spcBef>
                <a:spcPts val="0"/>
              </a:spcBef>
              <a:spcAft>
                <a:spcPts val="500"/>
              </a:spcAft>
              <a:buClr>
                <a:srgbClr val="7C3AED"/>
              </a:buClr>
              <a:buSzPct val="85000"/>
              <a:buFont typeface="Arial"/>
              <a:buChar char="▪"/>
            </a:pPr>
            <a:r>
              <a:rPr sz="1050" b="0" i="0">
                <a:solidFill>
                  <a:srgbClr val="6C7191"/>
                </a:solidFill>
                <a:latin typeface="Segoe UI"/>
              </a:rPr>
              <a:t>Staging → teammate sign-off → promote a pointer, rollback kept</a:t>
            </a:r>
          </a:p>
        </p:txBody>
      </p:sp>
      <p:sp>
        <p:nvSpPr>
          <p:cNvPr id="12" name="TextBox 11"/>
          <p:cNvSpPr txBox="1"/>
          <p:nvPr/>
        </p:nvSpPr>
        <p:spPr>
          <a:xfrm>
            <a:off x="6016752" y="2395728"/>
            <a:ext cx="5394960" cy="237744"/>
          </a:xfrm>
          <a:prstGeom prst="rect">
            <a:avLst/>
          </a:prstGeom>
          <a:noFill/>
        </p:spPr>
        <p:txBody>
          <a:bodyPr wrap="square" lIns="0" rIns="0" tIns="0" bIns="0" anchor="t">
            <a:spAutoFit/>
          </a:bodyPr>
          <a:lstStyle/>
          <a:p>
            <a:pPr algn="l">
              <a:lnSpc>
                <a:spcPct val="122000"/>
              </a:lnSpc>
              <a:spcBef>
                <a:spcPts val="0"/>
              </a:spcBef>
              <a:spcAft>
                <a:spcPts val="0"/>
              </a:spcAft>
            </a:pPr>
            <a:r>
              <a:rPr sz="850" b="1" i="0" spc="120">
                <a:solidFill>
                  <a:srgbClr val="6C7191"/>
                </a:solidFill>
                <a:latin typeface="Segoe UI"/>
              </a:rPr>
              <a:t>FIRST CANDIDATE  ·  qwen25-lora-20260815-090709</a:t>
            </a:r>
          </a:p>
        </p:txBody>
      </p:sp>
      <p:graphicFrame>
        <p:nvGraphicFramePr>
          <p:cNvPr id="13" name="Table 12"/>
          <p:cNvGraphicFramePr>
            <a:graphicFrameLocks noGrp="1"/>
          </p:cNvGraphicFramePr>
          <p:nvPr/>
        </p:nvGraphicFramePr>
        <p:xfrm>
          <a:off x="6016752" y="2706624"/>
          <a:ext cx="5394959" cy="1952244"/>
        </p:xfrm>
        <a:graphic>
          <a:graphicData uri="http://schemas.openxmlformats.org/drawingml/2006/table">
            <a:tbl>
              <a:tblPr>
                <a:tableStyleId>{5C22544A-7EE6-4342-B048-85BDC9FD1C3A}</a:tableStyleId>
              </a:tblPr>
              <a:tblGrid>
                <a:gridCol w="1874519"/>
                <a:gridCol w="960120"/>
                <a:gridCol w="914400"/>
                <a:gridCol w="1645920"/>
              </a:tblGrid>
              <a:tr h="329184">
                <a:tc>
                  <a:txBody>
                    <a:bodyPr wrap="square"/>
                    <a:lstStyle/>
                    <a:p>
                      <a:pPr algn="l">
                        <a:lnSpc>
                          <a:spcPct val="114000"/>
                        </a:lnSpc>
                      </a:pPr>
                      <a:r>
                        <a:rPr sz="900" b="1" spc="90">
                          <a:solidFill>
                            <a:srgbClr val="6C7191"/>
                          </a:solidFill>
                          <a:latin typeface="Segoe UI"/>
                        </a:rPr>
                        <a:t>Metric</a:t>
                      </a:r>
                    </a:p>
                  </a:txBody>
                  <a:tcPr marL="128016" marR="91440" marT="27432" marB="27432" anchor="ctr">
                    <a:solidFill>
                      <a:srgbClr val="F7F8FD"/>
                    </a:solidFill>
                    <a:lnB w="6350" cap="flat" cmpd="sng" algn="ctr">
                      <a:solidFill>
                        <a:srgbClr val="E7E9F5"/>
                      </a:solidFill>
                    </a:lnB>
                  </a:tcPr>
                </a:tc>
                <a:tc>
                  <a:txBody>
                    <a:bodyPr wrap="square"/>
                    <a:lstStyle/>
                    <a:p>
                      <a:pPr algn="l">
                        <a:lnSpc>
                          <a:spcPct val="114000"/>
                        </a:lnSpc>
                      </a:pPr>
                      <a:r>
                        <a:rPr sz="900" b="1" spc="90">
                          <a:solidFill>
                            <a:srgbClr val="6C7191"/>
                          </a:solidFill>
                          <a:latin typeface="Segoe UI"/>
                        </a:rPr>
                        <a:t>chapter</a:t>
                      </a:r>
                    </a:p>
                  </a:txBody>
                  <a:tcPr marL="128016" marR="91440" marT="27432" marB="27432" anchor="ctr">
                    <a:solidFill>
                      <a:srgbClr val="F7F8FD"/>
                    </a:solidFill>
                    <a:lnB w="6350" cap="flat" cmpd="sng" algn="ctr">
                      <a:solidFill>
                        <a:srgbClr val="E7E9F5"/>
                      </a:solidFill>
                    </a:lnB>
                  </a:tcPr>
                </a:tc>
                <a:tc>
                  <a:txBody>
                    <a:bodyPr wrap="square"/>
                    <a:lstStyle/>
                    <a:p>
                      <a:pPr algn="l">
                        <a:lnSpc>
                          <a:spcPct val="114000"/>
                        </a:lnSpc>
                      </a:pPr>
                      <a:r>
                        <a:rPr sz="900" b="1" spc="90">
                          <a:solidFill>
                            <a:srgbClr val="6C7191"/>
                          </a:solidFill>
                          <a:latin typeface="Segoe UI"/>
                        </a:rPr>
                        <a:t>strict</a:t>
                      </a:r>
                    </a:p>
                  </a:txBody>
                  <a:tcPr marL="128016" marR="91440" marT="27432" marB="27432" anchor="ctr">
                    <a:solidFill>
                      <a:srgbClr val="F7F8FD"/>
                    </a:solidFill>
                    <a:lnB w="6350" cap="flat" cmpd="sng" algn="ctr">
                      <a:solidFill>
                        <a:srgbClr val="E7E9F5"/>
                      </a:solidFill>
                    </a:lnB>
                  </a:tcPr>
                </a:tc>
                <a:tc>
                  <a:txBody>
                    <a:bodyPr wrap="square"/>
                    <a:lstStyle/>
                    <a:p>
                      <a:pPr algn="l">
                        <a:lnSpc>
                          <a:spcPct val="114000"/>
                        </a:lnSpc>
                      </a:pPr>
                      <a:r>
                        <a:rPr sz="900" b="1" spc="90">
                          <a:solidFill>
                            <a:srgbClr val="6C7191"/>
                          </a:solidFill>
                          <a:latin typeface="Segoe UI"/>
                        </a:rPr>
                        <a:t>Gate</a:t>
                      </a:r>
                    </a:p>
                  </a:txBody>
                  <a:tcPr marL="128016" marR="91440" marT="27432" marB="27432" anchor="ctr">
                    <a:solidFill>
                      <a:srgbClr val="F7F8FD"/>
                    </a:solidFill>
                    <a:lnB w="6350" cap="flat" cmpd="sng" algn="ctr">
                      <a:solidFill>
                        <a:srgbClr val="E7E9F5"/>
                      </a:solidFill>
                    </a:lnB>
                  </a:tcPr>
                </a:tc>
              </a:tr>
              <a:tr h="324612">
                <a:tc>
                  <a:txBody>
                    <a:bodyPr wrap="square"/>
                    <a:lstStyle/>
                    <a:p>
                      <a:pPr algn="l">
                        <a:lnSpc>
                          <a:spcPct val="114000"/>
                        </a:lnSpc>
                      </a:pPr>
                      <a:r>
                        <a:rPr sz="1000" b="1">
                          <a:solidFill>
                            <a:srgbClr val="101533"/>
                          </a:solidFill>
                          <a:latin typeface="Segoe UI"/>
                        </a:rPr>
                        <a:t>Accuracy (LLM judge)</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0">
                          <a:solidFill>
                            <a:srgbClr val="3B4166"/>
                          </a:solidFill>
                          <a:latin typeface="Segoe UI"/>
                        </a:rPr>
                        <a:t>0.557</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0">
                          <a:solidFill>
                            <a:srgbClr val="3B4166"/>
                          </a:solidFill>
                          <a:latin typeface="Segoe UI"/>
                        </a:rPr>
                        <a:t>0.621</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1">
                          <a:solidFill>
                            <a:srgbClr val="DC2626"/>
                          </a:solidFill>
                          <a:latin typeface="Segoe UI"/>
                        </a:rPr>
                        <a:t>≥ 0.70   fail</a:t>
                      </a:r>
                    </a:p>
                  </a:txBody>
                  <a:tcPr marL="128016" marR="91440" marT="27432" marB="27432" anchor="ctr">
                    <a:solidFill>
                      <a:srgbClr val="FFFFFF"/>
                    </a:solidFill>
                    <a:lnB w="6350" cap="flat" cmpd="sng" algn="ctr">
                      <a:solidFill>
                        <a:srgbClr val="E7E9F5"/>
                      </a:solidFill>
                    </a:lnB>
                  </a:tcPr>
                </a:tc>
              </a:tr>
              <a:tr h="324612">
                <a:tc>
                  <a:txBody>
                    <a:bodyPr wrap="square"/>
                    <a:lstStyle/>
                    <a:p>
                      <a:pPr algn="l">
                        <a:lnSpc>
                          <a:spcPct val="114000"/>
                        </a:lnSpc>
                      </a:pPr>
                      <a:r>
                        <a:rPr sz="1000" b="1">
                          <a:solidFill>
                            <a:srgbClr val="101533"/>
                          </a:solidFill>
                          <a:latin typeface="Segoe UI"/>
                        </a:rPr>
                        <a:t>Groundedness</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0">
                          <a:solidFill>
                            <a:srgbClr val="3B4166"/>
                          </a:solidFill>
                          <a:latin typeface="Segoe UI"/>
                        </a:rPr>
                        <a:t>0.877</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0">
                          <a:solidFill>
                            <a:srgbClr val="3B4166"/>
                          </a:solidFill>
                          <a:latin typeface="Segoe UI"/>
                        </a:rPr>
                        <a:t>0.921</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1">
                          <a:solidFill>
                            <a:srgbClr val="15803D"/>
                          </a:solidFill>
                          <a:latin typeface="Segoe UI"/>
                        </a:rPr>
                        <a:t>≥ 0.85   pass</a:t>
                      </a:r>
                    </a:p>
                  </a:txBody>
                  <a:tcPr marL="128016" marR="91440" marT="27432" marB="27432" anchor="ctr">
                    <a:solidFill>
                      <a:srgbClr val="FFFFFF"/>
                    </a:solidFill>
                    <a:lnB w="6350" cap="flat" cmpd="sng" algn="ctr">
                      <a:solidFill>
                        <a:srgbClr val="E7E9F5"/>
                      </a:solidFill>
                    </a:lnB>
                  </a:tcPr>
                </a:tc>
              </a:tr>
              <a:tr h="324612">
                <a:tc>
                  <a:txBody>
                    <a:bodyPr wrap="square"/>
                    <a:lstStyle/>
                    <a:p>
                      <a:pPr algn="l">
                        <a:lnSpc>
                          <a:spcPct val="114000"/>
                        </a:lnSpc>
                      </a:pPr>
                      <a:r>
                        <a:rPr sz="1000" b="1">
                          <a:solidFill>
                            <a:srgbClr val="101533"/>
                          </a:solidFill>
                          <a:latin typeface="Segoe UI"/>
                        </a:rPr>
                        <a:t>Hallucination</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0">
                          <a:solidFill>
                            <a:srgbClr val="3B4166"/>
                          </a:solidFill>
                          <a:latin typeface="Segoe UI"/>
                        </a:rPr>
                        <a:t>0.123</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0">
                          <a:solidFill>
                            <a:srgbClr val="3B4166"/>
                          </a:solidFill>
                          <a:latin typeface="Segoe UI"/>
                        </a:rPr>
                        <a:t>0.079</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1">
                          <a:solidFill>
                            <a:srgbClr val="15803D"/>
                          </a:solidFill>
                          <a:latin typeface="Segoe UI"/>
                        </a:rPr>
                        <a:t>≤ 0.15   pass</a:t>
                      </a:r>
                    </a:p>
                  </a:txBody>
                  <a:tcPr marL="128016" marR="91440" marT="27432" marB="27432" anchor="ctr">
                    <a:solidFill>
                      <a:srgbClr val="FFFFFF"/>
                    </a:solidFill>
                    <a:lnB w="6350" cap="flat" cmpd="sng" algn="ctr">
                      <a:solidFill>
                        <a:srgbClr val="E7E9F5"/>
                      </a:solidFill>
                    </a:lnB>
                  </a:tcPr>
                </a:tc>
              </a:tr>
              <a:tr h="324612">
                <a:tc>
                  <a:txBody>
                    <a:bodyPr wrap="square"/>
                    <a:lstStyle/>
                    <a:p>
                      <a:pPr algn="l">
                        <a:lnSpc>
                          <a:spcPct val="114000"/>
                        </a:lnSpc>
                      </a:pPr>
                      <a:r>
                        <a:rPr sz="1000" b="1">
                          <a:solidFill>
                            <a:srgbClr val="101533"/>
                          </a:solidFill>
                          <a:latin typeface="Segoe UI"/>
                        </a:rPr>
                        <a:t>Latency p95</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0">
                          <a:solidFill>
                            <a:srgbClr val="3B4166"/>
                          </a:solidFill>
                          <a:latin typeface="Segoe UI"/>
                        </a:rPr>
                        <a:t>16.4 s</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0">
                          <a:solidFill>
                            <a:srgbClr val="3B4166"/>
                          </a:solidFill>
                          <a:latin typeface="Segoe UI"/>
                        </a:rPr>
                        <a:t>14.9 s</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1">
                          <a:solidFill>
                            <a:srgbClr val="DC2626"/>
                          </a:solidFill>
                          <a:latin typeface="Segoe UI"/>
                        </a:rPr>
                        <a:t>≤ 8 s   fail</a:t>
                      </a:r>
                    </a:p>
                  </a:txBody>
                  <a:tcPr marL="128016" marR="91440" marT="27432" marB="27432" anchor="ctr">
                    <a:solidFill>
                      <a:srgbClr val="FFFFFF"/>
                    </a:solidFill>
                    <a:lnB w="6350" cap="flat" cmpd="sng" algn="ctr">
                      <a:solidFill>
                        <a:srgbClr val="E7E9F5"/>
                      </a:solidFill>
                    </a:lnB>
                  </a:tcPr>
                </a:tc>
              </a:tr>
              <a:tr h="324612">
                <a:tc>
                  <a:txBody>
                    <a:bodyPr wrap="square"/>
                    <a:lstStyle/>
                    <a:p>
                      <a:pPr algn="l">
                        <a:lnSpc>
                          <a:spcPct val="114000"/>
                        </a:lnSpc>
                      </a:pPr>
                      <a:r>
                        <a:rPr sz="1000" b="1">
                          <a:solidFill>
                            <a:srgbClr val="101533"/>
                          </a:solidFill>
                          <a:latin typeface="Segoe UI"/>
                        </a:rPr>
                        <a:t>Accuracy (token-F1)</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0">
                          <a:solidFill>
                            <a:srgbClr val="3B4166"/>
                          </a:solidFill>
                          <a:latin typeface="Segoe UI"/>
                        </a:rPr>
                        <a:t>0.717</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0">
                          <a:solidFill>
                            <a:srgbClr val="3B4166"/>
                          </a:solidFill>
                          <a:latin typeface="Segoe UI"/>
                        </a:rPr>
                        <a:t>0.836</a:t>
                      </a:r>
                    </a:p>
                  </a:txBody>
                  <a:tcPr marL="128016" marR="91440" marT="27432" marB="27432" anchor="ctr">
                    <a:solidFill>
                      <a:srgbClr val="FFFFFF"/>
                    </a:solidFill>
                    <a:lnB w="6350" cap="flat" cmpd="sng" algn="ctr">
                      <a:solidFill>
                        <a:srgbClr val="E7E9F5"/>
                      </a:solidFill>
                    </a:lnB>
                  </a:tcPr>
                </a:tc>
                <a:tc>
                  <a:txBody>
                    <a:bodyPr wrap="square"/>
                    <a:lstStyle/>
                    <a:p>
                      <a:pPr algn="l">
                        <a:lnSpc>
                          <a:spcPct val="114000"/>
                        </a:lnSpc>
                      </a:pPr>
                      <a:r>
                        <a:rPr sz="1000" b="1">
                          <a:solidFill>
                            <a:srgbClr val="6C7191"/>
                          </a:solidFill>
                          <a:latin typeface="Segoe UI"/>
                        </a:rPr>
                        <a:t>proxy only</a:t>
                      </a:r>
                    </a:p>
                  </a:txBody>
                  <a:tcPr marL="128016" marR="91440" marT="27432" marB="27432" anchor="ctr">
                    <a:solidFill>
                      <a:srgbClr val="FFFFFF"/>
                    </a:solidFill>
                    <a:lnB w="6350" cap="flat" cmpd="sng" algn="ctr">
                      <a:solidFill>
                        <a:srgbClr val="E7E9F5"/>
                      </a:solidFill>
                    </a:lnB>
                  </a:tcPr>
                </a:tc>
              </a:tr>
            </a:tbl>
          </a:graphicData>
        </a:graphic>
      </p:graphicFrame>
      <p:sp>
        <p:nvSpPr>
          <p:cNvPr id="14" name="Rounded Rectangle 13"/>
          <p:cNvSpPr/>
          <p:nvPr/>
        </p:nvSpPr>
        <p:spPr>
          <a:xfrm>
            <a:off x="777240" y="5230368"/>
            <a:ext cx="10637215" cy="932688"/>
          </a:xfrm>
          <a:prstGeom prst="roundRect">
            <a:avLst>
              <a:gd name="adj" fmla="val 10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77240" y="5358383"/>
            <a:ext cx="41148" cy="67665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51560" y="5230368"/>
            <a:ext cx="10106863" cy="932688"/>
          </a:xfrm>
          <a:prstGeom prst="rect">
            <a:avLst/>
          </a:prstGeom>
          <a:noFill/>
        </p:spPr>
        <p:txBody>
          <a:bodyPr wrap="square" lIns="0" rIns="0" tIns="0" bIns="0" anchor="ctr">
            <a:spAutoFit/>
          </a:bodyPr>
          <a:lstStyle/>
          <a:p>
            <a:pPr algn="l">
              <a:lnSpc>
                <a:spcPct val="122000"/>
              </a:lnSpc>
              <a:spcBef>
                <a:spcPts val="0"/>
              </a:spcBef>
              <a:spcAft>
                <a:spcPts val="0"/>
              </a:spcAft>
            </a:pPr>
            <a:r>
              <a:rPr sz="850" b="1" i="0" spc="130">
                <a:solidFill>
                  <a:srgbClr val="DC2626"/>
                </a:solidFill>
                <a:latin typeface="Segoe UI"/>
              </a:rPr>
              <a:t>THE GATE DID ITS JOB</a:t>
            </a:r>
          </a:p>
          <a:p>
            <a:pPr algn="l">
              <a:lnSpc>
                <a:spcPct val="132000"/>
              </a:lnSpc>
              <a:spcBef>
                <a:spcPts val="500"/>
              </a:spcBef>
              <a:spcAft>
                <a:spcPts val="0"/>
              </a:spcAft>
            </a:pPr>
            <a:r>
              <a:rPr sz="1100" b="0" i="0">
                <a:solidFill>
                  <a:srgbClr val="3B4166"/>
                </a:solidFill>
                <a:latin typeface="Segoe UI"/>
              </a:rPr>
              <a:t>Token-F1 of 0.717 looked like a pass; the LLM judge — the metric that matches how the live app defines correctness — did not agree, so the candidate was not promoted and the local GGUF generator stays. Two dataset defects were caught the same way: ungrounded section citations (≈ 38% of pairs on a spot check, 1.0% rejected after the fix) and a split that left six subjects with no training pairs at 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11 · DASHBOARD</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The first screen after signing in</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What to do next, and what you were last working on — in that order.</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12</a:t>
            </a:r>
          </a:p>
        </p:txBody>
      </p:sp>
      <p:sp>
        <p:nvSpPr>
          <p:cNvPr id="8" name="Rounded Rectangle 7"/>
          <p:cNvSpPr/>
          <p:nvPr/>
        </p:nvSpPr>
        <p:spPr>
          <a:xfrm>
            <a:off x="777240" y="2194560"/>
            <a:ext cx="5989320" cy="3611880"/>
          </a:xfrm>
          <a:prstGeom prst="roundRect">
            <a:avLst>
              <a:gd name="adj" fmla="val 3500"/>
            </a:avLst>
          </a:prstGeom>
          <a:solidFill>
            <a:srgbClr val="FFFFFF"/>
          </a:solidFill>
          <a:ln w="9525">
            <a:solidFill>
              <a:srgbClr val="D6D9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95528" y="2212848"/>
            <a:ext cx="1298448" cy="3575304"/>
          </a:xfrm>
          <a:prstGeom prst="rect">
            <a:avLst/>
          </a:prstGeom>
          <a:solidFill>
            <a:srgbClr val="F4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886968" y="2542032"/>
            <a:ext cx="1115568" cy="274320"/>
          </a:xfrm>
          <a:prstGeom prst="roundRect">
            <a:avLst>
              <a:gd name="adj" fmla="val 50000"/>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Bef>
                <a:spcPts val="0"/>
              </a:spcBef>
              <a:spcAft>
                <a:spcPts val="0"/>
              </a:spcAft>
            </a:pPr>
            <a:r>
              <a:rPr sz="800" b="1" i="0">
                <a:solidFill>
                  <a:srgbClr val="FFFFFF"/>
                </a:solidFill>
                <a:latin typeface="Segoe UI"/>
              </a:rPr>
              <a:t>Dashboard</a:t>
            </a:r>
          </a:p>
        </p:txBody>
      </p:sp>
      <p:sp>
        <p:nvSpPr>
          <p:cNvPr id="11" name="TextBox 10"/>
          <p:cNvSpPr txBox="1"/>
          <p:nvPr/>
        </p:nvSpPr>
        <p:spPr>
          <a:xfrm>
            <a:off x="996695" y="2926079"/>
            <a:ext cx="1005840" cy="237744"/>
          </a:xfrm>
          <a:prstGeom prst="rect">
            <a:avLst/>
          </a:prstGeom>
          <a:noFill/>
        </p:spPr>
        <p:txBody>
          <a:bodyPr wrap="square" lIns="0" rIns="0" tIns="0" bIns="0" anchor="t">
            <a:spAutoFit/>
          </a:bodyPr>
          <a:lstStyle/>
          <a:p>
            <a:pPr algn="l">
              <a:lnSpc>
                <a:spcPct val="122000"/>
              </a:lnSpc>
              <a:spcBef>
                <a:spcPts val="0"/>
              </a:spcBef>
              <a:spcAft>
                <a:spcPts val="0"/>
              </a:spcAft>
            </a:pPr>
            <a:r>
              <a:rPr sz="800" b="0" i="0">
                <a:solidFill>
                  <a:srgbClr val="6C7191"/>
                </a:solidFill>
                <a:latin typeface="Segoe UI"/>
              </a:rPr>
              <a:t>Documents</a:t>
            </a:r>
          </a:p>
        </p:txBody>
      </p:sp>
      <p:sp>
        <p:nvSpPr>
          <p:cNvPr id="12" name="TextBox 11"/>
          <p:cNvSpPr txBox="1"/>
          <p:nvPr/>
        </p:nvSpPr>
        <p:spPr>
          <a:xfrm>
            <a:off x="996695" y="3273552"/>
            <a:ext cx="1005840" cy="237744"/>
          </a:xfrm>
          <a:prstGeom prst="rect">
            <a:avLst/>
          </a:prstGeom>
          <a:noFill/>
        </p:spPr>
        <p:txBody>
          <a:bodyPr wrap="square" lIns="0" rIns="0" tIns="0" bIns="0" anchor="t">
            <a:spAutoFit/>
          </a:bodyPr>
          <a:lstStyle/>
          <a:p>
            <a:pPr algn="l">
              <a:lnSpc>
                <a:spcPct val="122000"/>
              </a:lnSpc>
              <a:spcBef>
                <a:spcPts val="0"/>
              </a:spcBef>
              <a:spcAft>
                <a:spcPts val="0"/>
              </a:spcAft>
            </a:pPr>
            <a:r>
              <a:rPr sz="800" b="0" i="0">
                <a:solidFill>
                  <a:srgbClr val="6C7191"/>
                </a:solidFill>
                <a:latin typeface="Segoe UI"/>
              </a:rPr>
              <a:t>Resources</a:t>
            </a:r>
          </a:p>
        </p:txBody>
      </p:sp>
      <p:sp>
        <p:nvSpPr>
          <p:cNvPr id="13" name="TextBox 12"/>
          <p:cNvSpPr txBox="1"/>
          <p:nvPr/>
        </p:nvSpPr>
        <p:spPr>
          <a:xfrm>
            <a:off x="996695" y="3621024"/>
            <a:ext cx="1005840" cy="237744"/>
          </a:xfrm>
          <a:prstGeom prst="rect">
            <a:avLst/>
          </a:prstGeom>
          <a:noFill/>
        </p:spPr>
        <p:txBody>
          <a:bodyPr wrap="square" lIns="0" rIns="0" tIns="0" bIns="0" anchor="t">
            <a:spAutoFit/>
          </a:bodyPr>
          <a:lstStyle/>
          <a:p>
            <a:pPr algn="l">
              <a:lnSpc>
                <a:spcPct val="122000"/>
              </a:lnSpc>
              <a:spcBef>
                <a:spcPts val="0"/>
              </a:spcBef>
              <a:spcAft>
                <a:spcPts val="0"/>
              </a:spcAft>
            </a:pPr>
            <a:r>
              <a:rPr sz="800" b="0" i="0">
                <a:solidFill>
                  <a:srgbClr val="6C7191"/>
                </a:solidFill>
                <a:latin typeface="Segoe UI"/>
              </a:rPr>
              <a:t>Chat</a:t>
            </a:r>
          </a:p>
        </p:txBody>
      </p:sp>
      <p:sp>
        <p:nvSpPr>
          <p:cNvPr id="14" name="TextBox 13"/>
          <p:cNvSpPr txBox="1"/>
          <p:nvPr/>
        </p:nvSpPr>
        <p:spPr>
          <a:xfrm>
            <a:off x="996695" y="3968496"/>
            <a:ext cx="1005840" cy="237744"/>
          </a:xfrm>
          <a:prstGeom prst="rect">
            <a:avLst/>
          </a:prstGeom>
          <a:noFill/>
        </p:spPr>
        <p:txBody>
          <a:bodyPr wrap="square" lIns="0" rIns="0" tIns="0" bIns="0" anchor="t">
            <a:spAutoFit/>
          </a:bodyPr>
          <a:lstStyle/>
          <a:p>
            <a:pPr algn="l">
              <a:lnSpc>
                <a:spcPct val="122000"/>
              </a:lnSpc>
              <a:spcBef>
                <a:spcPts val="0"/>
              </a:spcBef>
              <a:spcAft>
                <a:spcPts val="0"/>
              </a:spcAft>
            </a:pPr>
            <a:r>
              <a:rPr sz="800" b="0" i="0">
                <a:solidFill>
                  <a:srgbClr val="6C7191"/>
                </a:solidFill>
                <a:latin typeface="Segoe UI"/>
              </a:rPr>
              <a:t>Analytics</a:t>
            </a:r>
          </a:p>
        </p:txBody>
      </p:sp>
      <p:sp>
        <p:nvSpPr>
          <p:cNvPr id="15" name="TextBox 14"/>
          <p:cNvSpPr txBox="1"/>
          <p:nvPr/>
        </p:nvSpPr>
        <p:spPr>
          <a:xfrm>
            <a:off x="996695" y="4315968"/>
            <a:ext cx="1005840" cy="237744"/>
          </a:xfrm>
          <a:prstGeom prst="rect">
            <a:avLst/>
          </a:prstGeom>
          <a:noFill/>
        </p:spPr>
        <p:txBody>
          <a:bodyPr wrap="square" lIns="0" rIns="0" tIns="0" bIns="0" anchor="t">
            <a:spAutoFit/>
          </a:bodyPr>
          <a:lstStyle/>
          <a:p>
            <a:pPr algn="l">
              <a:lnSpc>
                <a:spcPct val="122000"/>
              </a:lnSpc>
              <a:spcBef>
                <a:spcPts val="0"/>
              </a:spcBef>
              <a:spcAft>
                <a:spcPts val="0"/>
              </a:spcAft>
            </a:pPr>
            <a:r>
              <a:rPr sz="800" b="0" i="0">
                <a:solidFill>
                  <a:srgbClr val="6C7191"/>
                </a:solidFill>
                <a:latin typeface="Segoe UI"/>
              </a:rPr>
              <a:t>Account</a:t>
            </a:r>
          </a:p>
        </p:txBody>
      </p:sp>
      <p:sp>
        <p:nvSpPr>
          <p:cNvPr id="16" name="TextBox 15"/>
          <p:cNvSpPr txBox="1"/>
          <p:nvPr/>
        </p:nvSpPr>
        <p:spPr>
          <a:xfrm>
            <a:off x="923544" y="2340864"/>
            <a:ext cx="1097280"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a:solidFill>
                  <a:srgbClr val="2340E0"/>
                </a:solidFill>
                <a:latin typeface="Segoe UI"/>
              </a:rPr>
              <a:t>LearnMateAI</a:t>
            </a:r>
          </a:p>
        </p:txBody>
      </p:sp>
      <p:sp>
        <p:nvSpPr>
          <p:cNvPr id="17" name="Rectangle 16"/>
          <p:cNvSpPr/>
          <p:nvPr/>
        </p:nvSpPr>
        <p:spPr>
          <a:xfrm>
            <a:off x="2093976" y="2670048"/>
            <a:ext cx="4654296" cy="7315"/>
          </a:xfrm>
          <a:prstGeom prst="rect">
            <a:avLst/>
          </a:prstGeom>
          <a:solidFill>
            <a:srgbClr val="E7E9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313432" y="2377440"/>
            <a:ext cx="2743200" cy="256032"/>
          </a:xfrm>
          <a:prstGeom prst="rect">
            <a:avLst/>
          </a:prstGeom>
          <a:noFill/>
        </p:spPr>
        <p:txBody>
          <a:bodyPr wrap="square" lIns="0" rIns="0" tIns="0" bIns="0" anchor="t">
            <a:spAutoFit/>
          </a:bodyPr>
          <a:lstStyle/>
          <a:p>
            <a:pPr algn="l">
              <a:lnSpc>
                <a:spcPct val="122000"/>
              </a:lnSpc>
              <a:spcBef>
                <a:spcPts val="0"/>
              </a:spcBef>
              <a:spcAft>
                <a:spcPts val="0"/>
              </a:spcAft>
            </a:pPr>
            <a:r>
              <a:rPr sz="1200" b="1" i="0">
                <a:solidFill>
                  <a:srgbClr val="101533"/>
                </a:solidFill>
                <a:latin typeface="Segoe UI"/>
              </a:rPr>
              <a:t>Dashboard</a:t>
            </a:r>
          </a:p>
        </p:txBody>
      </p:sp>
      <p:sp>
        <p:nvSpPr>
          <p:cNvPr id="19" name="TextBox 18"/>
          <p:cNvSpPr txBox="1"/>
          <p:nvPr/>
        </p:nvSpPr>
        <p:spPr>
          <a:xfrm>
            <a:off x="2313432" y="2834639"/>
            <a:ext cx="2743200" cy="219456"/>
          </a:xfrm>
          <a:prstGeom prst="rect">
            <a:avLst/>
          </a:prstGeom>
          <a:noFill/>
        </p:spPr>
        <p:txBody>
          <a:bodyPr wrap="square" lIns="0" rIns="0" tIns="0" bIns="0" anchor="t">
            <a:spAutoFit/>
          </a:bodyPr>
          <a:lstStyle/>
          <a:p>
            <a:pPr algn="l">
              <a:lnSpc>
                <a:spcPct val="122000"/>
              </a:lnSpc>
              <a:spcBef>
                <a:spcPts val="0"/>
              </a:spcBef>
              <a:spcAft>
                <a:spcPts val="0"/>
              </a:spcAft>
            </a:pPr>
            <a:r>
              <a:rPr sz="800" b="1" i="0" spc="110">
                <a:solidFill>
                  <a:srgbClr val="6C7191"/>
                </a:solidFill>
                <a:latin typeface="Segoe UI"/>
              </a:rPr>
              <a:t>QUICK START</a:t>
            </a:r>
          </a:p>
        </p:txBody>
      </p:sp>
      <p:sp>
        <p:nvSpPr>
          <p:cNvPr id="20" name="Rounded Rectangle 19"/>
          <p:cNvSpPr/>
          <p:nvPr/>
        </p:nvSpPr>
        <p:spPr>
          <a:xfrm>
            <a:off x="2313432" y="3108960"/>
            <a:ext cx="4251960" cy="402336"/>
          </a:xfrm>
          <a:prstGeom prst="roundRect">
            <a:avLst>
              <a:gd name="adj" fmla="val 16000"/>
            </a:avLst>
          </a:prstGeom>
          <a:solidFill>
            <a:srgbClr val="F7F8FD"/>
          </a:solidFill>
          <a:ln w="9525">
            <a:solidFill>
              <a:srgbClr val="F1F2F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386584" y="3108960"/>
            <a:ext cx="4105656" cy="402336"/>
          </a:xfrm>
          <a:prstGeom prst="rect">
            <a:avLst/>
          </a:prstGeom>
          <a:noFill/>
        </p:spPr>
        <p:txBody>
          <a:bodyPr wrap="square" lIns="0" rIns="0" tIns="0" bIns="0" anchor="ctr">
            <a:spAutoFit/>
          </a:bodyPr>
          <a:lstStyle/>
          <a:p>
            <a:pPr algn="ctr">
              <a:lnSpc>
                <a:spcPct val="112000"/>
              </a:lnSpc>
              <a:spcBef>
                <a:spcPts val="0"/>
              </a:spcBef>
              <a:spcAft>
                <a:spcPts val="0"/>
              </a:spcAft>
            </a:pPr>
            <a:r>
              <a:rPr sz="900" b="1" i="0">
                <a:solidFill>
                  <a:srgbClr val="101533"/>
                </a:solidFill>
                <a:latin typeface="Segoe UI"/>
              </a:rPr>
              <a:t>Upload a document</a:t>
            </a:r>
          </a:p>
        </p:txBody>
      </p:sp>
      <p:sp>
        <p:nvSpPr>
          <p:cNvPr id="22" name="TextBox 21"/>
          <p:cNvSpPr txBox="1"/>
          <p:nvPr/>
        </p:nvSpPr>
        <p:spPr>
          <a:xfrm>
            <a:off x="4709159" y="3108960"/>
            <a:ext cx="1737360" cy="402336"/>
          </a:xfrm>
          <a:prstGeom prst="rect">
            <a:avLst/>
          </a:prstGeom>
          <a:noFill/>
        </p:spPr>
        <p:txBody>
          <a:bodyPr wrap="square" lIns="0" rIns="0" tIns="0" bIns="0" anchor="ctr">
            <a:spAutoFit/>
          </a:bodyPr>
          <a:lstStyle/>
          <a:p>
            <a:pPr algn="r">
              <a:lnSpc>
                <a:spcPct val="122000"/>
              </a:lnSpc>
              <a:spcBef>
                <a:spcPts val="0"/>
              </a:spcBef>
              <a:spcAft>
                <a:spcPts val="0"/>
              </a:spcAft>
            </a:pPr>
            <a:r>
              <a:rPr sz="750" b="0" i="0">
                <a:solidFill>
                  <a:srgbClr val="9BA0BC"/>
                </a:solidFill>
                <a:latin typeface="Segoe UI"/>
              </a:rPr>
              <a:t>PDF, up to 10 MB</a:t>
            </a:r>
          </a:p>
        </p:txBody>
      </p:sp>
      <p:sp>
        <p:nvSpPr>
          <p:cNvPr id="23" name="Rounded Rectangle 22"/>
          <p:cNvSpPr/>
          <p:nvPr/>
        </p:nvSpPr>
        <p:spPr>
          <a:xfrm>
            <a:off x="2313432" y="3584448"/>
            <a:ext cx="4251960" cy="402336"/>
          </a:xfrm>
          <a:prstGeom prst="roundRect">
            <a:avLst>
              <a:gd name="adj" fmla="val 16000"/>
            </a:avLst>
          </a:prstGeom>
          <a:solidFill>
            <a:srgbClr val="F7F8FD"/>
          </a:solidFill>
          <a:ln w="9525">
            <a:solidFill>
              <a:srgbClr val="F1F2F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386584" y="3584448"/>
            <a:ext cx="4105656" cy="402336"/>
          </a:xfrm>
          <a:prstGeom prst="rect">
            <a:avLst/>
          </a:prstGeom>
          <a:noFill/>
        </p:spPr>
        <p:txBody>
          <a:bodyPr wrap="square" lIns="0" rIns="0" tIns="0" bIns="0" anchor="ctr">
            <a:spAutoFit/>
          </a:bodyPr>
          <a:lstStyle/>
          <a:p>
            <a:pPr algn="ctr">
              <a:lnSpc>
                <a:spcPct val="112000"/>
              </a:lnSpc>
              <a:spcBef>
                <a:spcPts val="0"/>
              </a:spcBef>
              <a:spcAft>
                <a:spcPts val="0"/>
              </a:spcAft>
            </a:pPr>
            <a:r>
              <a:rPr sz="900" b="1" i="0">
                <a:solidFill>
                  <a:srgbClr val="101533"/>
                </a:solidFill>
                <a:latin typeface="Segoe UI"/>
              </a:rPr>
              <a:t>Ask your documents</a:t>
            </a:r>
          </a:p>
        </p:txBody>
      </p:sp>
      <p:sp>
        <p:nvSpPr>
          <p:cNvPr id="25" name="TextBox 24"/>
          <p:cNvSpPr txBox="1"/>
          <p:nvPr/>
        </p:nvSpPr>
        <p:spPr>
          <a:xfrm>
            <a:off x="4709159" y="3584448"/>
            <a:ext cx="1737360" cy="402336"/>
          </a:xfrm>
          <a:prstGeom prst="rect">
            <a:avLst/>
          </a:prstGeom>
          <a:noFill/>
        </p:spPr>
        <p:txBody>
          <a:bodyPr wrap="square" lIns="0" rIns="0" tIns="0" bIns="0" anchor="ctr">
            <a:spAutoFit/>
          </a:bodyPr>
          <a:lstStyle/>
          <a:p>
            <a:pPr algn="r">
              <a:lnSpc>
                <a:spcPct val="122000"/>
              </a:lnSpc>
              <a:spcBef>
                <a:spcPts val="0"/>
              </a:spcBef>
              <a:spcAft>
                <a:spcPts val="0"/>
              </a:spcAft>
            </a:pPr>
            <a:r>
              <a:rPr sz="750" b="0" i="0">
                <a:solidFill>
                  <a:srgbClr val="9BA0BC"/>
                </a:solidFill>
                <a:latin typeface="Segoe UI"/>
              </a:rPr>
              <a:t>grounded, with pages</a:t>
            </a:r>
          </a:p>
        </p:txBody>
      </p:sp>
      <p:sp>
        <p:nvSpPr>
          <p:cNvPr id="26" name="Rounded Rectangle 25"/>
          <p:cNvSpPr/>
          <p:nvPr/>
        </p:nvSpPr>
        <p:spPr>
          <a:xfrm>
            <a:off x="2313432" y="4059935"/>
            <a:ext cx="4251960" cy="402336"/>
          </a:xfrm>
          <a:prstGeom prst="roundRect">
            <a:avLst>
              <a:gd name="adj" fmla="val 16000"/>
            </a:avLst>
          </a:prstGeom>
          <a:solidFill>
            <a:srgbClr val="F7F8FD"/>
          </a:solidFill>
          <a:ln w="9525">
            <a:solidFill>
              <a:srgbClr val="F1F2F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386584" y="4059935"/>
            <a:ext cx="4105656" cy="402336"/>
          </a:xfrm>
          <a:prstGeom prst="rect">
            <a:avLst/>
          </a:prstGeom>
          <a:noFill/>
        </p:spPr>
        <p:txBody>
          <a:bodyPr wrap="square" lIns="0" rIns="0" tIns="0" bIns="0" anchor="ctr">
            <a:spAutoFit/>
          </a:bodyPr>
          <a:lstStyle/>
          <a:p>
            <a:pPr algn="ctr">
              <a:lnSpc>
                <a:spcPct val="112000"/>
              </a:lnSpc>
              <a:spcBef>
                <a:spcPts val="0"/>
              </a:spcBef>
              <a:spcAft>
                <a:spcPts val="0"/>
              </a:spcAft>
            </a:pPr>
            <a:r>
              <a:rPr sz="900" b="1" i="0">
                <a:solidFill>
                  <a:srgbClr val="101533"/>
                </a:solidFill>
                <a:latin typeface="Segoe UI"/>
              </a:rPr>
              <a:t>Generate study material</a:t>
            </a:r>
          </a:p>
        </p:txBody>
      </p:sp>
      <p:sp>
        <p:nvSpPr>
          <p:cNvPr id="28" name="TextBox 27"/>
          <p:cNvSpPr txBox="1"/>
          <p:nvPr/>
        </p:nvSpPr>
        <p:spPr>
          <a:xfrm>
            <a:off x="4709159" y="4059935"/>
            <a:ext cx="1737360" cy="402336"/>
          </a:xfrm>
          <a:prstGeom prst="rect">
            <a:avLst/>
          </a:prstGeom>
          <a:noFill/>
        </p:spPr>
        <p:txBody>
          <a:bodyPr wrap="square" lIns="0" rIns="0" tIns="0" bIns="0" anchor="ctr">
            <a:spAutoFit/>
          </a:bodyPr>
          <a:lstStyle/>
          <a:p>
            <a:pPr algn="r">
              <a:lnSpc>
                <a:spcPct val="122000"/>
              </a:lnSpc>
              <a:spcBef>
                <a:spcPts val="0"/>
              </a:spcBef>
              <a:spcAft>
                <a:spcPts val="0"/>
              </a:spcAft>
            </a:pPr>
            <a:r>
              <a:rPr sz="750" b="0" i="0">
                <a:solidFill>
                  <a:srgbClr val="9BA0BC"/>
                </a:solidFill>
                <a:latin typeface="Segoe UI"/>
              </a:rPr>
              <a:t>four kinds</a:t>
            </a:r>
          </a:p>
        </p:txBody>
      </p:sp>
      <p:sp>
        <p:nvSpPr>
          <p:cNvPr id="29" name="TextBox 28"/>
          <p:cNvSpPr txBox="1"/>
          <p:nvPr/>
        </p:nvSpPr>
        <p:spPr>
          <a:xfrm>
            <a:off x="2313432" y="4626864"/>
            <a:ext cx="2743200" cy="219456"/>
          </a:xfrm>
          <a:prstGeom prst="rect">
            <a:avLst/>
          </a:prstGeom>
          <a:noFill/>
        </p:spPr>
        <p:txBody>
          <a:bodyPr wrap="square" lIns="0" rIns="0" tIns="0" bIns="0" anchor="t">
            <a:spAutoFit/>
          </a:bodyPr>
          <a:lstStyle/>
          <a:p>
            <a:pPr algn="l">
              <a:lnSpc>
                <a:spcPct val="122000"/>
              </a:lnSpc>
              <a:spcBef>
                <a:spcPts val="0"/>
              </a:spcBef>
              <a:spcAft>
                <a:spcPts val="0"/>
              </a:spcAft>
            </a:pPr>
            <a:r>
              <a:rPr sz="800" b="1" i="0" spc="110">
                <a:solidFill>
                  <a:srgbClr val="6C7191"/>
                </a:solidFill>
                <a:latin typeface="Segoe UI"/>
              </a:rPr>
              <a:t>RECENT RESOURCES</a:t>
            </a:r>
          </a:p>
        </p:txBody>
      </p:sp>
      <p:sp>
        <p:nvSpPr>
          <p:cNvPr id="30" name="Rectangle 29"/>
          <p:cNvSpPr/>
          <p:nvPr/>
        </p:nvSpPr>
        <p:spPr>
          <a:xfrm>
            <a:off x="2313432" y="4901183"/>
            <a:ext cx="4251960" cy="7315"/>
          </a:xfrm>
          <a:prstGeom prst="rect">
            <a:avLst/>
          </a:prstGeom>
          <a:solidFill>
            <a:srgbClr val="F1F2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313432" y="4956048"/>
            <a:ext cx="3108960" cy="237744"/>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3B4166"/>
                </a:solidFill>
                <a:latin typeface="Segoe UI"/>
              </a:rPr>
              <a:t>Summary · Contract Law, pp. 12–19</a:t>
            </a:r>
          </a:p>
        </p:txBody>
      </p:sp>
      <p:sp>
        <p:nvSpPr>
          <p:cNvPr id="32" name="Rounded Rectangle 31"/>
          <p:cNvSpPr/>
          <p:nvPr/>
        </p:nvSpPr>
        <p:spPr>
          <a:xfrm>
            <a:off x="5733288" y="4956048"/>
            <a:ext cx="822960" cy="219456"/>
          </a:xfrm>
          <a:prstGeom prst="roundRect">
            <a:avLst>
              <a:gd name="adj" fmla="val 50000"/>
            </a:avLst>
          </a:prstGeom>
          <a:solidFill>
            <a:srgbClr val="E7F7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Bef>
                <a:spcPts val="0"/>
              </a:spcBef>
              <a:spcAft>
                <a:spcPts val="0"/>
              </a:spcAft>
            </a:pPr>
            <a:r>
              <a:rPr sz="700" b="1" i="0">
                <a:solidFill>
                  <a:srgbClr val="15803D"/>
                </a:solidFill>
                <a:latin typeface="Segoe UI"/>
              </a:rPr>
              <a:t>Accepted</a:t>
            </a:r>
          </a:p>
        </p:txBody>
      </p:sp>
      <p:sp>
        <p:nvSpPr>
          <p:cNvPr id="33" name="Rectangle 32"/>
          <p:cNvSpPr/>
          <p:nvPr/>
        </p:nvSpPr>
        <p:spPr>
          <a:xfrm>
            <a:off x="2313432" y="5285231"/>
            <a:ext cx="4251960" cy="7315"/>
          </a:xfrm>
          <a:prstGeom prst="rect">
            <a:avLst/>
          </a:prstGeom>
          <a:solidFill>
            <a:srgbClr val="F1F2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2313432" y="5340096"/>
            <a:ext cx="3108960" cy="237744"/>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3B4166"/>
                </a:solidFill>
                <a:latin typeface="Segoe UI"/>
              </a:rPr>
              <a:t>MCQ · Law of Delict, whole document</a:t>
            </a:r>
          </a:p>
        </p:txBody>
      </p:sp>
      <p:sp>
        <p:nvSpPr>
          <p:cNvPr id="35" name="Rounded Rectangle 34"/>
          <p:cNvSpPr/>
          <p:nvPr/>
        </p:nvSpPr>
        <p:spPr>
          <a:xfrm>
            <a:off x="5733288" y="5340096"/>
            <a:ext cx="822960" cy="219456"/>
          </a:xfrm>
          <a:prstGeom prst="roundRect">
            <a:avLst>
              <a:gd name="adj" fmla="val 50000"/>
            </a:avLst>
          </a:prstGeom>
          <a:solidFill>
            <a:srgbClr val="FEF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Bef>
                <a:spcPts val="0"/>
              </a:spcBef>
              <a:spcAft>
                <a:spcPts val="0"/>
              </a:spcAft>
            </a:pPr>
            <a:r>
              <a:rPr sz="700" b="1" i="0">
                <a:solidFill>
                  <a:srgbClr val="B45309"/>
                </a:solidFill>
                <a:latin typeface="Segoe UI"/>
              </a:rPr>
              <a:t>Running</a:t>
            </a:r>
          </a:p>
        </p:txBody>
      </p:sp>
      <p:sp>
        <p:nvSpPr>
          <p:cNvPr id="36" name="Rounded Rectangle 35"/>
          <p:cNvSpPr/>
          <p:nvPr/>
        </p:nvSpPr>
        <p:spPr>
          <a:xfrm>
            <a:off x="7059168" y="2194560"/>
            <a:ext cx="4352544" cy="361188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315200" y="2432304"/>
            <a:ext cx="3840479"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What it shows</a:t>
            </a:r>
          </a:p>
        </p:txBody>
      </p:sp>
      <p:sp>
        <p:nvSpPr>
          <p:cNvPr id="38" name="TextBox 37"/>
          <p:cNvSpPr txBox="1"/>
          <p:nvPr/>
        </p:nvSpPr>
        <p:spPr>
          <a:xfrm>
            <a:off x="7315200" y="2743200"/>
            <a:ext cx="3840479" cy="282549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2340E0"/>
              </a:buClr>
              <a:buSzPct val="85000"/>
              <a:buFont typeface="Arial"/>
              <a:buChar char="▪"/>
            </a:pPr>
            <a:r>
              <a:rPr sz="1100" b="1">
                <a:solidFill>
                  <a:srgbClr val="3B4166"/>
                </a:solidFill>
                <a:latin typeface="Segoe UI"/>
              </a:rPr>
              <a:t>Quick start — </a:t>
            </a:r>
            <a:r>
              <a:rPr sz="1100" b="0">
                <a:solidFill>
                  <a:srgbClr val="6C7191"/>
                </a:solidFill>
                <a:latin typeface="Segoe UI"/>
              </a:rPr>
              <a:t>the three things there are to do, as links: upload a document, ask your documents, generate study material</a:t>
            </a:r>
          </a:p>
          <a:p>
            <a:pPr algn="l" marL="146304" indent="-146304">
              <a:lnSpc>
                <a:spcPct val="128000"/>
              </a:lnSpc>
              <a:spcBef>
                <a:spcPts val="0"/>
              </a:spcBef>
              <a:spcAft>
                <a:spcPts val="500"/>
              </a:spcAft>
              <a:buClr>
                <a:srgbClr val="2340E0"/>
              </a:buClr>
              <a:buSzPct val="85000"/>
              <a:buFont typeface="Arial"/>
              <a:buChar char="▪"/>
            </a:pPr>
            <a:r>
              <a:rPr sz="1100" b="1">
                <a:solidFill>
                  <a:srgbClr val="3B4166"/>
                </a:solidFill>
                <a:latin typeface="Segoe UI"/>
              </a:rPr>
              <a:t>Recent resources — </a:t>
            </a:r>
            <a:r>
              <a:rPr sz="1100" b="0">
                <a:solidFill>
                  <a:srgbClr val="6C7191"/>
                </a:solidFill>
                <a:latin typeface="Segoe UI"/>
              </a:rPr>
              <a:t>the latest generated material with its verdict, and anything still running shown above what has finished</a:t>
            </a:r>
          </a:p>
          <a:p>
            <a:pPr algn="l" marL="146304" indent="-146304">
              <a:lnSpc>
                <a:spcPct val="128000"/>
              </a:lnSpc>
              <a:spcBef>
                <a:spcPts val="0"/>
              </a:spcBef>
              <a:spcAft>
                <a:spcPts val="500"/>
              </a:spcAft>
              <a:buClr>
                <a:srgbClr val="2340E0"/>
              </a:buClr>
              <a:buSzPct val="85000"/>
              <a:buFont typeface="Arial"/>
              <a:buChar char="▪"/>
            </a:pPr>
            <a:r>
              <a:rPr sz="1100" b="1">
                <a:solidFill>
                  <a:srgbClr val="3B4166"/>
                </a:solidFill>
                <a:latin typeface="Segoe UI"/>
              </a:rPr>
              <a:t>Your documents — </a:t>
            </a:r>
            <a:r>
              <a:rPr sz="1100" b="0">
                <a:solidFill>
                  <a:srgbClr val="6C7191"/>
                </a:solidFill>
                <a:latin typeface="Segoe UI"/>
              </a:rPr>
              <a:t>recent uploads with their Processing or Ready state, so the next step is always visible</a:t>
            </a:r>
          </a:p>
          <a:p>
            <a:pPr algn="l" marL="146304" indent="-146304">
              <a:lnSpc>
                <a:spcPct val="128000"/>
              </a:lnSpc>
              <a:spcBef>
                <a:spcPts val="0"/>
              </a:spcBef>
              <a:spcAft>
                <a:spcPts val="500"/>
              </a:spcAft>
              <a:buClr>
                <a:srgbClr val="2340E0"/>
              </a:buClr>
              <a:buSzPct val="85000"/>
              <a:buFont typeface="Arial"/>
              <a:buChar char="▪"/>
            </a:pPr>
            <a:r>
              <a:rPr sz="1100" b="1">
                <a:solidFill>
                  <a:srgbClr val="3B4166"/>
                </a:solidFill>
                <a:latin typeface="Segoe UI"/>
              </a:rPr>
              <a:t>Straight to work — </a:t>
            </a:r>
            <a:r>
              <a:rPr sz="1100" b="0">
                <a:solidFill>
                  <a:srgbClr val="6C7191"/>
                </a:solidFill>
                <a:latin typeface="Segoe UI"/>
              </a:rPr>
              <a:t>a returning student's first action is one click from sign-in, and a new one is told what the product does before being asked to commit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12 · UPLOAD PDF</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Drop a file and keep working</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The row appears immediately and turns Ready on its own. The page watches the job, so there is nothing to refresh and nothing to wait on.</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13</a:t>
            </a:r>
          </a:p>
        </p:txBody>
      </p:sp>
      <p:sp>
        <p:nvSpPr>
          <p:cNvPr id="8" name="Rounded Rectangle 7"/>
          <p:cNvSpPr/>
          <p:nvPr/>
        </p:nvSpPr>
        <p:spPr>
          <a:xfrm>
            <a:off x="777240" y="2432304"/>
            <a:ext cx="1864095" cy="768096"/>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2432304"/>
            <a:ext cx="1681215" cy="768096"/>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Drop a PDF</a:t>
            </a:r>
          </a:p>
          <a:p>
            <a:pPr algn="ctr">
              <a:lnSpc>
                <a:spcPct val="116000"/>
              </a:lnSpc>
              <a:spcBef>
                <a:spcPts val="400"/>
              </a:spcBef>
              <a:spcAft>
                <a:spcPts val="0"/>
              </a:spcAft>
            </a:pPr>
            <a:r>
              <a:rPr sz="850" b="0" i="0">
                <a:solidFill>
                  <a:srgbClr val="6C7191"/>
                </a:solidFill>
                <a:latin typeface="Segoe UI"/>
              </a:rPr>
              <a:t>and pick a subject</a:t>
            </a:r>
          </a:p>
        </p:txBody>
      </p:sp>
      <p:sp>
        <p:nvSpPr>
          <p:cNvPr id="10" name="Right Arrow 9"/>
          <p:cNvSpPr/>
          <p:nvPr/>
        </p:nvSpPr>
        <p:spPr>
          <a:xfrm>
            <a:off x="2732775" y="2752344"/>
            <a:ext cx="146303"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2970519" y="2432304"/>
            <a:ext cx="1864095" cy="768096"/>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061959" y="2432304"/>
            <a:ext cx="1681215" cy="768096"/>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202 + job id</a:t>
            </a:r>
          </a:p>
          <a:p>
            <a:pPr algn="ctr">
              <a:lnSpc>
                <a:spcPct val="116000"/>
              </a:lnSpc>
              <a:spcBef>
                <a:spcPts val="400"/>
              </a:spcBef>
              <a:spcAft>
                <a:spcPts val="0"/>
              </a:spcAft>
            </a:pPr>
            <a:r>
              <a:rPr sz="850" b="0" i="0">
                <a:solidFill>
                  <a:srgbClr val="6C7191"/>
                </a:solidFill>
                <a:latin typeface="Segoe UI"/>
              </a:rPr>
              <a:t>returned at once</a:t>
            </a:r>
          </a:p>
        </p:txBody>
      </p:sp>
      <p:sp>
        <p:nvSpPr>
          <p:cNvPr id="13" name="Right Arrow 12"/>
          <p:cNvSpPr/>
          <p:nvPr/>
        </p:nvSpPr>
        <p:spPr>
          <a:xfrm>
            <a:off x="4926055" y="2752344"/>
            <a:ext cx="146303"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163799" y="2432304"/>
            <a:ext cx="1864095" cy="768096"/>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255239" y="2432304"/>
            <a:ext cx="1681215" cy="768096"/>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Processing</a:t>
            </a:r>
          </a:p>
          <a:p>
            <a:pPr algn="ctr">
              <a:lnSpc>
                <a:spcPct val="116000"/>
              </a:lnSpc>
              <a:spcBef>
                <a:spcPts val="400"/>
              </a:spcBef>
              <a:spcAft>
                <a:spcPts val="0"/>
              </a:spcAft>
            </a:pPr>
            <a:r>
              <a:rPr sz="850" b="0" i="0">
                <a:solidFill>
                  <a:srgbClr val="6C7191"/>
                </a:solidFill>
                <a:latin typeface="Segoe UI"/>
              </a:rPr>
              <a:t>the row is already there</a:t>
            </a:r>
          </a:p>
        </p:txBody>
      </p:sp>
      <p:sp>
        <p:nvSpPr>
          <p:cNvPr id="16" name="Right Arrow 15"/>
          <p:cNvSpPr/>
          <p:nvPr/>
        </p:nvSpPr>
        <p:spPr>
          <a:xfrm>
            <a:off x="7119335" y="2752344"/>
            <a:ext cx="146303"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7357079" y="2432304"/>
            <a:ext cx="1864095" cy="768096"/>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448519" y="2432304"/>
            <a:ext cx="1681215" cy="768096"/>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Worker runs</a:t>
            </a:r>
          </a:p>
          <a:p>
            <a:pPr algn="ctr">
              <a:lnSpc>
                <a:spcPct val="116000"/>
              </a:lnSpc>
              <a:spcBef>
                <a:spcPts val="400"/>
              </a:spcBef>
              <a:spcAft>
                <a:spcPts val="0"/>
              </a:spcAft>
            </a:pPr>
            <a:r>
              <a:rPr sz="850" b="0" i="0">
                <a:solidFill>
                  <a:srgbClr val="6C7191"/>
                </a:solidFill>
                <a:latin typeface="Segoe UI"/>
              </a:rPr>
              <a:t>validate → … → embed</a:t>
            </a:r>
          </a:p>
        </p:txBody>
      </p:sp>
      <p:sp>
        <p:nvSpPr>
          <p:cNvPr id="19" name="Right Arrow 18"/>
          <p:cNvSpPr/>
          <p:nvPr/>
        </p:nvSpPr>
        <p:spPr>
          <a:xfrm>
            <a:off x="9312615" y="2752344"/>
            <a:ext cx="146303"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550359" y="2432304"/>
            <a:ext cx="1864095" cy="768096"/>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641799" y="2432304"/>
            <a:ext cx="1681215" cy="768096"/>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Ready</a:t>
            </a:r>
          </a:p>
          <a:p>
            <a:pPr algn="ctr">
              <a:lnSpc>
                <a:spcPct val="116000"/>
              </a:lnSpc>
              <a:spcBef>
                <a:spcPts val="400"/>
              </a:spcBef>
              <a:spcAft>
                <a:spcPts val="0"/>
              </a:spcAft>
            </a:pPr>
            <a:r>
              <a:rPr sz="850" b="0" i="0">
                <a:solidFill>
                  <a:srgbClr val="6C7191"/>
                </a:solidFill>
                <a:latin typeface="Segoe UI"/>
              </a:rPr>
              <a:t>the row flips itself</a:t>
            </a:r>
          </a:p>
        </p:txBody>
      </p:sp>
      <p:sp>
        <p:nvSpPr>
          <p:cNvPr id="22" name="Rounded Rectangle 21"/>
          <p:cNvSpPr/>
          <p:nvPr/>
        </p:nvSpPr>
        <p:spPr>
          <a:xfrm>
            <a:off x="777240" y="3401568"/>
            <a:ext cx="5154015" cy="173736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33271" y="3639312"/>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Limits, and what is rejected</a:t>
            </a:r>
          </a:p>
        </p:txBody>
      </p:sp>
      <p:sp>
        <p:nvSpPr>
          <p:cNvPr id="24" name="TextBox 23"/>
          <p:cNvSpPr txBox="1"/>
          <p:nvPr/>
        </p:nvSpPr>
        <p:spPr>
          <a:xfrm>
            <a:off x="1033271" y="3950208"/>
            <a:ext cx="4641951" cy="950975"/>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PDF only, up to 10 MB and 300 pages</a:t>
            </a:r>
          </a:p>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Encrypted or corrupt files are caught at validation and explained, not left to fail somewhere deeper</a:t>
            </a:r>
          </a:p>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A subject label is chosen at upload and travels with the document</a:t>
            </a:r>
          </a:p>
        </p:txBody>
      </p:sp>
      <p:sp>
        <p:nvSpPr>
          <p:cNvPr id="25" name="Rounded Rectangle 24"/>
          <p:cNvSpPr/>
          <p:nvPr/>
        </p:nvSpPr>
        <p:spPr>
          <a:xfrm>
            <a:off x="6260439" y="3401568"/>
            <a:ext cx="5154015" cy="173736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16471" y="3639312"/>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What the worker does with it</a:t>
            </a:r>
          </a:p>
        </p:txBody>
      </p:sp>
      <p:sp>
        <p:nvSpPr>
          <p:cNvPr id="27" name="TextBox 26"/>
          <p:cNvSpPr txBox="1"/>
          <p:nvPr/>
        </p:nvSpPr>
        <p:spPr>
          <a:xfrm>
            <a:off x="6516471" y="3950208"/>
            <a:ext cx="4641951" cy="950975"/>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0891B2"/>
              </a:buClr>
              <a:buSzPct val="85000"/>
              <a:buFont typeface="Arial"/>
              <a:buChar char="▪"/>
            </a:pPr>
            <a:r>
              <a:rPr sz="1050" b="0" i="0">
                <a:solidFill>
                  <a:srgbClr val="6C7191"/>
                </a:solidFill>
                <a:latin typeface="Segoe UI"/>
              </a:rPr>
              <a:t>Extract page text, clean it, chunk it, embed it into Qdrant</a:t>
            </a:r>
          </a:p>
          <a:p>
            <a:pPr algn="l" marL="146304" indent="-146304">
              <a:lnSpc>
                <a:spcPct val="128000"/>
              </a:lnSpc>
              <a:spcBef>
                <a:spcPts val="0"/>
              </a:spcBef>
              <a:spcAft>
                <a:spcPts val="500"/>
              </a:spcAft>
              <a:buClr>
                <a:srgbClr val="0891B2"/>
              </a:buClr>
              <a:buSzPct val="85000"/>
              <a:buFont typeface="Arial"/>
              <a:buChar char="▪"/>
            </a:pPr>
            <a:r>
              <a:rPr sz="1050" b="0" i="0">
                <a:solidFill>
                  <a:srgbClr val="6C7191"/>
                </a:solidFill>
                <a:latin typeface="Segoe UI"/>
              </a:rPr>
              <a:t>Store the original file in GridFS and the cleaned text in MongoDB</a:t>
            </a:r>
          </a:p>
          <a:p>
            <a:pPr algn="l" marL="146304" indent="-146304">
              <a:lnSpc>
                <a:spcPct val="128000"/>
              </a:lnSpc>
              <a:spcBef>
                <a:spcPts val="0"/>
              </a:spcBef>
              <a:spcAft>
                <a:spcPts val="500"/>
              </a:spcAft>
              <a:buClr>
                <a:srgbClr val="0891B2"/>
              </a:buClr>
              <a:buSzPct val="85000"/>
              <a:buFont typeface="Arial"/>
              <a:buChar char="▪"/>
            </a:pPr>
            <a:r>
              <a:rPr sz="1050" b="0" i="0">
                <a:solidFill>
                  <a:srgbClr val="6C7191"/>
                </a:solidFill>
                <a:latin typeface="Segoe UI"/>
              </a:rPr>
              <a:t>Report progress per stage, so the job is legible while it runs</a:t>
            </a:r>
          </a:p>
        </p:txBody>
      </p:sp>
      <p:sp>
        <p:nvSpPr>
          <p:cNvPr id="28" name="Rounded Rectangle 27"/>
          <p:cNvSpPr/>
          <p:nvPr/>
        </p:nvSpPr>
        <p:spPr>
          <a:xfrm>
            <a:off x="777240" y="5303520"/>
            <a:ext cx="10637215" cy="841248"/>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77240" y="5431536"/>
            <a:ext cx="41148" cy="585216"/>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51560" y="5303520"/>
            <a:ext cx="10106863" cy="841248"/>
          </a:xfrm>
          <a:prstGeom prst="rect">
            <a:avLst/>
          </a:prstGeom>
          <a:noFill/>
        </p:spPr>
        <p:txBody>
          <a:bodyPr wrap="square" lIns="0" rIns="0" tIns="0" bIns="0" anchor="ctr">
            <a:spAutoFit/>
          </a:bodyPr>
          <a:lstStyle/>
          <a:p>
            <a:pPr algn="l">
              <a:lnSpc>
                <a:spcPct val="122000"/>
              </a:lnSpc>
              <a:spcBef>
                <a:spcPts val="0"/>
              </a:spcBef>
              <a:spcAft>
                <a:spcPts val="0"/>
              </a:spcAft>
            </a:pPr>
            <a:r>
              <a:rPr sz="850" b="1" i="0" spc="130">
                <a:solidFill>
                  <a:srgbClr val="2340E0"/>
                </a:solidFill>
                <a:latin typeface="Segoe UI"/>
              </a:rPr>
              <a:t>A REPEAT UPLOAD IS NEARLY INSTANT</a:t>
            </a:r>
          </a:p>
          <a:p>
            <a:pPr algn="l">
              <a:lnSpc>
                <a:spcPct val="132000"/>
              </a:lnSpc>
              <a:spcBef>
                <a:spcPts val="500"/>
              </a:spcBef>
              <a:spcAft>
                <a:spcPts val="0"/>
              </a:spcAft>
            </a:pPr>
            <a:r>
              <a:rPr sz="1100" b="0" i="0">
                <a:solidFill>
                  <a:srgbClr val="3B4166"/>
                </a:solidFill>
                <a:latin typeface="Segoe UI"/>
              </a:rPr>
              <a:t>Documents are keyed by the SHA-256 of their bytes. If somebody has already uploaded that exact file, the extraction and the embedding are skipped entirely — only the ownership link is new.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13 · CHAT AGENT</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One chat turn is one graph pass</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A LangGraph state machine rather than one long function — because the interesting part is the edge that loops back.</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14</a:t>
            </a:r>
          </a:p>
        </p:txBody>
      </p:sp>
      <p:sp>
        <p:nvSpPr>
          <p:cNvPr id="8" name="Rounded Rectangle 7"/>
          <p:cNvSpPr/>
          <p:nvPr/>
        </p:nvSpPr>
        <p:spPr>
          <a:xfrm>
            <a:off x="777240" y="2231136"/>
            <a:ext cx="1582369" cy="786384"/>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2231136"/>
            <a:ext cx="1399489" cy="786384"/>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rewrite</a:t>
            </a:r>
          </a:p>
          <a:p>
            <a:pPr algn="ctr">
              <a:lnSpc>
                <a:spcPct val="116000"/>
              </a:lnSpc>
              <a:spcBef>
                <a:spcPts val="400"/>
              </a:spcBef>
              <a:spcAft>
                <a:spcPts val="0"/>
              </a:spcAft>
            </a:pPr>
            <a:r>
              <a:rPr sz="850" b="0" i="0">
                <a:solidFill>
                  <a:srgbClr val="6C7191"/>
                </a:solidFill>
                <a:latin typeface="Segoe UI"/>
              </a:rPr>
              <a:t>resolve “it”, “that case”</a:t>
            </a:r>
          </a:p>
        </p:txBody>
      </p:sp>
      <p:sp>
        <p:nvSpPr>
          <p:cNvPr id="10" name="Rounded Rectangle 9"/>
          <p:cNvSpPr/>
          <p:nvPr/>
        </p:nvSpPr>
        <p:spPr>
          <a:xfrm>
            <a:off x="2588209" y="2231136"/>
            <a:ext cx="1582369" cy="786384"/>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2679649" y="2231136"/>
            <a:ext cx="1399489" cy="786384"/>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retrieve</a:t>
            </a:r>
          </a:p>
          <a:p>
            <a:pPr algn="ctr">
              <a:lnSpc>
                <a:spcPct val="116000"/>
              </a:lnSpc>
              <a:spcBef>
                <a:spcPts val="400"/>
              </a:spcBef>
              <a:spcAft>
                <a:spcPts val="0"/>
              </a:spcAft>
            </a:pPr>
            <a:r>
              <a:rPr sz="850" b="0" i="0">
                <a:solidFill>
                  <a:srgbClr val="6C7191"/>
                </a:solidFill>
                <a:latin typeface="Segoe UI"/>
              </a:rPr>
              <a:t>embed → ANN → rerank</a:t>
            </a:r>
          </a:p>
        </p:txBody>
      </p:sp>
      <p:sp>
        <p:nvSpPr>
          <p:cNvPr id="12" name="Rounded Rectangle 11"/>
          <p:cNvSpPr/>
          <p:nvPr/>
        </p:nvSpPr>
        <p:spPr>
          <a:xfrm>
            <a:off x="4399178" y="2231136"/>
            <a:ext cx="1582369" cy="786384"/>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490618" y="2231136"/>
            <a:ext cx="1399489" cy="786384"/>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generate</a:t>
            </a:r>
          </a:p>
          <a:p>
            <a:pPr algn="ctr">
              <a:lnSpc>
                <a:spcPct val="116000"/>
              </a:lnSpc>
              <a:spcBef>
                <a:spcPts val="400"/>
              </a:spcBef>
              <a:spcAft>
                <a:spcPts val="0"/>
              </a:spcAft>
            </a:pPr>
            <a:r>
              <a:rPr sz="850" b="0" i="0">
                <a:solidFill>
                  <a:srgbClr val="6C7191"/>
                </a:solidFill>
                <a:latin typeface="Segoe UI"/>
              </a:rPr>
              <a:t>answer from the chunks</a:t>
            </a:r>
          </a:p>
        </p:txBody>
      </p:sp>
      <p:sp>
        <p:nvSpPr>
          <p:cNvPr id="14" name="Rounded Rectangle 13"/>
          <p:cNvSpPr/>
          <p:nvPr/>
        </p:nvSpPr>
        <p:spPr>
          <a:xfrm>
            <a:off x="6210147" y="2231136"/>
            <a:ext cx="1582369" cy="786384"/>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01587" y="2231136"/>
            <a:ext cx="1399489" cy="786384"/>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evaluate</a:t>
            </a:r>
          </a:p>
          <a:p>
            <a:pPr algn="ctr">
              <a:lnSpc>
                <a:spcPct val="116000"/>
              </a:lnSpc>
              <a:spcBef>
                <a:spcPts val="400"/>
              </a:spcBef>
              <a:spcAft>
                <a:spcPts val="0"/>
              </a:spcAft>
            </a:pPr>
            <a:r>
              <a:rPr sz="850" b="0" i="0">
                <a:solidFill>
                  <a:srgbClr val="6C7191"/>
                </a:solidFill>
                <a:latin typeface="Segoe UI"/>
              </a:rPr>
              <a:t>validators + judge</a:t>
            </a:r>
          </a:p>
        </p:txBody>
      </p:sp>
      <p:sp>
        <p:nvSpPr>
          <p:cNvPr id="16" name="Rounded Rectangle 15"/>
          <p:cNvSpPr/>
          <p:nvPr/>
        </p:nvSpPr>
        <p:spPr>
          <a:xfrm>
            <a:off x="8021116" y="2231136"/>
            <a:ext cx="1582369" cy="786384"/>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12556" y="2231136"/>
            <a:ext cx="1399489" cy="786384"/>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decide</a:t>
            </a:r>
          </a:p>
          <a:p>
            <a:pPr algn="ctr">
              <a:lnSpc>
                <a:spcPct val="116000"/>
              </a:lnSpc>
              <a:spcBef>
                <a:spcPts val="400"/>
              </a:spcBef>
              <a:spcAft>
                <a:spcPts val="0"/>
              </a:spcAft>
            </a:pPr>
            <a:r>
              <a:rPr sz="850" b="0" i="0">
                <a:solidFill>
                  <a:srgbClr val="6C7191"/>
                </a:solidFill>
                <a:latin typeface="Segoe UI"/>
              </a:rPr>
              <a:t>accept, or retry</a:t>
            </a:r>
          </a:p>
        </p:txBody>
      </p:sp>
      <p:sp>
        <p:nvSpPr>
          <p:cNvPr id="18" name="Rounded Rectangle 17"/>
          <p:cNvSpPr/>
          <p:nvPr/>
        </p:nvSpPr>
        <p:spPr>
          <a:xfrm>
            <a:off x="9832086" y="2231136"/>
            <a:ext cx="1582369" cy="786384"/>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923526" y="2231136"/>
            <a:ext cx="1399489" cy="786384"/>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persist</a:t>
            </a:r>
          </a:p>
          <a:p>
            <a:pPr algn="ctr">
              <a:lnSpc>
                <a:spcPct val="116000"/>
              </a:lnSpc>
              <a:spcBef>
                <a:spcPts val="400"/>
              </a:spcBef>
              <a:spcAft>
                <a:spcPts val="0"/>
              </a:spcAft>
            </a:pPr>
            <a:r>
              <a:rPr sz="850" b="0" i="0">
                <a:solidFill>
                  <a:srgbClr val="6C7191"/>
                </a:solidFill>
                <a:latin typeface="Segoe UI"/>
              </a:rPr>
              <a:t>store the turn</a:t>
            </a:r>
          </a:p>
        </p:txBody>
      </p:sp>
      <p:sp>
        <p:nvSpPr>
          <p:cNvPr id="20" name="Right Arrow 19"/>
          <p:cNvSpPr/>
          <p:nvPr/>
        </p:nvSpPr>
        <p:spPr>
          <a:xfrm>
            <a:off x="2405329" y="2560320"/>
            <a:ext cx="137160"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ight Arrow 20"/>
          <p:cNvSpPr/>
          <p:nvPr/>
        </p:nvSpPr>
        <p:spPr>
          <a:xfrm>
            <a:off x="4216298" y="2560320"/>
            <a:ext cx="137160"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ight Arrow 21"/>
          <p:cNvSpPr/>
          <p:nvPr/>
        </p:nvSpPr>
        <p:spPr>
          <a:xfrm>
            <a:off x="6027267" y="2560320"/>
            <a:ext cx="137160"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ight Arrow 22"/>
          <p:cNvSpPr/>
          <p:nvPr/>
        </p:nvSpPr>
        <p:spPr>
          <a:xfrm>
            <a:off x="7838236" y="2560320"/>
            <a:ext cx="137160"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ight Arrow 23"/>
          <p:cNvSpPr/>
          <p:nvPr/>
        </p:nvSpPr>
        <p:spPr>
          <a:xfrm>
            <a:off x="9649206" y="2560320"/>
            <a:ext cx="137160"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Left Arrow 24"/>
          <p:cNvSpPr/>
          <p:nvPr/>
        </p:nvSpPr>
        <p:spPr>
          <a:xfrm>
            <a:off x="4582058" y="3200400"/>
            <a:ext cx="4838547" cy="146304"/>
          </a:xfrm>
          <a:prstGeom prst="leftArrow">
            <a:avLst/>
          </a:prstGeom>
          <a:solidFill>
            <a:srgbClr val="E5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582058" y="3419856"/>
            <a:ext cx="4838547" cy="237744"/>
          </a:xfrm>
          <a:prstGeom prst="rect">
            <a:avLst/>
          </a:prstGeom>
          <a:noFill/>
        </p:spPr>
        <p:txBody>
          <a:bodyPr wrap="square" lIns="0" rIns="0" tIns="0" bIns="0" anchor="t">
            <a:spAutoFit/>
          </a:bodyPr>
          <a:lstStyle/>
          <a:p>
            <a:pPr algn="ctr">
              <a:lnSpc>
                <a:spcPct val="122000"/>
              </a:lnSpc>
              <a:spcBef>
                <a:spcPts val="0"/>
              </a:spcBef>
              <a:spcAft>
                <a:spcPts val="0"/>
              </a:spcAft>
            </a:pPr>
            <a:r>
              <a:rPr sz="950" b="0" i="0">
                <a:solidFill>
                  <a:srgbClr val="1A31B8"/>
                </a:solidFill>
                <a:latin typeface="Segoe UI"/>
              </a:rPr>
              <a:t>regenerate once with the judge's instruction   ·   MAX_ATTEMPTS = 2</a:t>
            </a:r>
          </a:p>
        </p:txBody>
      </p:sp>
      <p:sp>
        <p:nvSpPr>
          <p:cNvPr id="27" name="Rounded Rectangle 26"/>
          <p:cNvSpPr/>
          <p:nvPr/>
        </p:nvSpPr>
        <p:spPr>
          <a:xfrm>
            <a:off x="777240" y="3895344"/>
            <a:ext cx="5154015" cy="1481328"/>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33271" y="4133087"/>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Two milestones in one turn</a:t>
            </a:r>
          </a:p>
        </p:txBody>
      </p:sp>
      <p:sp>
        <p:nvSpPr>
          <p:cNvPr id="29" name="TextBox 28"/>
          <p:cNvSpPr txBox="1"/>
          <p:nvPr/>
        </p:nvSpPr>
        <p:spPr>
          <a:xfrm>
            <a:off x="1033271" y="4443983"/>
            <a:ext cx="4641951" cy="694944"/>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Tokens stream onto progress.partial as they arrive, then reply_ready hands over a finished, readable answer while the judge runs off-screen. A regeneration is deliberately not streamed over it — replacing a finished paragraph with a half-written one reads as the assistant having second thoughts in public.</a:t>
            </a:r>
          </a:p>
        </p:txBody>
      </p:sp>
      <p:sp>
        <p:nvSpPr>
          <p:cNvPr id="30" name="Rounded Rectangle 29"/>
          <p:cNvSpPr/>
          <p:nvPr/>
        </p:nvSpPr>
        <p:spPr>
          <a:xfrm>
            <a:off x="6260439" y="3895344"/>
            <a:ext cx="5154015" cy="1481328"/>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16471" y="4133087"/>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Grounded, or honestly not</a:t>
            </a:r>
          </a:p>
        </p:txBody>
      </p:sp>
      <p:sp>
        <p:nvSpPr>
          <p:cNvPr id="32" name="TextBox 31"/>
          <p:cNvSpPr txBox="1"/>
          <p:nvPr/>
        </p:nvSpPr>
        <p:spPr>
          <a:xfrm>
            <a:off x="6516471" y="4443983"/>
            <a:ext cx="4641951" cy="694944"/>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An answer built from retrieved chunks carries the pages it came from. A question the document does not cover is answered from general knowledge instead — a different kind of answer, graded on a different rubric, and carrying no citations, so the difference is visible rather than hidden.</a:t>
            </a:r>
          </a:p>
        </p:txBody>
      </p:sp>
      <p:sp>
        <p:nvSpPr>
          <p:cNvPr id="33" name="Rounded Rectangle 32"/>
          <p:cNvSpPr/>
          <p:nvPr/>
        </p:nvSpPr>
        <p:spPr>
          <a:xfrm>
            <a:off x="777240" y="5541264"/>
            <a:ext cx="10637215" cy="640080"/>
          </a:xfrm>
          <a:prstGeom prst="roundRect">
            <a:avLst>
              <a:gd name="adj" fmla="val 10000"/>
            </a:avLst>
          </a:prstGeom>
          <a:solidFill>
            <a:srgbClr val="F7F8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777240" y="5669279"/>
            <a:ext cx="41148" cy="384047"/>
          </a:xfrm>
          <a:prstGeom prst="rect">
            <a:avLst/>
          </a:prstGeom>
          <a:solidFill>
            <a:srgbClr val="6C71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051560" y="5541264"/>
            <a:ext cx="10106863" cy="640080"/>
          </a:xfrm>
          <a:prstGeom prst="rect">
            <a:avLst/>
          </a:prstGeom>
          <a:noFill/>
        </p:spPr>
        <p:txBody>
          <a:bodyPr wrap="square" lIns="0" rIns="0" tIns="0" bIns="0" anchor="ctr">
            <a:spAutoFit/>
          </a:bodyPr>
          <a:lstStyle/>
          <a:p>
            <a:pPr algn="l">
              <a:lnSpc>
                <a:spcPct val="132000"/>
              </a:lnSpc>
              <a:spcBef>
                <a:spcPts val="0"/>
              </a:spcBef>
              <a:spcAft>
                <a:spcPts val="0"/>
              </a:spcAft>
            </a:pPr>
            <a:r>
              <a:rPr sz="1050" b="0" i="0">
                <a:solidFill>
                  <a:srgbClr val="3B4166"/>
                </a:solidFill>
                <a:latin typeface="Segoe UI"/>
              </a:rPr>
              <a:t>Resource generation is a second graph in learnmate/resource_agent/ with the same accept-or-retry edge — one pass per resource instead of one per message.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14 · RESOURCE 1 OF 4</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Summary</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One block of connected prose that says what the passage says.</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15</a:t>
            </a:r>
          </a:p>
        </p:txBody>
      </p:sp>
      <p:sp>
        <p:nvSpPr>
          <p:cNvPr id="8" name="Rounded Rectangle 7"/>
          <p:cNvSpPr/>
          <p:nvPr/>
        </p:nvSpPr>
        <p:spPr>
          <a:xfrm>
            <a:off x="777240" y="2194560"/>
            <a:ext cx="5154015" cy="214884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1" y="2432304"/>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2340E0"/>
                </a:solidFill>
                <a:latin typeface="Segoe UI"/>
              </a:rPr>
              <a:t>WHAT YOU GET</a:t>
            </a:r>
          </a:p>
        </p:txBody>
      </p:sp>
      <p:sp>
        <p:nvSpPr>
          <p:cNvPr id="10" name="TextBox 9"/>
          <p:cNvSpPr txBox="1"/>
          <p:nvPr/>
        </p:nvSpPr>
        <p:spPr>
          <a:xfrm>
            <a:off x="1033271" y="2706624"/>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Continuous prose</a:t>
            </a:r>
          </a:p>
        </p:txBody>
      </p:sp>
      <p:sp>
        <p:nvSpPr>
          <p:cNvPr id="11" name="TextBox 10"/>
          <p:cNvSpPr txBox="1"/>
          <p:nvPr/>
        </p:nvSpPr>
        <p:spPr>
          <a:xfrm>
            <a:off x="1033271" y="3017520"/>
            <a:ext cx="4641951" cy="108813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Written as connected prose, not a summary chopped into bullets</a:t>
            </a:r>
          </a:p>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Built only from the retrieved source text</a:t>
            </a:r>
          </a:p>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Scoped to one passage, or pooled across the whole document</a:t>
            </a:r>
          </a:p>
        </p:txBody>
      </p:sp>
      <p:sp>
        <p:nvSpPr>
          <p:cNvPr id="12" name="Rounded Rectangle 11"/>
          <p:cNvSpPr/>
          <p:nvPr/>
        </p:nvSpPr>
        <p:spPr>
          <a:xfrm>
            <a:off x="6260439" y="2194560"/>
            <a:ext cx="5154015" cy="214884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16471" y="2432304"/>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0891B2"/>
                </a:solidFill>
                <a:latin typeface="Segoe UI"/>
              </a:rPr>
              <a:t>HOW IT IS CHECKED</a:t>
            </a:r>
          </a:p>
        </p:txBody>
      </p:sp>
      <p:sp>
        <p:nvSpPr>
          <p:cNvPr id="14" name="TextBox 13"/>
          <p:cNvSpPr txBox="1"/>
          <p:nvPr/>
        </p:nvSpPr>
        <p:spPr>
          <a:xfrm>
            <a:off x="6516471" y="2706624"/>
            <a:ext cx="4641951" cy="621792"/>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Present, and long enough to have covered anything</a:t>
            </a:r>
          </a:p>
        </p:txBody>
      </p:sp>
      <p:sp>
        <p:nvSpPr>
          <p:cNvPr id="15" name="TextBox 14"/>
          <p:cNvSpPr txBox="1"/>
          <p:nvPr/>
        </p:nvSpPr>
        <p:spPr>
          <a:xfrm>
            <a:off x="6516471" y="3273552"/>
            <a:ext cx="4641951" cy="832103"/>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0891B2"/>
              </a:buClr>
              <a:buSzPct val="85000"/>
              <a:buFont typeface="Arial"/>
              <a:buChar char="▪"/>
            </a:pPr>
            <a:r>
              <a:rPr sz="1100" b="0" i="0">
                <a:solidFill>
                  <a:srgbClr val="6C7191"/>
                </a:solidFill>
                <a:latin typeface="Segoe UI"/>
              </a:rPr>
              <a:t>Gate 1 rejects an empty or too-thin summary without spending a judge call</a:t>
            </a:r>
          </a:p>
          <a:p>
            <a:pPr algn="l" marL="146304" indent="-146304">
              <a:lnSpc>
                <a:spcPct val="128000"/>
              </a:lnSpc>
              <a:spcBef>
                <a:spcPts val="0"/>
              </a:spcBef>
              <a:spcAft>
                <a:spcPts val="500"/>
              </a:spcAft>
              <a:buClr>
                <a:srgbClr val="0891B2"/>
              </a:buClr>
              <a:buSzPct val="85000"/>
              <a:buFont typeface="Arial"/>
              <a:buChar char="▪"/>
            </a:pPr>
            <a:r>
              <a:rPr sz="1100" b="0" i="0">
                <a:solidFill>
                  <a:srgbClr val="6C7191"/>
                </a:solidFill>
                <a:latin typeface="Segoe UI"/>
              </a:rPr>
              <a:t>Gate 2 grades it against the source passage on the summary rubric</a:t>
            </a:r>
          </a:p>
          <a:p>
            <a:pPr algn="l" marL="146304" indent="-146304">
              <a:lnSpc>
                <a:spcPct val="128000"/>
              </a:lnSpc>
              <a:spcBef>
                <a:spcPts val="0"/>
              </a:spcBef>
              <a:spcAft>
                <a:spcPts val="500"/>
              </a:spcAft>
              <a:buClr>
                <a:srgbClr val="0891B2"/>
              </a:buClr>
              <a:buSzPct val="85000"/>
              <a:buFont typeface="Arial"/>
              <a:buChar char="▪"/>
            </a:pPr>
            <a:r>
              <a:rPr sz="1100" b="0" i="0">
                <a:solidFill>
                  <a:srgbClr val="6C7191"/>
                </a:solidFill>
                <a:latin typeface="Segoe UI"/>
              </a:rPr>
              <a:t>Below 70, one regeneration with the judge's instruction; the better attempt wins</a:t>
            </a:r>
          </a:p>
        </p:txBody>
      </p:sp>
      <p:sp>
        <p:nvSpPr>
          <p:cNvPr id="16" name="Rounded Rectangle 15"/>
          <p:cNvSpPr/>
          <p:nvPr/>
        </p:nvSpPr>
        <p:spPr>
          <a:xfrm>
            <a:off x="777240" y="5074920"/>
            <a:ext cx="10637215" cy="960120"/>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77240" y="5202936"/>
            <a:ext cx="41148" cy="70408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51560" y="5074920"/>
            <a:ext cx="10106863" cy="960120"/>
          </a:xfrm>
          <a:prstGeom prst="rect">
            <a:avLst/>
          </a:prstGeom>
          <a:noFill/>
        </p:spPr>
        <p:txBody>
          <a:bodyPr wrap="square" lIns="0" rIns="0" tIns="0" bIns="0" anchor="ctr">
            <a:spAutoFit/>
          </a:bodyPr>
          <a:lstStyle/>
          <a:p>
            <a:pPr algn="l">
              <a:lnSpc>
                <a:spcPct val="122000"/>
              </a:lnSpc>
              <a:spcBef>
                <a:spcPts val="0"/>
              </a:spcBef>
              <a:spcAft>
                <a:spcPts val="0"/>
              </a:spcAft>
            </a:pPr>
            <a:r>
              <a:rPr sz="850" b="1" i="0" spc="130">
                <a:solidFill>
                  <a:srgbClr val="2340E0"/>
                </a:solidFill>
                <a:latin typeface="Segoe UI"/>
              </a:rPr>
              <a:t>TWO SCOPES, AND THE DIFFERENCE MATTERS</a:t>
            </a:r>
          </a:p>
          <a:p>
            <a:pPr algn="l">
              <a:lnSpc>
                <a:spcPct val="132000"/>
              </a:lnSpc>
              <a:spcBef>
                <a:spcPts val="500"/>
              </a:spcBef>
              <a:spcAft>
                <a:spcPts val="0"/>
              </a:spcAft>
            </a:pPr>
            <a:r>
              <a:rPr sz="1100" b="0" i="0">
                <a:solidFill>
                  <a:srgbClr val="3B4166"/>
                </a:solidFill>
                <a:latin typeface="Segoe UI"/>
              </a:rPr>
              <a:t>Passage — one extract, optionally the pages that best match a topic you name. Whole document — read in groups and pooled, so the result covers the file rather than its first few pages. Generation runs in the background either way, with live progress on the Resources page.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15 · RESOURCE 2 OF 4</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Key points</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The points the passage itself treats as important — which is not the same thing as a summary in bullet form.</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16</a:t>
            </a:r>
          </a:p>
        </p:txBody>
      </p:sp>
      <p:sp>
        <p:nvSpPr>
          <p:cNvPr id="8" name="Rounded Rectangle 7"/>
          <p:cNvSpPr/>
          <p:nvPr/>
        </p:nvSpPr>
        <p:spPr>
          <a:xfrm>
            <a:off x="777240" y="2194560"/>
            <a:ext cx="5154015" cy="210312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1" y="2432304"/>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2340E0"/>
                </a:solidFill>
                <a:latin typeface="Segoe UI"/>
              </a:rPr>
              <a:t>WHAT YOU GET</a:t>
            </a:r>
          </a:p>
        </p:txBody>
      </p:sp>
      <p:sp>
        <p:nvSpPr>
          <p:cNvPr id="10" name="TextBox 9"/>
          <p:cNvSpPr txBox="1"/>
          <p:nvPr/>
        </p:nvSpPr>
        <p:spPr>
          <a:xfrm>
            <a:off x="1033271" y="2706624"/>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A list of discrete points</a:t>
            </a:r>
          </a:p>
        </p:txBody>
      </p:sp>
      <p:sp>
        <p:nvSpPr>
          <p:cNvPr id="11" name="TextBox 10"/>
          <p:cNvSpPr txBox="1"/>
          <p:nvPr/>
        </p:nvSpPr>
        <p:spPr>
          <a:xfrm>
            <a:off x="1033271" y="3017520"/>
            <a:ext cx="4641951" cy="1042415"/>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Each point a complete statement that stands on its own</a:t>
            </a:r>
          </a:p>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Ordered as the passage presents them</a:t>
            </a:r>
          </a:p>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Sized to the passage, not padded out to a round number</a:t>
            </a:r>
          </a:p>
        </p:txBody>
      </p:sp>
      <p:sp>
        <p:nvSpPr>
          <p:cNvPr id="12" name="Rounded Rectangle 11"/>
          <p:cNvSpPr/>
          <p:nvPr/>
        </p:nvSpPr>
        <p:spPr>
          <a:xfrm>
            <a:off x="6260439" y="2194560"/>
            <a:ext cx="5154015" cy="210312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16471" y="2432304"/>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0891B2"/>
                </a:solidFill>
                <a:latin typeface="Segoe UI"/>
              </a:rPr>
              <a:t>HOW IT IS CHECKED</a:t>
            </a:r>
          </a:p>
        </p:txBody>
      </p:sp>
      <p:sp>
        <p:nvSpPr>
          <p:cNvPr id="14" name="TextBox 13"/>
          <p:cNvSpPr txBox="1"/>
          <p:nvPr/>
        </p:nvSpPr>
        <p:spPr>
          <a:xfrm>
            <a:off x="6516471" y="2706624"/>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Enough points, none empty, none duplicated</a:t>
            </a:r>
          </a:p>
        </p:txBody>
      </p:sp>
      <p:sp>
        <p:nvSpPr>
          <p:cNvPr id="15" name="TextBox 14"/>
          <p:cNvSpPr txBox="1"/>
          <p:nvPr/>
        </p:nvSpPr>
        <p:spPr>
          <a:xfrm>
            <a:off x="6516471" y="3017520"/>
            <a:ext cx="4641951" cy="1042415"/>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0891B2"/>
              </a:buClr>
              <a:buSzPct val="85000"/>
              <a:buFont typeface="Arial"/>
              <a:buChar char="▪"/>
            </a:pPr>
            <a:r>
              <a:rPr sz="1100" b="0" i="0">
                <a:solidFill>
                  <a:srgbClr val="6C7191"/>
                </a:solidFill>
                <a:latin typeface="Segoe UI"/>
              </a:rPr>
              <a:t>Gate 1 checks count, emptiness and duplication — all decidable without a model</a:t>
            </a:r>
          </a:p>
          <a:p>
            <a:pPr algn="l" marL="146304" indent="-146304">
              <a:lnSpc>
                <a:spcPct val="128000"/>
              </a:lnSpc>
              <a:spcBef>
                <a:spcPts val="0"/>
              </a:spcBef>
              <a:spcAft>
                <a:spcPts val="500"/>
              </a:spcAft>
              <a:buClr>
                <a:srgbClr val="0891B2"/>
              </a:buClr>
              <a:buSzPct val="85000"/>
              <a:buFont typeface="Arial"/>
              <a:buChar char="▪"/>
            </a:pPr>
            <a:r>
              <a:rPr sz="1100" b="0" i="0">
                <a:solidFill>
                  <a:srgbClr val="6C7191"/>
                </a:solidFill>
                <a:latin typeface="Segoe UI"/>
              </a:rPr>
              <a:t>Gate 2 asks the question a validator cannot: is each point actually in the source, and are the important ones there</a:t>
            </a:r>
          </a:p>
          <a:p>
            <a:pPr algn="l" marL="146304" indent="-146304">
              <a:lnSpc>
                <a:spcPct val="128000"/>
              </a:lnSpc>
              <a:spcBef>
                <a:spcPts val="0"/>
              </a:spcBef>
              <a:spcAft>
                <a:spcPts val="500"/>
              </a:spcAft>
              <a:buClr>
                <a:srgbClr val="0891B2"/>
              </a:buClr>
              <a:buSzPct val="85000"/>
              <a:buFont typeface="Arial"/>
              <a:buChar char="▪"/>
            </a:pPr>
            <a:r>
              <a:rPr sz="1100" b="0" i="0">
                <a:solidFill>
                  <a:srgbClr val="6C7191"/>
                </a:solidFill>
                <a:latin typeface="Segoe UI"/>
              </a:rPr>
              <a:t>One regeneration on a rejection</a:t>
            </a:r>
          </a:p>
        </p:txBody>
      </p:sp>
      <p:sp>
        <p:nvSpPr>
          <p:cNvPr id="16" name="Rounded Rectangle 15"/>
          <p:cNvSpPr/>
          <p:nvPr/>
        </p:nvSpPr>
        <p:spPr>
          <a:xfrm>
            <a:off x="777240" y="5074920"/>
            <a:ext cx="10637215" cy="896112"/>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77240" y="5202936"/>
            <a:ext cx="41148" cy="640080"/>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51560" y="5074920"/>
            <a:ext cx="10106863" cy="896112"/>
          </a:xfrm>
          <a:prstGeom prst="rect">
            <a:avLst/>
          </a:prstGeom>
          <a:noFill/>
        </p:spPr>
        <p:txBody>
          <a:bodyPr wrap="square" lIns="0" rIns="0" tIns="0" bIns="0" anchor="ctr">
            <a:spAutoFit/>
          </a:bodyPr>
          <a:lstStyle/>
          <a:p>
            <a:pPr algn="l">
              <a:lnSpc>
                <a:spcPct val="132000"/>
              </a:lnSpc>
              <a:spcBef>
                <a:spcPts val="0"/>
              </a:spcBef>
              <a:spcAft>
                <a:spcPts val="0"/>
              </a:spcAft>
            </a:pPr>
            <a:r>
              <a:rPr sz="1100" b="0" i="0">
                <a:solidFill>
                  <a:srgbClr val="3B4166"/>
                </a:solidFill>
                <a:latin typeface="Segoe UI"/>
              </a:rPr>
              <a:t>A summary compresses; key points select. Generating one from the other produces material that reads perfectly well and teaches badly — which is why they are separate tasks with separate rubrics rather than two renderings of one output.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16 · RESOURCE 3 OF 4</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Multiple-choice questions</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Four options, one right, three plausible — and the set as a whole has to be unguessable.</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17</a:t>
            </a:r>
          </a:p>
        </p:txBody>
      </p:sp>
      <p:sp>
        <p:nvSpPr>
          <p:cNvPr id="8" name="Rounded Rectangle 7"/>
          <p:cNvSpPr/>
          <p:nvPr/>
        </p:nvSpPr>
        <p:spPr>
          <a:xfrm>
            <a:off x="777240" y="2176272"/>
            <a:ext cx="3375050" cy="224028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1" y="2414015"/>
            <a:ext cx="2862986"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2340E0"/>
                </a:solidFill>
                <a:latin typeface="Segoe UI"/>
              </a:rPr>
              <a:t>WHAT YOU GET</a:t>
            </a:r>
          </a:p>
        </p:txBody>
      </p:sp>
      <p:sp>
        <p:nvSpPr>
          <p:cNvPr id="10" name="TextBox 9"/>
          <p:cNvSpPr txBox="1"/>
          <p:nvPr/>
        </p:nvSpPr>
        <p:spPr>
          <a:xfrm>
            <a:off x="1033271" y="2688335"/>
            <a:ext cx="2862986"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Four options, one answer</a:t>
            </a:r>
          </a:p>
        </p:txBody>
      </p:sp>
      <p:sp>
        <p:nvSpPr>
          <p:cNvPr id="11" name="TextBox 10"/>
          <p:cNvSpPr txBox="1"/>
          <p:nvPr/>
        </p:nvSpPr>
        <p:spPr>
          <a:xfrm>
            <a:off x="1033271" y="2999231"/>
            <a:ext cx="2862986" cy="117957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Exactly one option marked correct</a:t>
            </a:r>
          </a:p>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Distractors that are plausible rather than filler</a:t>
            </a:r>
          </a:p>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Emitted as JSON under a grammar constraint, so it parses every time</a:t>
            </a:r>
          </a:p>
        </p:txBody>
      </p:sp>
      <p:sp>
        <p:nvSpPr>
          <p:cNvPr id="12" name="Rounded Rectangle 11"/>
          <p:cNvSpPr/>
          <p:nvPr/>
        </p:nvSpPr>
        <p:spPr>
          <a:xfrm>
            <a:off x="4408322" y="2176272"/>
            <a:ext cx="3375050" cy="224028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664354" y="2414015"/>
            <a:ext cx="2862986"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0891B2"/>
                </a:solidFill>
                <a:latin typeface="Segoe UI"/>
              </a:rPr>
              <a:t>GATE 1  ·  PER QUESTION</a:t>
            </a:r>
          </a:p>
        </p:txBody>
      </p:sp>
      <p:sp>
        <p:nvSpPr>
          <p:cNvPr id="14" name="TextBox 13"/>
          <p:cNvSpPr txBox="1"/>
          <p:nvPr/>
        </p:nvSpPr>
        <p:spPr>
          <a:xfrm>
            <a:off x="4664354" y="2688335"/>
            <a:ext cx="2862986"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Mechanical faults</a:t>
            </a:r>
          </a:p>
        </p:txBody>
      </p:sp>
      <p:sp>
        <p:nvSpPr>
          <p:cNvPr id="15" name="TextBox 14"/>
          <p:cNvSpPr txBox="1"/>
          <p:nvPr/>
        </p:nvSpPr>
        <p:spPr>
          <a:xfrm>
            <a:off x="4664354" y="2999231"/>
            <a:ext cx="2862986" cy="117957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0891B2"/>
              </a:buClr>
              <a:buSzPct val="85000"/>
              <a:buFont typeface="Arial"/>
              <a:buChar char="▪"/>
            </a:pPr>
            <a:r>
              <a:rPr sz="1050" b="0" i="0">
                <a:solidFill>
                  <a:srgbClr val="6C7191"/>
                </a:solidFill>
                <a:latin typeface="Segoe UI"/>
              </a:rPr>
              <a:t>Four options, none blank, none duplicated</a:t>
            </a:r>
          </a:p>
          <a:p>
            <a:pPr algn="l" marL="146304" indent="-146304">
              <a:lnSpc>
                <a:spcPct val="128000"/>
              </a:lnSpc>
              <a:spcBef>
                <a:spcPts val="0"/>
              </a:spcBef>
              <a:spcAft>
                <a:spcPts val="500"/>
              </a:spcAft>
              <a:buClr>
                <a:srgbClr val="0891B2"/>
              </a:buClr>
              <a:buSzPct val="85000"/>
              <a:buFont typeface="Arial"/>
              <a:buChar char="▪"/>
            </a:pPr>
            <a:r>
              <a:rPr sz="1050" b="0" i="0">
                <a:solidFill>
                  <a:srgbClr val="6C7191"/>
                </a:solidFill>
                <a:latin typeface="Segoe UI"/>
              </a:rPr>
              <a:t>The marked answer must be one of them</a:t>
            </a:r>
          </a:p>
          <a:p>
            <a:pPr algn="l" marL="146304" indent="-146304">
              <a:lnSpc>
                <a:spcPct val="128000"/>
              </a:lnSpc>
              <a:spcBef>
                <a:spcPts val="0"/>
              </a:spcBef>
              <a:spcAft>
                <a:spcPts val="500"/>
              </a:spcAft>
              <a:buClr>
                <a:srgbClr val="0891B2"/>
              </a:buClr>
              <a:buSzPct val="85000"/>
              <a:buFont typeface="Arial"/>
              <a:buChar char="▪"/>
            </a:pPr>
            <a:r>
              <a:rPr sz="1050" b="0" i="0">
                <a:solidFill>
                  <a:srgbClr val="6C7191"/>
                </a:solidFill>
                <a:latin typeface="Segoe UI"/>
              </a:rPr>
              <a:t>No “all of the above” giveaway</a:t>
            </a:r>
          </a:p>
        </p:txBody>
      </p:sp>
      <p:sp>
        <p:nvSpPr>
          <p:cNvPr id="16" name="Rounded Rectangle 15"/>
          <p:cNvSpPr/>
          <p:nvPr/>
        </p:nvSpPr>
        <p:spPr>
          <a:xfrm>
            <a:off x="8039404" y="2176272"/>
            <a:ext cx="3375050" cy="224028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95436" y="2414015"/>
            <a:ext cx="2862986"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7C3AED"/>
                </a:solidFill>
                <a:latin typeface="Segoe UI"/>
              </a:rPr>
              <a:t>GATE 1  ·  PER SET</a:t>
            </a:r>
          </a:p>
        </p:txBody>
      </p:sp>
      <p:sp>
        <p:nvSpPr>
          <p:cNvPr id="18" name="TextBox 17"/>
          <p:cNvSpPr txBox="1"/>
          <p:nvPr/>
        </p:nvSpPr>
        <p:spPr>
          <a:xfrm>
            <a:off x="8295436" y="2688335"/>
            <a:ext cx="2862986" cy="621792"/>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Biases only visible across questions</a:t>
            </a:r>
          </a:p>
        </p:txBody>
      </p:sp>
      <p:sp>
        <p:nvSpPr>
          <p:cNvPr id="19" name="TextBox 18"/>
          <p:cNvSpPr txBox="1"/>
          <p:nvPr/>
        </p:nvSpPr>
        <p:spPr>
          <a:xfrm>
            <a:off x="8295436" y="3255263"/>
            <a:ext cx="2862986" cy="923544"/>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7C3AED"/>
              </a:buClr>
              <a:buSzPct val="85000"/>
              <a:buFont typeface="Arial"/>
              <a:buChar char="▪"/>
            </a:pPr>
            <a:r>
              <a:rPr sz="1050" b="0" i="0">
                <a:solidFill>
                  <a:srgbClr val="6C7191"/>
                </a:solidFill>
                <a:latin typeface="Segoe UI"/>
              </a:rPr>
              <a:t>The answer is not always in the same slot</a:t>
            </a:r>
          </a:p>
          <a:p>
            <a:pPr algn="l" marL="146304" indent="-146304">
              <a:lnSpc>
                <a:spcPct val="128000"/>
              </a:lnSpc>
              <a:spcBef>
                <a:spcPts val="0"/>
              </a:spcBef>
              <a:spcAft>
                <a:spcPts val="500"/>
              </a:spcAft>
              <a:buClr>
                <a:srgbClr val="7C3AED"/>
              </a:buClr>
              <a:buSzPct val="85000"/>
              <a:buFont typeface="Arial"/>
              <a:buChar char="▪"/>
            </a:pPr>
            <a:r>
              <a:rPr sz="1050" b="0" i="0">
                <a:solidFill>
                  <a:srgbClr val="6C7191"/>
                </a:solidFill>
                <a:latin typeface="Segoe UI"/>
              </a:rPr>
              <a:t>The correct option is not always the longest</a:t>
            </a:r>
          </a:p>
          <a:p>
            <a:pPr algn="l" marL="146304" indent="-146304">
              <a:lnSpc>
                <a:spcPct val="128000"/>
              </a:lnSpc>
              <a:spcBef>
                <a:spcPts val="0"/>
              </a:spcBef>
              <a:spcAft>
                <a:spcPts val="500"/>
              </a:spcAft>
              <a:buClr>
                <a:srgbClr val="7C3AED"/>
              </a:buClr>
              <a:buSzPct val="85000"/>
              <a:buFont typeface="Arial"/>
              <a:buChar char="▪"/>
            </a:pPr>
            <a:r>
              <a:rPr sz="1050" b="0" i="0">
                <a:solidFill>
                  <a:srgbClr val="6C7191"/>
                </a:solidFill>
                <a:latin typeface="Segoe UI"/>
              </a:rPr>
              <a:t>The same question is not asked twice</a:t>
            </a:r>
          </a:p>
        </p:txBody>
      </p:sp>
      <p:sp>
        <p:nvSpPr>
          <p:cNvPr id="20" name="Rounded Rectangle 19"/>
          <p:cNvSpPr/>
          <p:nvPr/>
        </p:nvSpPr>
        <p:spPr>
          <a:xfrm>
            <a:off x="777240" y="5138928"/>
            <a:ext cx="10637215" cy="960120"/>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77240" y="5266944"/>
            <a:ext cx="41148" cy="70408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51560" y="5138928"/>
            <a:ext cx="10106863" cy="960120"/>
          </a:xfrm>
          <a:prstGeom prst="rect">
            <a:avLst/>
          </a:prstGeom>
          <a:noFill/>
        </p:spPr>
        <p:txBody>
          <a:bodyPr wrap="square" lIns="0" rIns="0" tIns="0" bIns="0" anchor="ctr">
            <a:spAutoFit/>
          </a:bodyPr>
          <a:lstStyle/>
          <a:p>
            <a:pPr algn="l">
              <a:lnSpc>
                <a:spcPct val="122000"/>
              </a:lnSpc>
              <a:spcBef>
                <a:spcPts val="0"/>
              </a:spcBef>
              <a:spcAft>
                <a:spcPts val="0"/>
              </a:spcAft>
            </a:pPr>
            <a:r>
              <a:rPr sz="850" b="1" i="0" spc="130">
                <a:solidFill>
                  <a:srgbClr val="2340E0"/>
                </a:solidFill>
                <a:latin typeface="Segoe UI"/>
              </a:rPr>
              <a:t>THE SET-LEVEL RULES ARE THE INTERESTING ONES</a:t>
            </a:r>
          </a:p>
          <a:p>
            <a:pPr algn="l">
              <a:lnSpc>
                <a:spcPct val="132000"/>
              </a:lnSpc>
              <a:spcBef>
                <a:spcPts val="500"/>
              </a:spcBef>
              <a:spcAft>
                <a:spcPts val="0"/>
              </a:spcAft>
            </a:pPr>
            <a:r>
              <a:rPr sz="1100" b="0" i="0">
                <a:solidFill>
                  <a:srgbClr val="3B4166"/>
                </a:solidFill>
                <a:latin typeface="Segoe UI"/>
              </a:rPr>
              <a:t>Every question can be individually perfect while the set as a whole is still guessable without reading the passage, and no single-item check can see that. The bias rules only apply from four questions upward — below that, the answer landing in the same slot each time is coincidence, not a signal.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17 · RESOURCE 4 OF 4</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Practice questions</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Short-answer questions with reference answers — the format that makes you produce the idea instead of recognising it.</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18</a:t>
            </a:r>
          </a:p>
        </p:txBody>
      </p:sp>
      <p:sp>
        <p:nvSpPr>
          <p:cNvPr id="8" name="Rounded Rectangle 7"/>
          <p:cNvSpPr/>
          <p:nvPr/>
        </p:nvSpPr>
        <p:spPr>
          <a:xfrm>
            <a:off x="777240" y="2194560"/>
            <a:ext cx="5154015" cy="210312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1" y="2432304"/>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2340E0"/>
                </a:solidFill>
                <a:latin typeface="Segoe UI"/>
              </a:rPr>
              <a:t>WHAT YOU GET</a:t>
            </a:r>
          </a:p>
        </p:txBody>
      </p:sp>
      <p:sp>
        <p:nvSpPr>
          <p:cNvPr id="10" name="TextBox 9"/>
          <p:cNvSpPr txBox="1"/>
          <p:nvPr/>
        </p:nvSpPr>
        <p:spPr>
          <a:xfrm>
            <a:off x="1033271" y="2706624"/>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Open questions, each with its answer</a:t>
            </a:r>
          </a:p>
        </p:txBody>
      </p:sp>
      <p:sp>
        <p:nvSpPr>
          <p:cNvPr id="11" name="TextBox 10"/>
          <p:cNvSpPr txBox="1"/>
          <p:nvPr/>
        </p:nvSpPr>
        <p:spPr>
          <a:xfrm>
            <a:off x="1033271" y="3017520"/>
            <a:ext cx="4641951" cy="1042415"/>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Answerable from the passage alone</a:t>
            </a:r>
          </a:p>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A reference answer supplied with every question</a:t>
            </a:r>
          </a:p>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Rendered to plain text for the judge to grade</a:t>
            </a:r>
          </a:p>
        </p:txBody>
      </p:sp>
      <p:sp>
        <p:nvSpPr>
          <p:cNvPr id="12" name="Rounded Rectangle 11"/>
          <p:cNvSpPr/>
          <p:nvPr/>
        </p:nvSpPr>
        <p:spPr>
          <a:xfrm>
            <a:off x="6260439" y="2194560"/>
            <a:ext cx="5154015" cy="210312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16471" y="2432304"/>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0891B2"/>
                </a:solidFill>
                <a:latin typeface="Segoe UI"/>
              </a:rPr>
              <a:t>HOW IT IS CHECKED</a:t>
            </a:r>
          </a:p>
        </p:txBody>
      </p:sp>
      <p:sp>
        <p:nvSpPr>
          <p:cNvPr id="14" name="TextBox 13"/>
          <p:cNvSpPr txBox="1"/>
          <p:nvPr/>
        </p:nvSpPr>
        <p:spPr>
          <a:xfrm>
            <a:off x="6516471" y="2706624"/>
            <a:ext cx="4641951" cy="621792"/>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The answer must not restate the question</a:t>
            </a:r>
          </a:p>
        </p:txBody>
      </p:sp>
      <p:sp>
        <p:nvSpPr>
          <p:cNvPr id="15" name="TextBox 14"/>
          <p:cNvSpPr txBox="1"/>
          <p:nvPr/>
        </p:nvSpPr>
        <p:spPr>
          <a:xfrm>
            <a:off x="6516471" y="3273552"/>
            <a:ext cx="4641951" cy="786383"/>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0891B2"/>
              </a:buClr>
              <a:buSzPct val="85000"/>
              <a:buFont typeface="Arial"/>
              <a:buChar char="▪"/>
            </a:pPr>
            <a:r>
              <a:rPr sz="1100" b="0" i="0">
                <a:solidFill>
                  <a:srgbClr val="6C7191"/>
                </a:solidFill>
                <a:latin typeface="Segoe UI"/>
              </a:rPr>
              <a:t>Gate 1: question and answer both present, no duplicates, and an answer that merely echoes its question is rejected</a:t>
            </a:r>
          </a:p>
          <a:p>
            <a:pPr algn="l" marL="146304" indent="-146304">
              <a:lnSpc>
                <a:spcPct val="128000"/>
              </a:lnSpc>
              <a:spcBef>
                <a:spcPts val="0"/>
              </a:spcBef>
              <a:spcAft>
                <a:spcPts val="500"/>
              </a:spcAft>
              <a:buClr>
                <a:srgbClr val="0891B2"/>
              </a:buClr>
              <a:buSzPct val="85000"/>
              <a:buFont typeface="Arial"/>
              <a:buChar char="▪"/>
            </a:pPr>
            <a:r>
              <a:rPr sz="1100" b="0" i="0">
                <a:solidFill>
                  <a:srgbClr val="6C7191"/>
                </a:solidFill>
                <a:latin typeface="Segoe UI"/>
              </a:rPr>
              <a:t>Gate 2 grades the pair against the source: is this really the answer, and is it really supported by the passage</a:t>
            </a:r>
          </a:p>
        </p:txBody>
      </p:sp>
      <p:sp>
        <p:nvSpPr>
          <p:cNvPr id="16" name="Rounded Rectangle 15"/>
          <p:cNvSpPr/>
          <p:nvPr/>
        </p:nvSpPr>
        <p:spPr>
          <a:xfrm>
            <a:off x="777240" y="5074920"/>
            <a:ext cx="10637215" cy="896112"/>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77240" y="5202936"/>
            <a:ext cx="41148" cy="640080"/>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51560" y="5074920"/>
            <a:ext cx="10106863" cy="896112"/>
          </a:xfrm>
          <a:prstGeom prst="rect">
            <a:avLst/>
          </a:prstGeom>
          <a:noFill/>
        </p:spPr>
        <p:txBody>
          <a:bodyPr wrap="square" lIns="0" rIns="0" tIns="0" bIns="0" anchor="ctr">
            <a:spAutoFit/>
          </a:bodyPr>
          <a:lstStyle/>
          <a:p>
            <a:pPr algn="l">
              <a:lnSpc>
                <a:spcPct val="132000"/>
              </a:lnSpc>
              <a:spcBef>
                <a:spcPts val="0"/>
              </a:spcBef>
              <a:spcAft>
                <a:spcPts val="0"/>
              </a:spcAft>
            </a:pPr>
            <a:r>
              <a:rPr sz="1100" b="0" i="0">
                <a:solidFill>
                  <a:srgbClr val="3B4166"/>
                </a:solidFill>
                <a:latin typeface="Segoe UI"/>
              </a:rPr>
              <a:t>MCQs test recognition; short answers test recall. Keeping both is the reason there are four resource types rather than two — and adding a fifth means one module beside the existing four, one line in the task registry, one structural validator and one rubric.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18 · USER ANALYTICS</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What you did, and how well it scored</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Two halves, and the second is the one worth reading.</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19</a:t>
            </a:r>
          </a:p>
        </p:txBody>
      </p:sp>
      <p:sp>
        <p:nvSpPr>
          <p:cNvPr id="8" name="Rounded Rectangle 7"/>
          <p:cNvSpPr/>
          <p:nvPr/>
        </p:nvSpPr>
        <p:spPr>
          <a:xfrm>
            <a:off x="777240" y="2194560"/>
            <a:ext cx="5154015" cy="1874519"/>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1" y="2432304"/>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2340E0"/>
                </a:solidFill>
                <a:latin typeface="Segoe UI"/>
              </a:rPr>
              <a:t>HALF ONE</a:t>
            </a:r>
          </a:p>
        </p:txBody>
      </p:sp>
      <p:sp>
        <p:nvSpPr>
          <p:cNvPr id="10" name="TextBox 9"/>
          <p:cNvSpPr txBox="1"/>
          <p:nvPr/>
        </p:nvSpPr>
        <p:spPr>
          <a:xfrm>
            <a:off x="1033271" y="2706624"/>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Activity</a:t>
            </a:r>
          </a:p>
        </p:txBody>
      </p:sp>
      <p:sp>
        <p:nvSpPr>
          <p:cNvPr id="11" name="TextBox 10"/>
          <p:cNvSpPr txBox="1"/>
          <p:nvPr/>
        </p:nvSpPr>
        <p:spPr>
          <a:xfrm>
            <a:off x="1033271" y="3017520"/>
            <a:ext cx="4641951" cy="813815"/>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Documents, conversations, messages and questions asked</a:t>
            </a:r>
          </a:p>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Study activity over the last seven days</a:t>
            </a:r>
          </a:p>
          <a:p>
            <a:pPr algn="l" marL="146304" indent="-146304">
              <a:lnSpc>
                <a:spcPct val="128000"/>
              </a:lnSpc>
              <a:spcBef>
                <a:spcPts val="0"/>
              </a:spcBef>
              <a:spcAft>
                <a:spcPts val="500"/>
              </a:spcAft>
              <a:buClr>
                <a:srgbClr val="2340E0"/>
              </a:buClr>
              <a:buSzPct val="85000"/>
              <a:buFont typeface="Arial"/>
              <a:buChar char="▪"/>
            </a:pPr>
            <a:r>
              <a:rPr sz="1100" b="0" i="0">
                <a:solidFill>
                  <a:srgbClr val="6C7191"/>
                </a:solidFill>
                <a:latin typeface="Segoe UI"/>
              </a:rPr>
              <a:t>Resources generated, broken down by type</a:t>
            </a:r>
          </a:p>
        </p:txBody>
      </p:sp>
      <p:sp>
        <p:nvSpPr>
          <p:cNvPr id="12" name="Rounded Rectangle 11"/>
          <p:cNvSpPr/>
          <p:nvPr/>
        </p:nvSpPr>
        <p:spPr>
          <a:xfrm>
            <a:off x="6260439" y="2194560"/>
            <a:ext cx="5154015" cy="1874519"/>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16471" y="2432304"/>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0891B2"/>
                </a:solidFill>
                <a:latin typeface="Segoe UI"/>
              </a:rPr>
              <a:t>HALF TWO  ·  FROM THE EVALUATION LOG</a:t>
            </a:r>
          </a:p>
        </p:txBody>
      </p:sp>
      <p:sp>
        <p:nvSpPr>
          <p:cNvPr id="14" name="TextBox 13"/>
          <p:cNvSpPr txBox="1"/>
          <p:nvPr/>
        </p:nvSpPr>
        <p:spPr>
          <a:xfrm>
            <a:off x="6516471" y="2706624"/>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Quality</a:t>
            </a:r>
          </a:p>
        </p:txBody>
      </p:sp>
      <p:sp>
        <p:nvSpPr>
          <p:cNvPr id="15" name="TextBox 14"/>
          <p:cNvSpPr txBox="1"/>
          <p:nvPr/>
        </p:nvSpPr>
        <p:spPr>
          <a:xfrm>
            <a:off x="6516471" y="3017520"/>
            <a:ext cx="4641951" cy="813815"/>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0891B2"/>
              </a:buClr>
              <a:buSzPct val="85000"/>
              <a:buFont typeface="Arial"/>
              <a:buChar char="▪"/>
            </a:pPr>
            <a:r>
              <a:rPr sz="1100" b="0" i="0">
                <a:solidFill>
                  <a:srgbClr val="6C7191"/>
                </a:solidFill>
                <a:latin typeface="Segoe UI"/>
              </a:rPr>
              <a:t>Per task: n, min, median, max, mean, distinct and pass rate</a:t>
            </a:r>
          </a:p>
          <a:p>
            <a:pPr algn="l" marL="146304" indent="-146304">
              <a:lnSpc>
                <a:spcPct val="128000"/>
              </a:lnSpc>
              <a:spcBef>
                <a:spcPts val="0"/>
              </a:spcBef>
              <a:spcAft>
                <a:spcPts val="500"/>
              </a:spcAft>
              <a:buClr>
                <a:srgbClr val="0891B2"/>
              </a:buClr>
              <a:buSzPct val="85000"/>
              <a:buFont typeface="Arial"/>
              <a:buChar char="▪"/>
            </a:pPr>
            <a:r>
              <a:rPr sz="1100" b="0" i="0">
                <a:solidFill>
                  <a:srgbClr val="6C7191"/>
                </a:solidFill>
                <a:latin typeface="Segoe UI"/>
              </a:rPr>
              <a:t>Acceptance rate against the judge threshold of 70</a:t>
            </a:r>
          </a:p>
          <a:p>
            <a:pPr algn="l" marL="146304" indent="-146304">
              <a:lnSpc>
                <a:spcPct val="128000"/>
              </a:lnSpc>
              <a:spcBef>
                <a:spcPts val="0"/>
              </a:spcBef>
              <a:spcAft>
                <a:spcPts val="500"/>
              </a:spcAft>
              <a:buClr>
                <a:srgbClr val="0891B2"/>
              </a:buClr>
              <a:buSzPct val="85000"/>
              <a:buFont typeface="Arial"/>
              <a:buChar char="▪"/>
            </a:pPr>
            <a:r>
              <a:rPr sz="1100" b="0" i="0">
                <a:solidFill>
                  <a:srgbClr val="6C7191"/>
                </a:solidFill>
                <a:latin typeface="Segoe UI"/>
              </a:rPr>
              <a:t>distinct is the one that says whether the judge can separate good from bad at all — scores clustered in a narrow band cannot, at any threshold</a:t>
            </a:r>
          </a:p>
        </p:txBody>
      </p:sp>
      <p:sp>
        <p:nvSpPr>
          <p:cNvPr id="16" name="TextBox 15"/>
          <p:cNvSpPr txBox="1"/>
          <p:nvPr/>
        </p:nvSpPr>
        <p:spPr>
          <a:xfrm>
            <a:off x="777240" y="4206240"/>
            <a:ext cx="10637215"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30">
                <a:solidFill>
                  <a:srgbClr val="6C7191"/>
                </a:solidFill>
                <a:latin typeface="Segoe UI"/>
              </a:rPr>
              <a:t>WHICH GATE DECIDED EACH ATTEMPT</a:t>
            </a:r>
          </a:p>
        </p:txBody>
      </p:sp>
      <p:sp>
        <p:nvSpPr>
          <p:cNvPr id="17" name="Rounded Rectangle 16"/>
          <p:cNvSpPr/>
          <p:nvPr/>
        </p:nvSpPr>
        <p:spPr>
          <a:xfrm>
            <a:off x="777240" y="4480560"/>
            <a:ext cx="2494711" cy="658368"/>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4480560"/>
            <a:ext cx="2311831" cy="658368"/>
          </a:xfrm>
          <a:prstGeom prst="rect">
            <a:avLst/>
          </a:prstGeom>
          <a:noFill/>
        </p:spPr>
        <p:txBody>
          <a:bodyPr wrap="square" lIns="0" rIns="0" tIns="0" bIns="0" anchor="ctr">
            <a:spAutoFit/>
          </a:bodyPr>
          <a:lstStyle/>
          <a:p>
            <a:pPr algn="ctr">
              <a:lnSpc>
                <a:spcPct val="110000"/>
              </a:lnSpc>
              <a:spcBef>
                <a:spcPts val="0"/>
              </a:spcBef>
              <a:spcAft>
                <a:spcPts val="0"/>
              </a:spcAft>
            </a:pPr>
            <a:r>
              <a:rPr sz="1100" b="1" i="0">
                <a:solidFill>
                  <a:srgbClr val="DC2626"/>
                </a:solidFill>
                <a:latin typeface="Segoe UI"/>
              </a:rPr>
              <a:t>parse</a:t>
            </a:r>
          </a:p>
          <a:p>
            <a:pPr algn="ctr">
              <a:lnSpc>
                <a:spcPct val="116000"/>
              </a:lnSpc>
              <a:spcBef>
                <a:spcPts val="400"/>
              </a:spcBef>
              <a:spcAft>
                <a:spcPts val="0"/>
              </a:spcAft>
            </a:pPr>
            <a:r>
              <a:rPr sz="850" b="0" i="0">
                <a:solidFill>
                  <a:srgbClr val="6C7191"/>
                </a:solidFill>
                <a:latin typeface="Segoe UI"/>
              </a:rPr>
              <a:t>the output could not be read as JSON at all</a:t>
            </a:r>
          </a:p>
        </p:txBody>
      </p:sp>
      <p:sp>
        <p:nvSpPr>
          <p:cNvPr id="19" name="Rounded Rectangle 18"/>
          <p:cNvSpPr/>
          <p:nvPr/>
        </p:nvSpPr>
        <p:spPr>
          <a:xfrm>
            <a:off x="3491407" y="4480560"/>
            <a:ext cx="2494711" cy="658368"/>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82847" y="4480560"/>
            <a:ext cx="2311831" cy="658368"/>
          </a:xfrm>
          <a:prstGeom prst="rect">
            <a:avLst/>
          </a:prstGeom>
          <a:noFill/>
        </p:spPr>
        <p:txBody>
          <a:bodyPr wrap="square" lIns="0" rIns="0" tIns="0" bIns="0" anchor="ctr">
            <a:spAutoFit/>
          </a:bodyPr>
          <a:lstStyle/>
          <a:p>
            <a:pPr algn="ctr">
              <a:lnSpc>
                <a:spcPct val="110000"/>
              </a:lnSpc>
              <a:spcBef>
                <a:spcPts val="0"/>
              </a:spcBef>
              <a:spcAft>
                <a:spcPts val="0"/>
              </a:spcAft>
            </a:pPr>
            <a:r>
              <a:rPr sz="1100" b="1" i="0">
                <a:solidFill>
                  <a:srgbClr val="B45309"/>
                </a:solidFill>
                <a:latin typeface="Segoe UI"/>
              </a:rPr>
              <a:t>validator</a:t>
            </a:r>
          </a:p>
          <a:p>
            <a:pPr algn="ctr">
              <a:lnSpc>
                <a:spcPct val="116000"/>
              </a:lnSpc>
              <a:spcBef>
                <a:spcPts val="400"/>
              </a:spcBef>
              <a:spcAft>
                <a:spcPts val="0"/>
              </a:spcAft>
            </a:pPr>
            <a:r>
              <a:rPr sz="850" b="0" i="0">
                <a:solidFill>
                  <a:srgbClr val="6C7191"/>
                </a:solidFill>
                <a:latin typeface="Segoe UI"/>
              </a:rPr>
              <a:t>structural checks rejected it before the judge ran</a:t>
            </a:r>
          </a:p>
        </p:txBody>
      </p:sp>
      <p:sp>
        <p:nvSpPr>
          <p:cNvPr id="21" name="Rounded Rectangle 20"/>
          <p:cNvSpPr/>
          <p:nvPr/>
        </p:nvSpPr>
        <p:spPr>
          <a:xfrm>
            <a:off x="6205575" y="4480560"/>
            <a:ext cx="2494711" cy="658368"/>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97015" y="4480560"/>
            <a:ext cx="2311831" cy="658368"/>
          </a:xfrm>
          <a:prstGeom prst="rect">
            <a:avLst/>
          </a:prstGeom>
          <a:noFill/>
        </p:spPr>
        <p:txBody>
          <a:bodyPr wrap="square" lIns="0" rIns="0" tIns="0" bIns="0" anchor="ctr">
            <a:spAutoFit/>
          </a:bodyPr>
          <a:lstStyle/>
          <a:p>
            <a:pPr algn="ctr">
              <a:lnSpc>
                <a:spcPct val="110000"/>
              </a:lnSpc>
              <a:spcBef>
                <a:spcPts val="0"/>
              </a:spcBef>
              <a:spcAft>
                <a:spcPts val="0"/>
              </a:spcAft>
            </a:pPr>
            <a:r>
              <a:rPr sz="1100" b="1" i="0">
                <a:solidFill>
                  <a:srgbClr val="2340E0"/>
                </a:solidFill>
                <a:latin typeface="Segoe UI"/>
              </a:rPr>
              <a:t>judge</a:t>
            </a:r>
          </a:p>
          <a:p>
            <a:pPr algn="ctr">
              <a:lnSpc>
                <a:spcPct val="116000"/>
              </a:lnSpc>
              <a:spcBef>
                <a:spcPts val="400"/>
              </a:spcBef>
              <a:spcAft>
                <a:spcPts val="0"/>
              </a:spcAft>
            </a:pPr>
            <a:r>
              <a:rPr sz="850" b="0" i="0">
                <a:solidFill>
                  <a:srgbClr val="6C7191"/>
                </a:solidFill>
                <a:latin typeface="Segoe UI"/>
              </a:rPr>
              <a:t>the model scored it</a:t>
            </a:r>
          </a:p>
        </p:txBody>
      </p:sp>
      <p:sp>
        <p:nvSpPr>
          <p:cNvPr id="23" name="Rounded Rectangle 22"/>
          <p:cNvSpPr/>
          <p:nvPr/>
        </p:nvSpPr>
        <p:spPr>
          <a:xfrm>
            <a:off x="8919743" y="4480560"/>
            <a:ext cx="2494711" cy="658368"/>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011183" y="4480560"/>
            <a:ext cx="2311831" cy="658368"/>
          </a:xfrm>
          <a:prstGeom prst="rect">
            <a:avLst/>
          </a:prstGeom>
          <a:noFill/>
        </p:spPr>
        <p:txBody>
          <a:bodyPr wrap="square" lIns="0" rIns="0" tIns="0" bIns="0" anchor="ctr">
            <a:spAutoFit/>
          </a:bodyPr>
          <a:lstStyle/>
          <a:p>
            <a:pPr algn="ctr">
              <a:lnSpc>
                <a:spcPct val="110000"/>
              </a:lnSpc>
              <a:spcBef>
                <a:spcPts val="0"/>
              </a:spcBef>
              <a:spcAft>
                <a:spcPts val="0"/>
              </a:spcAft>
            </a:pPr>
            <a:r>
              <a:rPr sz="1100" b="1" i="0">
                <a:solidFill>
                  <a:srgbClr val="6C7191"/>
                </a:solidFill>
                <a:latin typeface="Segoe UI"/>
              </a:rPr>
              <a:t>skipped</a:t>
            </a:r>
          </a:p>
          <a:p>
            <a:pPr algn="ctr">
              <a:lnSpc>
                <a:spcPct val="116000"/>
              </a:lnSpc>
              <a:spcBef>
                <a:spcPts val="400"/>
              </a:spcBef>
              <a:spcAft>
                <a:spcPts val="0"/>
              </a:spcAft>
            </a:pPr>
            <a:r>
              <a:rPr sz="850" b="0" i="0">
                <a:solidFill>
                  <a:srgbClr val="6C7191"/>
                </a:solidFill>
                <a:latin typeface="Segoe UI"/>
              </a:rPr>
              <a:t>evaluation was switched off</a:t>
            </a:r>
          </a:p>
        </p:txBody>
      </p:sp>
      <p:sp>
        <p:nvSpPr>
          <p:cNvPr id="25" name="Rounded Rectangle 24"/>
          <p:cNvSpPr/>
          <p:nvPr/>
        </p:nvSpPr>
        <p:spPr>
          <a:xfrm>
            <a:off x="777240" y="5321808"/>
            <a:ext cx="10637215" cy="822960"/>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777240" y="5449824"/>
            <a:ext cx="41148" cy="56692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51560" y="5321808"/>
            <a:ext cx="10106863" cy="822960"/>
          </a:xfrm>
          <a:prstGeom prst="rect">
            <a:avLst/>
          </a:prstGeom>
          <a:noFill/>
        </p:spPr>
        <p:txBody>
          <a:bodyPr wrap="square" lIns="0" rIns="0" tIns="0" bIns="0" anchor="ctr">
            <a:spAutoFit/>
          </a:bodyPr>
          <a:lstStyle/>
          <a:p>
            <a:pPr algn="l">
              <a:lnSpc>
                <a:spcPct val="122000"/>
              </a:lnSpc>
              <a:spcBef>
                <a:spcPts val="0"/>
              </a:spcBef>
              <a:spcAft>
                <a:spcPts val="0"/>
              </a:spcAft>
            </a:pPr>
            <a:r>
              <a:rPr sz="850" b="1" i="0" spc="130">
                <a:solidFill>
                  <a:srgbClr val="2340E0"/>
                </a:solidFill>
                <a:latin typeface="Segoe UI"/>
              </a:rPr>
              <a:t>THE DISTINCTION A PASS RATE HIDES</a:t>
            </a:r>
          </a:p>
          <a:p>
            <a:pPr algn="l">
              <a:lnSpc>
                <a:spcPct val="132000"/>
              </a:lnSpc>
              <a:spcBef>
                <a:spcPts val="500"/>
              </a:spcBef>
              <a:spcAft>
                <a:spcPts val="0"/>
              </a:spcAft>
            </a:pPr>
            <a:r>
              <a:rPr sz="1100" b="0" i="0">
                <a:solidFill>
                  <a:srgbClr val="3B4166"/>
                </a:solidFill>
                <a:latin typeface="Segoe UI"/>
              </a:rPr>
              <a:t>A validator count that dominates means the generation prompt needs work, not that the threshold is too high. And acceptance rate is null rather than 0 when nothing has been generated — “no data” and “nothing passed” are different, and rounding the first to the second is a lie.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19 · UI / UX</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One blue, used sparingly</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A royal-blue LMS: a pale lavender rail against near-white content, and generously rounded white cards with hairline borders instead of heavy shadows.</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20</a:t>
            </a:r>
          </a:p>
        </p:txBody>
      </p:sp>
      <p:sp>
        <p:nvSpPr>
          <p:cNvPr id="8" name="Rounded Rectangle 7"/>
          <p:cNvSpPr/>
          <p:nvPr/>
        </p:nvSpPr>
        <p:spPr>
          <a:xfrm>
            <a:off x="777240" y="2432304"/>
            <a:ext cx="708659" cy="658368"/>
          </a:xfrm>
          <a:prstGeom prst="roundRect">
            <a:avLst>
              <a:gd name="adj" fmla="val 16000"/>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3145536"/>
            <a:ext cx="708659" cy="384048"/>
          </a:xfrm>
          <a:prstGeom prst="rect">
            <a:avLst/>
          </a:prstGeom>
          <a:noFill/>
        </p:spPr>
        <p:txBody>
          <a:bodyPr wrap="square" lIns="0" rIns="0" tIns="0" bIns="0" anchor="t">
            <a:spAutoFit/>
          </a:bodyPr>
          <a:lstStyle/>
          <a:p>
            <a:pPr algn="ctr">
              <a:lnSpc>
                <a:spcPct val="115000"/>
              </a:lnSpc>
              <a:spcBef>
                <a:spcPts val="0"/>
              </a:spcBef>
              <a:spcAft>
                <a:spcPts val="0"/>
              </a:spcAft>
            </a:pPr>
            <a:r>
              <a:rPr sz="800" b="0" i="0">
                <a:solidFill>
                  <a:srgbClr val="6C7191"/>
                </a:solidFill>
                <a:latin typeface="Segoe UI"/>
              </a:rPr>
              <a:t>primary</a:t>
            </a:r>
          </a:p>
          <a:p>
            <a:pPr algn="ctr">
              <a:lnSpc>
                <a:spcPct val="122000"/>
              </a:lnSpc>
              <a:spcBef>
                <a:spcPts val="0"/>
              </a:spcBef>
              <a:spcAft>
                <a:spcPts val="0"/>
              </a:spcAft>
            </a:pPr>
            <a:r>
              <a:rPr sz="750" b="0" i="0">
                <a:solidFill>
                  <a:srgbClr val="9BA0BC"/>
                </a:solidFill>
                <a:latin typeface="Segoe UI"/>
              </a:rPr>
              <a:t>#2340E0</a:t>
            </a:r>
          </a:p>
        </p:txBody>
      </p:sp>
      <p:sp>
        <p:nvSpPr>
          <p:cNvPr id="10" name="Rounded Rectangle 9"/>
          <p:cNvSpPr/>
          <p:nvPr/>
        </p:nvSpPr>
        <p:spPr>
          <a:xfrm>
            <a:off x="1613916" y="2432304"/>
            <a:ext cx="708659" cy="658368"/>
          </a:xfrm>
          <a:prstGeom prst="roundRect">
            <a:avLst>
              <a:gd name="adj" fmla="val 16000"/>
            </a:avLst>
          </a:prstGeom>
          <a:solidFill>
            <a:srgbClr val="E5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13916" y="3145536"/>
            <a:ext cx="708659" cy="384048"/>
          </a:xfrm>
          <a:prstGeom prst="rect">
            <a:avLst/>
          </a:prstGeom>
          <a:noFill/>
        </p:spPr>
        <p:txBody>
          <a:bodyPr wrap="square" lIns="0" rIns="0" tIns="0" bIns="0" anchor="t">
            <a:spAutoFit/>
          </a:bodyPr>
          <a:lstStyle/>
          <a:p>
            <a:pPr algn="ctr">
              <a:lnSpc>
                <a:spcPct val="115000"/>
              </a:lnSpc>
              <a:spcBef>
                <a:spcPts val="0"/>
              </a:spcBef>
              <a:spcAft>
                <a:spcPts val="0"/>
              </a:spcAft>
            </a:pPr>
            <a:r>
              <a:rPr sz="800" b="0" i="0">
                <a:solidFill>
                  <a:srgbClr val="6C7191"/>
                </a:solidFill>
                <a:latin typeface="Segoe UI"/>
              </a:rPr>
              <a:t>primary-light</a:t>
            </a:r>
          </a:p>
          <a:p>
            <a:pPr algn="ctr">
              <a:lnSpc>
                <a:spcPct val="122000"/>
              </a:lnSpc>
              <a:spcBef>
                <a:spcPts val="0"/>
              </a:spcBef>
              <a:spcAft>
                <a:spcPts val="0"/>
              </a:spcAft>
            </a:pPr>
            <a:r>
              <a:rPr sz="750" b="0" i="0">
                <a:solidFill>
                  <a:srgbClr val="9BA0BC"/>
                </a:solidFill>
                <a:latin typeface="Segoe UI"/>
              </a:rPr>
              <a:t>#E5E9FE</a:t>
            </a:r>
          </a:p>
        </p:txBody>
      </p:sp>
      <p:sp>
        <p:nvSpPr>
          <p:cNvPr id="12" name="Rounded Rectangle 11"/>
          <p:cNvSpPr/>
          <p:nvPr/>
        </p:nvSpPr>
        <p:spPr>
          <a:xfrm>
            <a:off x="2450591" y="2432304"/>
            <a:ext cx="708659" cy="658368"/>
          </a:xfrm>
          <a:prstGeom prst="roundRect">
            <a:avLst>
              <a:gd name="adj" fmla="val 16000"/>
            </a:avLst>
          </a:prstGeom>
          <a:solidFill>
            <a:srgbClr val="1015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450591" y="3145536"/>
            <a:ext cx="708659" cy="384048"/>
          </a:xfrm>
          <a:prstGeom prst="rect">
            <a:avLst/>
          </a:prstGeom>
          <a:noFill/>
        </p:spPr>
        <p:txBody>
          <a:bodyPr wrap="square" lIns="0" rIns="0" tIns="0" bIns="0" anchor="t">
            <a:spAutoFit/>
          </a:bodyPr>
          <a:lstStyle/>
          <a:p>
            <a:pPr algn="ctr">
              <a:lnSpc>
                <a:spcPct val="115000"/>
              </a:lnSpc>
              <a:spcBef>
                <a:spcPts val="0"/>
              </a:spcBef>
              <a:spcAft>
                <a:spcPts val="0"/>
              </a:spcAft>
            </a:pPr>
            <a:r>
              <a:rPr sz="800" b="0" i="0">
                <a:solidFill>
                  <a:srgbClr val="6C7191"/>
                </a:solidFill>
                <a:latin typeface="Segoe UI"/>
              </a:rPr>
              <a:t>heading</a:t>
            </a:r>
          </a:p>
          <a:p>
            <a:pPr algn="ctr">
              <a:lnSpc>
                <a:spcPct val="122000"/>
              </a:lnSpc>
              <a:spcBef>
                <a:spcPts val="0"/>
              </a:spcBef>
              <a:spcAft>
                <a:spcPts val="0"/>
              </a:spcAft>
            </a:pPr>
            <a:r>
              <a:rPr sz="750" b="0" i="0">
                <a:solidFill>
                  <a:srgbClr val="9BA0BC"/>
                </a:solidFill>
                <a:latin typeface="Segoe UI"/>
              </a:rPr>
              <a:t>#101533</a:t>
            </a:r>
          </a:p>
        </p:txBody>
      </p:sp>
      <p:sp>
        <p:nvSpPr>
          <p:cNvPr id="14" name="Rounded Rectangle 13"/>
          <p:cNvSpPr/>
          <p:nvPr/>
        </p:nvSpPr>
        <p:spPr>
          <a:xfrm>
            <a:off x="3287268" y="2432304"/>
            <a:ext cx="708659" cy="658368"/>
          </a:xfrm>
          <a:prstGeom prst="roundRect">
            <a:avLst>
              <a:gd name="adj" fmla="val 16000"/>
            </a:avLst>
          </a:prstGeom>
          <a:solidFill>
            <a:srgbClr val="3B41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87268" y="3145536"/>
            <a:ext cx="708659" cy="384048"/>
          </a:xfrm>
          <a:prstGeom prst="rect">
            <a:avLst/>
          </a:prstGeom>
          <a:noFill/>
        </p:spPr>
        <p:txBody>
          <a:bodyPr wrap="square" lIns="0" rIns="0" tIns="0" bIns="0" anchor="t">
            <a:spAutoFit/>
          </a:bodyPr>
          <a:lstStyle/>
          <a:p>
            <a:pPr algn="ctr">
              <a:lnSpc>
                <a:spcPct val="115000"/>
              </a:lnSpc>
              <a:spcBef>
                <a:spcPts val="0"/>
              </a:spcBef>
              <a:spcAft>
                <a:spcPts val="0"/>
              </a:spcAft>
            </a:pPr>
            <a:r>
              <a:rPr sz="800" b="0" i="0">
                <a:solidFill>
                  <a:srgbClr val="6C7191"/>
                </a:solidFill>
                <a:latin typeface="Segoe UI"/>
              </a:rPr>
              <a:t>body</a:t>
            </a:r>
          </a:p>
          <a:p>
            <a:pPr algn="ctr">
              <a:lnSpc>
                <a:spcPct val="122000"/>
              </a:lnSpc>
              <a:spcBef>
                <a:spcPts val="0"/>
              </a:spcBef>
              <a:spcAft>
                <a:spcPts val="0"/>
              </a:spcAft>
            </a:pPr>
            <a:r>
              <a:rPr sz="750" b="0" i="0">
                <a:solidFill>
                  <a:srgbClr val="9BA0BC"/>
                </a:solidFill>
                <a:latin typeface="Segoe UI"/>
              </a:rPr>
              <a:t>#3B4166</a:t>
            </a:r>
          </a:p>
        </p:txBody>
      </p:sp>
      <p:sp>
        <p:nvSpPr>
          <p:cNvPr id="16" name="Rounded Rectangle 15"/>
          <p:cNvSpPr/>
          <p:nvPr/>
        </p:nvSpPr>
        <p:spPr>
          <a:xfrm>
            <a:off x="4123944" y="2432304"/>
            <a:ext cx="708659" cy="658368"/>
          </a:xfrm>
          <a:prstGeom prst="roundRect">
            <a:avLst>
              <a:gd name="adj" fmla="val 16000"/>
            </a:avLst>
          </a:prstGeom>
          <a:solidFill>
            <a:srgbClr val="6C71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123944" y="3145536"/>
            <a:ext cx="708659" cy="384048"/>
          </a:xfrm>
          <a:prstGeom prst="rect">
            <a:avLst/>
          </a:prstGeom>
          <a:noFill/>
        </p:spPr>
        <p:txBody>
          <a:bodyPr wrap="square" lIns="0" rIns="0" tIns="0" bIns="0" anchor="t">
            <a:spAutoFit/>
          </a:bodyPr>
          <a:lstStyle/>
          <a:p>
            <a:pPr algn="ctr">
              <a:lnSpc>
                <a:spcPct val="115000"/>
              </a:lnSpc>
              <a:spcBef>
                <a:spcPts val="0"/>
              </a:spcBef>
              <a:spcAft>
                <a:spcPts val="0"/>
              </a:spcAft>
            </a:pPr>
            <a:r>
              <a:rPr sz="800" b="0" i="0">
                <a:solidFill>
                  <a:srgbClr val="6C7191"/>
                </a:solidFill>
                <a:latin typeface="Segoe UI"/>
              </a:rPr>
              <a:t>muted</a:t>
            </a:r>
          </a:p>
          <a:p>
            <a:pPr algn="ctr">
              <a:lnSpc>
                <a:spcPct val="122000"/>
              </a:lnSpc>
              <a:spcBef>
                <a:spcPts val="0"/>
              </a:spcBef>
              <a:spcAft>
                <a:spcPts val="0"/>
              </a:spcAft>
            </a:pPr>
            <a:r>
              <a:rPr sz="750" b="0" i="0">
                <a:solidFill>
                  <a:srgbClr val="9BA0BC"/>
                </a:solidFill>
                <a:latin typeface="Segoe UI"/>
              </a:rPr>
              <a:t>#6C7191</a:t>
            </a:r>
          </a:p>
        </p:txBody>
      </p:sp>
      <p:sp>
        <p:nvSpPr>
          <p:cNvPr id="18" name="Rounded Rectangle 17"/>
          <p:cNvSpPr/>
          <p:nvPr/>
        </p:nvSpPr>
        <p:spPr>
          <a:xfrm>
            <a:off x="4960619" y="2432304"/>
            <a:ext cx="708659" cy="658368"/>
          </a:xfrm>
          <a:prstGeom prst="roundRect">
            <a:avLst>
              <a:gd name="adj" fmla="val 16000"/>
            </a:avLst>
          </a:prstGeom>
          <a:solidFill>
            <a:srgbClr val="E7E9F5"/>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960619" y="3145536"/>
            <a:ext cx="708659" cy="384048"/>
          </a:xfrm>
          <a:prstGeom prst="rect">
            <a:avLst/>
          </a:prstGeom>
          <a:noFill/>
        </p:spPr>
        <p:txBody>
          <a:bodyPr wrap="square" lIns="0" rIns="0" tIns="0" bIns="0" anchor="t">
            <a:spAutoFit/>
          </a:bodyPr>
          <a:lstStyle/>
          <a:p>
            <a:pPr algn="ctr">
              <a:lnSpc>
                <a:spcPct val="115000"/>
              </a:lnSpc>
              <a:spcBef>
                <a:spcPts val="0"/>
              </a:spcBef>
              <a:spcAft>
                <a:spcPts val="0"/>
              </a:spcAft>
            </a:pPr>
            <a:r>
              <a:rPr sz="800" b="0" i="0">
                <a:solidFill>
                  <a:srgbClr val="6C7191"/>
                </a:solidFill>
                <a:latin typeface="Segoe UI"/>
              </a:rPr>
              <a:t>border</a:t>
            </a:r>
          </a:p>
          <a:p>
            <a:pPr algn="ctr">
              <a:lnSpc>
                <a:spcPct val="122000"/>
              </a:lnSpc>
              <a:spcBef>
                <a:spcPts val="0"/>
              </a:spcBef>
              <a:spcAft>
                <a:spcPts val="0"/>
              </a:spcAft>
            </a:pPr>
            <a:r>
              <a:rPr sz="750" b="0" i="0">
                <a:solidFill>
                  <a:srgbClr val="9BA0BC"/>
                </a:solidFill>
                <a:latin typeface="Segoe UI"/>
              </a:rPr>
              <a:t>#E7E9F5</a:t>
            </a:r>
          </a:p>
        </p:txBody>
      </p:sp>
      <p:sp>
        <p:nvSpPr>
          <p:cNvPr id="20" name="Rounded Rectangle 19"/>
          <p:cNvSpPr/>
          <p:nvPr/>
        </p:nvSpPr>
        <p:spPr>
          <a:xfrm>
            <a:off x="777240" y="3694176"/>
            <a:ext cx="4892040" cy="160020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33271" y="3931920"/>
            <a:ext cx="4379975"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Type and shape</a:t>
            </a:r>
          </a:p>
        </p:txBody>
      </p:sp>
      <p:sp>
        <p:nvSpPr>
          <p:cNvPr id="22" name="TextBox 21"/>
          <p:cNvSpPr txBox="1"/>
          <p:nvPr/>
        </p:nvSpPr>
        <p:spPr>
          <a:xfrm>
            <a:off x="1033271" y="4242816"/>
            <a:ext cx="4379975" cy="81381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2340E0"/>
              </a:buClr>
              <a:buSzPct val="85000"/>
              <a:buFont typeface="Arial"/>
              <a:buChar char="▪"/>
            </a:pPr>
            <a:r>
              <a:rPr sz="1050" b="1">
                <a:solidFill>
                  <a:srgbClr val="3B4166"/>
                </a:solidFill>
                <a:latin typeface="Segoe UI"/>
              </a:rPr>
              <a:t>Inter, one family. </a:t>
            </a:r>
            <a:r>
              <a:rPr sz="1050" b="0">
                <a:solidFill>
                  <a:srgbClr val="6C7191"/>
                </a:solidFill>
                <a:latin typeface="Segoe UI"/>
              </a:rPr>
              <a:t>Sizes step from 12 px labels to a 26 px stat, and nothing in between is invented per page.</a:t>
            </a:r>
          </a:p>
          <a:p>
            <a:pPr algn="l" marL="146304" indent="-146304">
              <a:lnSpc>
                <a:spcPct val="128000"/>
              </a:lnSpc>
              <a:spcBef>
                <a:spcPts val="0"/>
              </a:spcBef>
              <a:spcAft>
                <a:spcPts val="500"/>
              </a:spcAft>
              <a:buClr>
                <a:srgbClr val="2340E0"/>
              </a:buClr>
              <a:buSzPct val="85000"/>
              <a:buFont typeface="Arial"/>
              <a:buChar char="▪"/>
            </a:pPr>
            <a:r>
              <a:rPr sz="1050" b="1">
                <a:solidFill>
                  <a:srgbClr val="3B4166"/>
                </a:solidFill>
                <a:latin typeface="Segoe UI"/>
              </a:rPr>
              <a:t>Radii from 8 to 24 px. </a:t>
            </a:r>
            <a:r>
              <a:rPr sz="1050" b="0">
                <a:solidFill>
                  <a:srgbClr val="6C7191"/>
                </a:solidFill>
                <a:latin typeface="Segoe UI"/>
              </a:rPr>
              <a:t>Softer, larger corners are most of the difference between this and a bootstrap page.</a:t>
            </a:r>
          </a:p>
        </p:txBody>
      </p:sp>
      <p:sp>
        <p:nvSpPr>
          <p:cNvPr id="23" name="Rounded Rectangle 22"/>
          <p:cNvSpPr/>
          <p:nvPr/>
        </p:nvSpPr>
        <p:spPr>
          <a:xfrm>
            <a:off x="6016752" y="2432304"/>
            <a:ext cx="5394960" cy="2862072"/>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272784" y="2670048"/>
            <a:ext cx="4882896"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The rules the design system enforces</a:t>
            </a:r>
          </a:p>
        </p:txBody>
      </p:sp>
      <p:sp>
        <p:nvSpPr>
          <p:cNvPr id="25" name="TextBox 24"/>
          <p:cNvSpPr txBox="1"/>
          <p:nvPr/>
        </p:nvSpPr>
        <p:spPr>
          <a:xfrm>
            <a:off x="6272784" y="2980944"/>
            <a:ext cx="4882896" cy="2075688"/>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7C3AED"/>
              </a:buClr>
              <a:buSzPct val="85000"/>
              <a:buFont typeface="Arial"/>
              <a:buChar char="▪"/>
            </a:pPr>
            <a:r>
              <a:rPr sz="1050" b="1">
                <a:solidFill>
                  <a:srgbClr val="3B4166"/>
                </a:solidFill>
                <a:latin typeface="Segoe UI"/>
              </a:rPr>
              <a:t>One saturated colour. </a:t>
            </a:r>
            <a:r>
              <a:rPr sz="1050" b="0">
                <a:solidFill>
                  <a:srgbClr val="6C7191"/>
                </a:solidFill>
                <a:latin typeface="Segoe UI"/>
              </a:rPr>
              <a:t>#2340E0 marks the active nav pill, the primary button and the data marks. Nothing else gets it, so the places it appears are the places that matter.</a:t>
            </a:r>
          </a:p>
          <a:p>
            <a:pPr algn="l" marL="146304" indent="-146304">
              <a:lnSpc>
                <a:spcPct val="128000"/>
              </a:lnSpc>
              <a:spcBef>
                <a:spcPts val="0"/>
              </a:spcBef>
              <a:spcAft>
                <a:spcPts val="500"/>
              </a:spcAft>
              <a:buClr>
                <a:srgbClr val="7C3AED"/>
              </a:buClr>
              <a:buSzPct val="85000"/>
              <a:buFont typeface="Arial"/>
              <a:buChar char="▪"/>
            </a:pPr>
            <a:r>
              <a:rPr sz="1050" b="1">
                <a:solidFill>
                  <a:srgbClr val="3B4166"/>
                </a:solidFill>
                <a:latin typeface="Segoe UI"/>
              </a:rPr>
              <a:t>Status colours are reserved. </a:t>
            </a:r>
            <a:r>
              <a:rPr sz="1050" b="0">
                <a:solidFill>
                  <a:srgbClr val="6C7191"/>
                </a:solidFill>
                <a:latin typeface="Segoe UI"/>
              </a:rPr>
              <a:t>Green, amber and red mean success, warning and danger — never decoration.</a:t>
            </a:r>
          </a:p>
          <a:p>
            <a:pPr algn="l" marL="146304" indent="-146304">
              <a:lnSpc>
                <a:spcPct val="128000"/>
              </a:lnSpc>
              <a:spcBef>
                <a:spcPts val="0"/>
              </a:spcBef>
              <a:spcAft>
                <a:spcPts val="500"/>
              </a:spcAft>
              <a:buClr>
                <a:srgbClr val="7C3AED"/>
              </a:buClr>
              <a:buSzPct val="85000"/>
              <a:buFont typeface="Arial"/>
              <a:buChar char="▪"/>
            </a:pPr>
            <a:r>
              <a:rPr sz="1050" b="1">
                <a:solidFill>
                  <a:srgbClr val="3B4166"/>
                </a:solidFill>
                <a:latin typeface="Segoe UI"/>
              </a:rPr>
              <a:t>Dark mode is a token swap. </a:t>
            </a:r>
            <a:r>
              <a:rPr sz="1050" b="0">
                <a:solidFill>
                  <a:srgbClr val="6C7191"/>
                </a:solidFill>
                <a:latin typeface="Segoe UI"/>
              </a:rPr>
              <a:t>Not one component is theme-aware: bg-surface is still bg-surface, and paints a different colour because the variable underneath holds one. A new screen costs nothing to support.</a:t>
            </a:r>
          </a:p>
          <a:p>
            <a:pPr algn="l" marL="146304" indent="-146304">
              <a:lnSpc>
                <a:spcPct val="128000"/>
              </a:lnSpc>
              <a:spcBef>
                <a:spcPts val="0"/>
              </a:spcBef>
              <a:spcAft>
                <a:spcPts val="500"/>
              </a:spcAft>
              <a:buClr>
                <a:srgbClr val="7C3AED"/>
              </a:buClr>
              <a:buSzPct val="85000"/>
              <a:buFont typeface="Arial"/>
              <a:buChar char="▪"/>
            </a:pPr>
            <a:r>
              <a:rPr sz="1050" b="1">
                <a:solidFill>
                  <a:srgbClr val="3B4166"/>
                </a:solidFill>
                <a:latin typeface="Segoe UI"/>
              </a:rPr>
              <a:t>Navy-tinted greys in the dark theme. </a:t>
            </a:r>
            <a:r>
              <a:rPr sz="1050" b="0">
                <a:solidFill>
                  <a:srgbClr val="6C7191"/>
                </a:solidFill>
                <a:latin typeface="Segoe UI"/>
              </a:rPr>
              <a:t>A neutral-grey dark mode reads as a different product wearing the same logo.</a:t>
            </a:r>
          </a:p>
        </p:txBody>
      </p:sp>
      <p:sp>
        <p:nvSpPr>
          <p:cNvPr id="26" name="Rounded Rectangle 25"/>
          <p:cNvSpPr/>
          <p:nvPr/>
        </p:nvSpPr>
        <p:spPr>
          <a:xfrm>
            <a:off x="777240" y="5138928"/>
            <a:ext cx="10637215" cy="960120"/>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77240" y="5266944"/>
            <a:ext cx="41148" cy="70408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51560" y="5138928"/>
            <a:ext cx="10106863" cy="960120"/>
          </a:xfrm>
          <a:prstGeom prst="rect">
            <a:avLst/>
          </a:prstGeom>
          <a:noFill/>
        </p:spPr>
        <p:txBody>
          <a:bodyPr wrap="square" lIns="0" rIns="0" tIns="0" bIns="0" anchor="ctr">
            <a:spAutoFit/>
          </a:bodyPr>
          <a:lstStyle/>
          <a:p>
            <a:pPr algn="l">
              <a:lnSpc>
                <a:spcPct val="122000"/>
              </a:lnSpc>
              <a:spcBef>
                <a:spcPts val="0"/>
              </a:spcBef>
              <a:spcAft>
                <a:spcPts val="0"/>
              </a:spcAft>
            </a:pPr>
            <a:r>
              <a:rPr sz="850" b="1" i="0" spc="130">
                <a:solidFill>
                  <a:srgbClr val="2340E0"/>
                </a:solidFill>
                <a:latin typeface="Segoe UI"/>
              </a:rPr>
              <a:t>THREE KINDS OF ROUTE</a:t>
            </a:r>
          </a:p>
          <a:p>
            <a:pPr algn="l">
              <a:lnSpc>
                <a:spcPct val="132000"/>
              </a:lnSpc>
              <a:spcBef>
                <a:spcPts val="500"/>
              </a:spcBef>
              <a:spcAft>
                <a:spcPts val="0"/>
              </a:spcAft>
            </a:pPr>
            <a:r>
              <a:rPr sz="1100" b="0" i="0">
                <a:solidFill>
                  <a:srgbClr val="3B4166"/>
                </a:solidFill>
                <a:latin typeface="Segoe UI"/>
              </a:rPr>
              <a:t>Open (/login, /register) · explore (/, /about, /tour — public header when signed out, the app rail when signed in) · protected (everything else). The root is Home rather than a redirect to the dashboard, because a first-time visitor landing on a login form has been asked to commit before being told what to.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20 · USABILITY</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Nothing blocks, and nothing pretends</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Six decisions that shaped how the application behaves under a slow model.</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21</a:t>
            </a:r>
          </a:p>
        </p:txBody>
      </p:sp>
      <p:sp>
        <p:nvSpPr>
          <p:cNvPr id="8" name="Rounded Rectangle 7"/>
          <p:cNvSpPr/>
          <p:nvPr/>
        </p:nvSpPr>
        <p:spPr>
          <a:xfrm>
            <a:off x="777240" y="2176272"/>
            <a:ext cx="3375050" cy="1682496"/>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1" y="2414015"/>
            <a:ext cx="2862986"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Slow work never blocks</a:t>
            </a:r>
          </a:p>
        </p:txBody>
      </p:sp>
      <p:sp>
        <p:nvSpPr>
          <p:cNvPr id="10" name="TextBox 9"/>
          <p:cNvSpPr txBox="1"/>
          <p:nvPr/>
        </p:nvSpPr>
        <p:spPr>
          <a:xfrm>
            <a:off x="1033271" y="2724911"/>
            <a:ext cx="2862986" cy="896112"/>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Upload, generation and chat return immediately and report progress. Leave the page, come back tomorrow — the job lives in the database, not in a browser tab.</a:t>
            </a:r>
          </a:p>
        </p:txBody>
      </p:sp>
      <p:sp>
        <p:nvSpPr>
          <p:cNvPr id="11" name="Rounded Rectangle 10"/>
          <p:cNvSpPr/>
          <p:nvPr/>
        </p:nvSpPr>
        <p:spPr>
          <a:xfrm>
            <a:off x="4408322" y="2176272"/>
            <a:ext cx="3375050" cy="1682496"/>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664354" y="2414015"/>
            <a:ext cx="2862986"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Status is visible</a:t>
            </a:r>
          </a:p>
        </p:txBody>
      </p:sp>
      <p:sp>
        <p:nvSpPr>
          <p:cNvPr id="13" name="TextBox 12"/>
          <p:cNvSpPr txBox="1"/>
          <p:nvPr/>
        </p:nvSpPr>
        <p:spPr>
          <a:xfrm>
            <a:off x="4664354" y="2724911"/>
            <a:ext cx="2862986" cy="896112"/>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A document row says Processing and becomes Ready on its own. The page watches it, so there is nothing to refresh and nothing to guess at.</a:t>
            </a:r>
          </a:p>
        </p:txBody>
      </p:sp>
      <p:sp>
        <p:nvSpPr>
          <p:cNvPr id="14" name="Rounded Rectangle 13"/>
          <p:cNvSpPr/>
          <p:nvPr/>
        </p:nvSpPr>
        <p:spPr>
          <a:xfrm>
            <a:off x="8039404" y="2176272"/>
            <a:ext cx="3375050" cy="1682496"/>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95436" y="2414015"/>
            <a:ext cx="2862986"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Answers arrive when readable</a:t>
            </a:r>
          </a:p>
        </p:txBody>
      </p:sp>
      <p:sp>
        <p:nvSpPr>
          <p:cNvPr id="16" name="TextBox 15"/>
          <p:cNvSpPr txBox="1"/>
          <p:nvPr/>
        </p:nvSpPr>
        <p:spPr>
          <a:xfrm>
            <a:off x="8295436" y="2724911"/>
            <a:ext cx="2862986" cy="896112"/>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A reply is handed over the moment it is finished, not when the judge is done with it — and a retry never overwrites a finished paragraph on screen.</a:t>
            </a:r>
          </a:p>
        </p:txBody>
      </p:sp>
      <p:sp>
        <p:nvSpPr>
          <p:cNvPr id="17" name="Rounded Rectangle 16"/>
          <p:cNvSpPr/>
          <p:nvPr/>
        </p:nvSpPr>
        <p:spPr>
          <a:xfrm>
            <a:off x="777240" y="4023360"/>
            <a:ext cx="3375050" cy="1682496"/>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33271" y="4261104"/>
            <a:ext cx="2862986"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One place for a dead session</a:t>
            </a:r>
          </a:p>
        </p:txBody>
      </p:sp>
      <p:sp>
        <p:nvSpPr>
          <p:cNvPr id="19" name="TextBox 18"/>
          <p:cNvSpPr txBox="1"/>
          <p:nvPr/>
        </p:nvSpPr>
        <p:spPr>
          <a:xfrm>
            <a:off x="1033271" y="4572000"/>
            <a:ext cx="2862986" cy="896112"/>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A single axios interceptor catches a 401, clears the session and redirects to login — instead of forty call sites each getting it slightly wrong.</a:t>
            </a:r>
          </a:p>
        </p:txBody>
      </p:sp>
      <p:sp>
        <p:nvSpPr>
          <p:cNvPr id="20" name="Rounded Rectangle 19"/>
          <p:cNvSpPr/>
          <p:nvPr/>
        </p:nvSpPr>
        <p:spPr>
          <a:xfrm>
            <a:off x="4408322" y="4023360"/>
            <a:ext cx="3375050" cy="1682496"/>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664354" y="4261104"/>
            <a:ext cx="2862986"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Explore before committing</a:t>
            </a:r>
          </a:p>
        </p:txBody>
      </p:sp>
      <p:sp>
        <p:nvSpPr>
          <p:cNvPr id="22" name="TextBox 21"/>
          <p:cNvSpPr txBox="1"/>
          <p:nvPr/>
        </p:nvSpPr>
        <p:spPr>
          <a:xfrm>
            <a:off x="4664354" y="4572000"/>
            <a:ext cx="2862986" cy="896112"/>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Home, About and Take a Tour are readable without an account, so a visitor can find out what the product does before being asked to sign up.</a:t>
            </a:r>
          </a:p>
        </p:txBody>
      </p:sp>
      <p:sp>
        <p:nvSpPr>
          <p:cNvPr id="23" name="Rounded Rectangle 22"/>
          <p:cNvSpPr/>
          <p:nvPr/>
        </p:nvSpPr>
        <p:spPr>
          <a:xfrm>
            <a:off x="8039404" y="4023360"/>
            <a:ext cx="3375050" cy="1682496"/>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295436" y="4261104"/>
            <a:ext cx="2862986"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Failures are locatable</a:t>
            </a:r>
          </a:p>
        </p:txBody>
      </p:sp>
      <p:sp>
        <p:nvSpPr>
          <p:cNvPr id="25" name="TextBox 24"/>
          <p:cNvSpPr txBox="1"/>
          <p:nvPr/>
        </p:nvSpPr>
        <p:spPr>
          <a:xfrm>
            <a:off x="8295436" y="4572000"/>
            <a:ext cx="2862986" cy="896112"/>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/api/health reports both databases and both model files separately, so a problem is found in seconds rather than guessed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21 · SECURITY</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Keycloak issues the tokens; this backend only verifies them</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Authentication and authorisation are separate questions, and each is asked in exactly one place.</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22</a:t>
            </a:r>
          </a:p>
        </p:txBody>
      </p:sp>
      <p:sp>
        <p:nvSpPr>
          <p:cNvPr id="8" name="Rounded Rectangle 7"/>
          <p:cNvSpPr/>
          <p:nvPr/>
        </p:nvSpPr>
        <p:spPr>
          <a:xfrm>
            <a:off x="777240" y="2176272"/>
            <a:ext cx="1878726" cy="749808"/>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2176272"/>
            <a:ext cx="1695846" cy="749808"/>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Sign in</a:t>
            </a:r>
          </a:p>
          <a:p>
            <a:pPr algn="ctr">
              <a:lnSpc>
                <a:spcPct val="116000"/>
              </a:lnSpc>
              <a:spcBef>
                <a:spcPts val="400"/>
              </a:spcBef>
              <a:spcAft>
                <a:spcPts val="0"/>
              </a:spcAft>
            </a:pPr>
            <a:r>
              <a:rPr sz="850" b="0" i="0">
                <a:solidFill>
                  <a:srgbClr val="6C7191"/>
                </a:solidFill>
                <a:latin typeface="Segoe UI"/>
              </a:rPr>
              <a:t>LearnMate login theme</a:t>
            </a:r>
          </a:p>
        </p:txBody>
      </p:sp>
      <p:sp>
        <p:nvSpPr>
          <p:cNvPr id="10" name="Right Arrow 9"/>
          <p:cNvSpPr/>
          <p:nvPr/>
        </p:nvSpPr>
        <p:spPr>
          <a:xfrm>
            <a:off x="2747406" y="2487168"/>
            <a:ext cx="128016"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2966862" y="2176272"/>
            <a:ext cx="1878726" cy="749808"/>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058302" y="2176272"/>
            <a:ext cx="1695846" cy="749808"/>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Keycloak 26</a:t>
            </a:r>
          </a:p>
          <a:p>
            <a:pPr algn="ctr">
              <a:lnSpc>
                <a:spcPct val="116000"/>
              </a:lnSpc>
              <a:spcBef>
                <a:spcPts val="400"/>
              </a:spcBef>
              <a:spcAft>
                <a:spcPts val="0"/>
              </a:spcAft>
            </a:pPr>
            <a:r>
              <a:rPr sz="850" b="0" i="0">
                <a:solidFill>
                  <a:srgbClr val="6C7191"/>
                </a:solidFill>
                <a:latin typeface="Segoe UI"/>
              </a:rPr>
              <a:t>learnmate realm, :8081</a:t>
            </a:r>
          </a:p>
        </p:txBody>
      </p:sp>
      <p:sp>
        <p:nvSpPr>
          <p:cNvPr id="13" name="Right Arrow 12"/>
          <p:cNvSpPr/>
          <p:nvPr/>
        </p:nvSpPr>
        <p:spPr>
          <a:xfrm>
            <a:off x="4937028" y="2487168"/>
            <a:ext cx="128016"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156484" y="2176272"/>
            <a:ext cx="1878726" cy="749808"/>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247924" y="2176272"/>
            <a:ext cx="1695846" cy="749808"/>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RS256 token</a:t>
            </a:r>
          </a:p>
          <a:p>
            <a:pPr algn="ctr">
              <a:lnSpc>
                <a:spcPct val="116000"/>
              </a:lnSpc>
              <a:spcBef>
                <a:spcPts val="400"/>
              </a:spcBef>
              <a:spcAft>
                <a:spcPts val="0"/>
              </a:spcAft>
            </a:pPr>
            <a:r>
              <a:rPr sz="850" b="0" i="0">
                <a:solidFill>
                  <a:srgbClr val="6C7191"/>
                </a:solidFill>
                <a:latin typeface="Segoe UI"/>
              </a:rPr>
              <a:t>Keycloak's private key</a:t>
            </a:r>
          </a:p>
        </p:txBody>
      </p:sp>
      <p:sp>
        <p:nvSpPr>
          <p:cNvPr id="16" name="Right Arrow 15"/>
          <p:cNvSpPr/>
          <p:nvPr/>
        </p:nvSpPr>
        <p:spPr>
          <a:xfrm>
            <a:off x="7126650" y="2487168"/>
            <a:ext cx="128016"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7346106" y="2176272"/>
            <a:ext cx="1878726" cy="749808"/>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437546" y="2176272"/>
            <a:ext cx="1695846" cy="749808"/>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JWKS verify</a:t>
            </a:r>
          </a:p>
          <a:p>
            <a:pPr algn="ctr">
              <a:lnSpc>
                <a:spcPct val="116000"/>
              </a:lnSpc>
              <a:spcBef>
                <a:spcPts val="400"/>
              </a:spcBef>
              <a:spcAft>
                <a:spcPts val="0"/>
              </a:spcAft>
            </a:pPr>
            <a:r>
              <a:rPr sz="850" b="0" i="0">
                <a:solidFill>
                  <a:srgbClr val="6C7191"/>
                </a:solidFill>
                <a:latin typeface="Segoe UI"/>
              </a:rPr>
              <a:t>public keys, cached</a:t>
            </a:r>
          </a:p>
        </p:txBody>
      </p:sp>
      <p:sp>
        <p:nvSpPr>
          <p:cNvPr id="19" name="Right Arrow 18"/>
          <p:cNvSpPr/>
          <p:nvPr/>
        </p:nvSpPr>
        <p:spPr>
          <a:xfrm>
            <a:off x="9316272" y="2487168"/>
            <a:ext cx="128016" cy="128016"/>
          </a:xfrm>
          <a:prstGeom prst="rightArrow">
            <a:avLst/>
          </a:prstGeom>
          <a:solidFill>
            <a:srgbClr val="D6D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535728" y="2176272"/>
            <a:ext cx="1878726" cy="749808"/>
          </a:xfrm>
          <a:prstGeom prst="roundRect">
            <a:avLst>
              <a:gd name="adj" fmla="val 12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627168" y="2176272"/>
            <a:ext cx="1695846" cy="749808"/>
          </a:xfrm>
          <a:prstGeom prst="rect">
            <a:avLst/>
          </a:prstGeom>
          <a:noFill/>
        </p:spPr>
        <p:txBody>
          <a:bodyPr wrap="square" lIns="0" rIns="0" tIns="0" bIns="0" anchor="ctr">
            <a:spAutoFit/>
          </a:bodyPr>
          <a:lstStyle/>
          <a:p>
            <a:pPr algn="ctr">
              <a:lnSpc>
                <a:spcPct val="110000"/>
              </a:lnSpc>
              <a:spcBef>
                <a:spcPts val="0"/>
              </a:spcBef>
              <a:spcAft>
                <a:spcPts val="0"/>
              </a:spcAft>
            </a:pPr>
            <a:r>
              <a:rPr sz="1150" b="1" i="0">
                <a:solidFill>
                  <a:srgbClr val="101533"/>
                </a:solidFill>
                <a:latin typeface="Segoe UI"/>
              </a:rPr>
              <a:t>get_current_user</a:t>
            </a:r>
          </a:p>
          <a:p>
            <a:pPr algn="ctr">
              <a:lnSpc>
                <a:spcPct val="116000"/>
              </a:lnSpc>
              <a:spcBef>
                <a:spcPts val="400"/>
              </a:spcBef>
              <a:spcAft>
                <a:spcPts val="0"/>
              </a:spcAft>
            </a:pPr>
            <a:r>
              <a:rPr sz="850" b="0" i="0">
                <a:solidFill>
                  <a:srgbClr val="6C7191"/>
                </a:solidFill>
                <a:latin typeface="Segoe UI"/>
              </a:rPr>
              <a:t>every protected route</a:t>
            </a:r>
          </a:p>
        </p:txBody>
      </p:sp>
      <p:sp>
        <p:nvSpPr>
          <p:cNvPr id="22" name="Rounded Rectangle 21"/>
          <p:cNvSpPr/>
          <p:nvPr/>
        </p:nvSpPr>
        <p:spPr>
          <a:xfrm>
            <a:off x="777240" y="3310128"/>
            <a:ext cx="5154015" cy="1719072"/>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33271" y="3547872"/>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Two kinds of token, one dependency</a:t>
            </a:r>
          </a:p>
        </p:txBody>
      </p:sp>
      <p:sp>
        <p:nvSpPr>
          <p:cNvPr id="24" name="TextBox 23"/>
          <p:cNvSpPr txBox="1"/>
          <p:nvPr/>
        </p:nvSpPr>
        <p:spPr>
          <a:xfrm>
            <a:off x="1033271" y="3858768"/>
            <a:ext cx="4641951" cy="932688"/>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A token this server issued is HS256, signed with a secret only it holds. A Keycloak token is RS256 and can only be checked against Keycloak's published public keys, fetched once and cached rather than re-fetched per request. One pair of except clauses catches both — and being unable to reach Keycloak is handled as a different thing from a bad token.</a:t>
            </a:r>
          </a:p>
        </p:txBody>
      </p:sp>
      <p:sp>
        <p:nvSpPr>
          <p:cNvPr id="25" name="Rounded Rectangle 24"/>
          <p:cNvSpPr/>
          <p:nvPr/>
        </p:nvSpPr>
        <p:spPr>
          <a:xfrm>
            <a:off x="6260439" y="3310128"/>
            <a:ext cx="5154015" cy="1719072"/>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16471" y="3547872"/>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Ownership is checked before work is queued</a:t>
            </a:r>
          </a:p>
        </p:txBody>
      </p:sp>
      <p:sp>
        <p:nvSpPr>
          <p:cNvPr id="27" name="TextBox 26"/>
          <p:cNvSpPr txBox="1"/>
          <p:nvPr/>
        </p:nvSpPr>
        <p:spPr>
          <a:xfrm>
            <a:off x="6516471" y="3858768"/>
            <a:ext cx="4641951" cy="932688"/>
          </a:xfrm>
          <a:prstGeom prst="rect">
            <a:avLst/>
          </a:prstGeom>
          <a:noFill/>
        </p:spPr>
        <p:txBody>
          <a:bodyPr wrap="square" lIns="0" rIns="0" tIns="0" bIns="0" anchor="t">
            <a:spAutoFit/>
          </a:bodyPr>
          <a:lstStyle/>
          <a:p>
            <a:pPr algn="l">
              <a:lnSpc>
                <a:spcPct val="136000"/>
              </a:lnSpc>
              <a:spcBef>
                <a:spcPts val="0"/>
              </a:spcBef>
              <a:spcAft>
                <a:spcPts val="0"/>
              </a:spcAft>
            </a:pPr>
            <a:r>
              <a:rPr sz="1050" b="0" i="0">
                <a:solidFill>
                  <a:srgbClr val="6C7191"/>
                </a:solidFill>
                <a:latin typeface="Segoe UI"/>
              </a:rPr>
              <a:t>services/ownership.py is the only place that decision is made, so there is no route that forgot to ask. Posting into somebody else's session is a 403 immediately, rather than a background job that fails a minute later.</a:t>
            </a:r>
          </a:p>
        </p:txBody>
      </p:sp>
      <p:sp>
        <p:nvSpPr>
          <p:cNvPr id="28" name="Rounded Rectangle 27"/>
          <p:cNvSpPr/>
          <p:nvPr/>
        </p:nvSpPr>
        <p:spPr>
          <a:xfrm>
            <a:off x="777240" y="5212080"/>
            <a:ext cx="10637215" cy="960120"/>
          </a:xfrm>
          <a:prstGeom prst="roundRect">
            <a:avLst>
              <a:gd name="adj" fmla="val 10000"/>
            </a:avLst>
          </a:prstGeom>
          <a:solidFill>
            <a:srgbClr val="F1F3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77240" y="5340096"/>
            <a:ext cx="41148" cy="70408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51560" y="5212080"/>
            <a:ext cx="10106863" cy="960120"/>
          </a:xfrm>
          <a:prstGeom prst="rect">
            <a:avLst/>
          </a:prstGeom>
          <a:noFill/>
        </p:spPr>
        <p:txBody>
          <a:bodyPr wrap="square" lIns="0" rIns="0" tIns="0" bIns="0" anchor="ctr">
            <a:spAutoFit/>
          </a:bodyPr>
          <a:lstStyle/>
          <a:p>
            <a:pPr algn="l">
              <a:lnSpc>
                <a:spcPct val="122000"/>
              </a:lnSpc>
              <a:spcBef>
                <a:spcPts val="0"/>
              </a:spcBef>
              <a:spcAft>
                <a:spcPts val="0"/>
              </a:spcAft>
            </a:pPr>
            <a:r>
              <a:rPr sz="850" b="1" i="0" spc="130">
                <a:solidFill>
                  <a:srgbClr val="2340E0"/>
                </a:solidFill>
                <a:latin typeface="Segoe UI"/>
              </a:rPr>
              <a:t>THE REST OF THE SURFACE</a:t>
            </a:r>
          </a:p>
          <a:p>
            <a:pPr algn="l">
              <a:lnSpc>
                <a:spcPct val="132000"/>
              </a:lnSpc>
              <a:spcBef>
                <a:spcPts val="500"/>
              </a:spcBef>
              <a:spcAft>
                <a:spcPts val="0"/>
              </a:spcAft>
            </a:pPr>
            <a:r>
              <a:rPr sz="1100" b="0" i="0">
                <a:solidFill>
                  <a:srgbClr val="3B4166"/>
                </a:solidFill>
                <a:latin typeface="Segoe UI"/>
              </a:rPr>
              <a:t>JWT_SECRET_KEY is the one setting with no default, deliberately: a fallback secret works in development, ships unnoticed, and makes every token it ever signed forgeable. Passwords on the local path are bcrypt-hashed, never stored or logged in readable form. Keycloak runs start-dev here — the right trade for a development identity provider and the wrong one for anything reachable from outside this machine.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BFE"/>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950" b="1" i="0" spc="170">
                <a:solidFill>
                  <a:srgbClr val="2340E0"/>
                </a:solidFill>
                <a:latin typeface="Segoe UI"/>
              </a:rPr>
              <a:t>22 · WHAT NEXT</a:t>
            </a:r>
          </a:p>
        </p:txBody>
      </p:sp>
      <p:sp>
        <p:nvSpPr>
          <p:cNvPr id="3" name="TextBox 2"/>
          <p:cNvSpPr txBox="1"/>
          <p:nvPr/>
        </p:nvSpPr>
        <p:spPr>
          <a:xfrm>
            <a:off x="777240" y="749808"/>
            <a:ext cx="9722815" cy="566928"/>
          </a:xfrm>
          <a:prstGeom prst="rect">
            <a:avLst/>
          </a:prstGeom>
          <a:noFill/>
        </p:spPr>
        <p:txBody>
          <a:bodyPr wrap="square" lIns="0" rIns="0" tIns="0" bIns="0" anchor="t">
            <a:spAutoFit/>
          </a:bodyPr>
          <a:lstStyle/>
          <a:p>
            <a:pPr algn="l">
              <a:lnSpc>
                <a:spcPct val="100000"/>
              </a:lnSpc>
              <a:spcBef>
                <a:spcPts val="0"/>
              </a:spcBef>
              <a:spcAft>
                <a:spcPts val="0"/>
              </a:spcAft>
            </a:pPr>
            <a:r>
              <a:rPr sz="2800" b="1" i="0" spc="-15">
                <a:solidFill>
                  <a:srgbClr val="101533"/>
                </a:solidFill>
                <a:latin typeface="Segoe UI"/>
              </a:rPr>
              <a:t>Testing and deployment</a:t>
            </a:r>
          </a:p>
        </p:txBody>
      </p:sp>
      <p:sp>
        <p:nvSpPr>
          <p:cNvPr id="4" name="Rectangle 3"/>
          <p:cNvSpPr/>
          <p:nvPr/>
        </p:nvSpPr>
        <p:spPr>
          <a:xfrm>
            <a:off x="777240" y="1399032"/>
            <a:ext cx="457200" cy="41148"/>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1609344"/>
            <a:ext cx="9357055" cy="640080"/>
          </a:xfrm>
          <a:prstGeom prst="rect">
            <a:avLst/>
          </a:prstGeom>
          <a:noFill/>
        </p:spPr>
        <p:txBody>
          <a:bodyPr wrap="square" lIns="0" rIns="0" tIns="0" bIns="0" anchor="t">
            <a:spAutoFit/>
          </a:bodyPr>
          <a:lstStyle/>
          <a:p>
            <a:pPr algn="l">
              <a:lnSpc>
                <a:spcPct val="132000"/>
              </a:lnSpc>
              <a:spcBef>
                <a:spcPts val="0"/>
              </a:spcBef>
              <a:spcAft>
                <a:spcPts val="0"/>
              </a:spcAft>
            </a:pPr>
            <a:r>
              <a:rPr sz="1250" b="0" i="0">
                <a:solidFill>
                  <a:srgbClr val="6C7191"/>
                </a:solidFill>
                <a:latin typeface="Segoe UI"/>
              </a:rPr>
              <a:t>Where it stands today, and the shortest path from here to something other people can use.</a:t>
            </a:r>
          </a:p>
        </p:txBody>
      </p:sp>
      <p:sp>
        <p:nvSpPr>
          <p:cNvPr id="6" name="TextBox 5"/>
          <p:cNvSpPr txBox="1"/>
          <p:nvPr/>
        </p:nvSpPr>
        <p:spPr>
          <a:xfrm>
            <a:off x="777240" y="6327648"/>
            <a:ext cx="5486400" cy="256032"/>
          </a:xfrm>
          <a:prstGeom prst="rect">
            <a:avLst/>
          </a:prstGeom>
          <a:noFill/>
        </p:spPr>
        <p:txBody>
          <a:bodyPr wrap="square" lIns="0" rIns="0" tIns="0" bIns="0" anchor="t">
            <a:spAutoFit/>
          </a:bodyPr>
          <a:lstStyle/>
          <a:p>
            <a:pPr algn="l">
              <a:lnSpc>
                <a:spcPct val="122000"/>
              </a:lnSpc>
              <a:spcBef>
                <a:spcPts val="0"/>
              </a:spcBef>
              <a:spcAft>
                <a:spcPts val="0"/>
              </a:spcAft>
            </a:pPr>
            <a:r>
              <a:rPr sz="850" b="0" i="0" spc="60">
                <a:solidFill>
                  <a:srgbClr val="9BA0BC"/>
                </a:solidFill>
                <a:latin typeface="Segoe UI"/>
              </a:rPr>
              <a:t>LearnMateAI   ·   Group 8</a:t>
            </a:r>
          </a:p>
        </p:txBody>
      </p:sp>
      <p:sp>
        <p:nvSpPr>
          <p:cNvPr id="7" name="TextBox 6"/>
          <p:cNvSpPr txBox="1"/>
          <p:nvPr/>
        </p:nvSpPr>
        <p:spPr>
          <a:xfrm>
            <a:off x="10317175" y="6327648"/>
            <a:ext cx="1097280" cy="256032"/>
          </a:xfrm>
          <a:prstGeom prst="rect">
            <a:avLst/>
          </a:prstGeom>
          <a:noFill/>
        </p:spPr>
        <p:txBody>
          <a:bodyPr wrap="square" lIns="0" rIns="0" tIns="0" bIns="0" anchor="t">
            <a:spAutoFit/>
          </a:bodyPr>
          <a:lstStyle/>
          <a:p>
            <a:pPr algn="r">
              <a:lnSpc>
                <a:spcPct val="122000"/>
              </a:lnSpc>
              <a:spcBef>
                <a:spcPts val="0"/>
              </a:spcBef>
              <a:spcAft>
                <a:spcPts val="0"/>
              </a:spcAft>
            </a:pPr>
            <a:r>
              <a:rPr sz="850" b="1" i="0">
                <a:solidFill>
                  <a:srgbClr val="9BA0BC"/>
                </a:solidFill>
                <a:latin typeface="Segoe UI"/>
              </a:rPr>
              <a:t>23</a:t>
            </a:r>
          </a:p>
        </p:txBody>
      </p:sp>
      <p:sp>
        <p:nvSpPr>
          <p:cNvPr id="8" name="Rounded Rectangle 7"/>
          <p:cNvSpPr/>
          <p:nvPr/>
        </p:nvSpPr>
        <p:spPr>
          <a:xfrm>
            <a:off x="777240" y="2176272"/>
            <a:ext cx="5154015" cy="141732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33271" y="2414015"/>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2340E0"/>
                </a:solidFill>
                <a:latin typeface="Segoe UI"/>
              </a:rPr>
              <a:t>TESTING  ·  TODAY</a:t>
            </a:r>
          </a:p>
        </p:txBody>
      </p:sp>
      <p:sp>
        <p:nvSpPr>
          <p:cNvPr id="10" name="TextBox 9"/>
          <p:cNvSpPr txBox="1"/>
          <p:nvPr/>
        </p:nvSpPr>
        <p:spPr>
          <a:xfrm>
            <a:off x="1033271" y="2688335"/>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What already runs</a:t>
            </a:r>
          </a:p>
        </p:txBody>
      </p:sp>
      <p:sp>
        <p:nvSpPr>
          <p:cNvPr id="11" name="TextBox 10"/>
          <p:cNvSpPr txBox="1"/>
          <p:nvPr/>
        </p:nvSpPr>
        <p:spPr>
          <a:xfrm>
            <a:off x="1033271" y="2999231"/>
            <a:ext cx="4641951" cy="35661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scripts/smoke_test.py drives the whole system end to end — register, upload, generate, chat, analytics — a pass or fail line per step</a:t>
            </a:r>
          </a:p>
          <a:p>
            <a:pPr algn="l" marL="146304" indent="-146304">
              <a:lnSpc>
                <a:spcPct val="128000"/>
              </a:lnSpc>
              <a:spcBef>
                <a:spcPts val="0"/>
              </a:spcBef>
              <a:spcAft>
                <a:spcPts val="500"/>
              </a:spcAft>
              <a:buClr>
                <a:srgbClr val="2340E0"/>
              </a:buClr>
              <a:buSzPct val="85000"/>
              <a:buFont typeface="Arial"/>
              <a:buChar char="▪"/>
            </a:pPr>
            <a:r>
              <a:rPr sz="1050" b="0" i="0">
                <a:solidFill>
                  <a:srgbClr val="6C7191"/>
                </a:solidFill>
                <a:latin typeface="Segoe UI"/>
              </a:rPr>
              <a:t>/api/health checks both databases and both model files separately</a:t>
            </a:r>
          </a:p>
        </p:txBody>
      </p:sp>
      <p:sp>
        <p:nvSpPr>
          <p:cNvPr id="12" name="Rounded Rectangle 11"/>
          <p:cNvSpPr/>
          <p:nvPr/>
        </p:nvSpPr>
        <p:spPr>
          <a:xfrm>
            <a:off x="777240" y="3721608"/>
            <a:ext cx="5154015" cy="1783080"/>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33271" y="3959352"/>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0891B2"/>
                </a:solidFill>
                <a:latin typeface="Segoe UI"/>
              </a:rPr>
              <a:t>TESTING  ·  NEXT</a:t>
            </a:r>
          </a:p>
        </p:txBody>
      </p:sp>
      <p:sp>
        <p:nvSpPr>
          <p:cNvPr id="14" name="TextBox 13"/>
          <p:cNvSpPr txBox="1"/>
          <p:nvPr/>
        </p:nvSpPr>
        <p:spPr>
          <a:xfrm>
            <a:off x="1033271" y="4233672"/>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What it needs</a:t>
            </a:r>
          </a:p>
        </p:txBody>
      </p:sp>
      <p:sp>
        <p:nvSpPr>
          <p:cNvPr id="15" name="TextBox 14"/>
          <p:cNvSpPr txBox="1"/>
          <p:nvPr/>
        </p:nvSpPr>
        <p:spPr>
          <a:xfrm>
            <a:off x="1033271" y="4544568"/>
            <a:ext cx="4641951" cy="722376"/>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0891B2"/>
              </a:buClr>
              <a:buSzPct val="85000"/>
              <a:buFont typeface="Arial"/>
              <a:buChar char="▪"/>
            </a:pPr>
            <a:r>
              <a:rPr sz="1050" b="0" i="0">
                <a:solidFill>
                  <a:srgbClr val="6C7191"/>
                </a:solidFill>
                <a:latin typeface="Segoe UI"/>
              </a:rPr>
              <a:t>Unit tests over the engine: cleaning, chunking, the MCQ set-level rules</a:t>
            </a:r>
          </a:p>
          <a:p>
            <a:pPr algn="l" marL="146304" indent="-146304">
              <a:lnSpc>
                <a:spcPct val="128000"/>
              </a:lnSpc>
              <a:spcBef>
                <a:spcPts val="0"/>
              </a:spcBef>
              <a:spcAft>
                <a:spcPts val="500"/>
              </a:spcAft>
              <a:buClr>
                <a:srgbClr val="0891B2"/>
              </a:buClr>
              <a:buSzPct val="85000"/>
              <a:buFont typeface="Arial"/>
              <a:buChar char="▪"/>
            </a:pPr>
            <a:r>
              <a:rPr sz="1050" b="0" i="0">
                <a:solidFill>
                  <a:srgbClr val="6C7191"/>
                </a:solidFill>
                <a:latin typeface="Segoe UI"/>
              </a:rPr>
              <a:t>A pytest suite in CI on every pull request</a:t>
            </a:r>
          </a:p>
          <a:p>
            <a:pPr algn="l" marL="146304" indent="-146304">
              <a:lnSpc>
                <a:spcPct val="128000"/>
              </a:lnSpc>
              <a:spcBef>
                <a:spcPts val="0"/>
              </a:spcBef>
              <a:spcAft>
                <a:spcPts val="500"/>
              </a:spcAft>
              <a:buClr>
                <a:srgbClr val="0891B2"/>
              </a:buClr>
              <a:buSzPct val="85000"/>
              <a:buFont typeface="Arial"/>
              <a:buChar char="▪"/>
            </a:pPr>
            <a:r>
              <a:rPr sz="1050" b="0" i="0">
                <a:solidFill>
                  <a:srgbClr val="6C7191"/>
                </a:solidFill>
                <a:latin typeface="Segoe UI"/>
              </a:rPr>
              <a:t>Judge-score regression tracking, so a prompt change that quietly lowers quality is visible before it ships</a:t>
            </a:r>
          </a:p>
          <a:p>
            <a:pPr algn="l" marL="146304" indent="-146304">
              <a:lnSpc>
                <a:spcPct val="128000"/>
              </a:lnSpc>
              <a:spcBef>
                <a:spcPts val="0"/>
              </a:spcBef>
              <a:spcAft>
                <a:spcPts val="500"/>
              </a:spcAft>
              <a:buClr>
                <a:srgbClr val="0891B2"/>
              </a:buClr>
              <a:buSzPct val="85000"/>
              <a:buFont typeface="Arial"/>
              <a:buChar char="▪"/>
            </a:pPr>
            <a:r>
              <a:rPr sz="1050" b="0" i="0">
                <a:solidFill>
                  <a:srgbClr val="6C7191"/>
                </a:solidFill>
                <a:latin typeface="Segoe UI"/>
              </a:rPr>
              <a:t>A load test on the job queue with concurrent students</a:t>
            </a:r>
          </a:p>
        </p:txBody>
      </p:sp>
      <p:sp>
        <p:nvSpPr>
          <p:cNvPr id="16" name="Rounded Rectangle 15"/>
          <p:cNvSpPr/>
          <p:nvPr/>
        </p:nvSpPr>
        <p:spPr>
          <a:xfrm>
            <a:off x="6260439" y="2176272"/>
            <a:ext cx="5154015" cy="3328416"/>
          </a:xfrm>
          <a:prstGeom prst="roundRect">
            <a:avLst>
              <a:gd name="adj" fmla="val 10000"/>
            </a:avLst>
          </a:prstGeom>
          <a:solidFill>
            <a:srgbClr val="FFFFFF"/>
          </a:solidFill>
          <a:ln w="9525">
            <a:solidFill>
              <a:srgbClr val="E7E9F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16471" y="2414015"/>
            <a:ext cx="4641951" cy="219456"/>
          </a:xfrm>
          <a:prstGeom prst="rect">
            <a:avLst/>
          </a:prstGeom>
          <a:noFill/>
        </p:spPr>
        <p:txBody>
          <a:bodyPr wrap="square" lIns="0" rIns="0" tIns="0" bIns="0" anchor="t">
            <a:spAutoFit/>
          </a:bodyPr>
          <a:lstStyle/>
          <a:p>
            <a:pPr algn="l">
              <a:lnSpc>
                <a:spcPct val="122000"/>
              </a:lnSpc>
              <a:spcBef>
                <a:spcPts val="0"/>
              </a:spcBef>
              <a:spcAft>
                <a:spcPts val="0"/>
              </a:spcAft>
            </a:pPr>
            <a:r>
              <a:rPr sz="850" b="1" i="0" spc="140">
                <a:solidFill>
                  <a:srgbClr val="7C3AED"/>
                </a:solidFill>
                <a:latin typeface="Segoe UI"/>
              </a:rPr>
              <a:t>DEPLOYMENT</a:t>
            </a:r>
          </a:p>
        </p:txBody>
      </p:sp>
      <p:sp>
        <p:nvSpPr>
          <p:cNvPr id="18" name="TextBox 17"/>
          <p:cNvSpPr txBox="1"/>
          <p:nvPr/>
        </p:nvSpPr>
        <p:spPr>
          <a:xfrm>
            <a:off x="6516471" y="2688335"/>
            <a:ext cx="4641951"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01533"/>
                </a:solidFill>
                <a:latin typeface="Segoe UI"/>
              </a:rPr>
              <a:t>In order of effect</a:t>
            </a:r>
          </a:p>
        </p:txBody>
      </p:sp>
      <p:sp>
        <p:nvSpPr>
          <p:cNvPr id="19" name="TextBox 18"/>
          <p:cNvSpPr txBox="1"/>
          <p:nvPr/>
        </p:nvSpPr>
        <p:spPr>
          <a:xfrm>
            <a:off x="6516471" y="2999231"/>
            <a:ext cx="4641951" cy="2267712"/>
          </a:xfrm>
          <a:prstGeom prst="rect">
            <a:avLst/>
          </a:prstGeom>
          <a:noFill/>
        </p:spPr>
        <p:txBody>
          <a:bodyPr wrap="square" lIns="0" rIns="0" tIns="0" bIns="0" anchor="t">
            <a:spAutoFit/>
          </a:bodyPr>
          <a:lstStyle/>
          <a:p>
            <a:pPr algn="l" marL="146304" indent="-146304">
              <a:lnSpc>
                <a:spcPct val="128000"/>
              </a:lnSpc>
              <a:spcBef>
                <a:spcPts val="0"/>
              </a:spcBef>
              <a:spcAft>
                <a:spcPts val="500"/>
              </a:spcAft>
              <a:buClr>
                <a:srgbClr val="7C3AED"/>
              </a:buClr>
              <a:buSzPct val="85000"/>
              <a:buFont typeface="Arial"/>
              <a:buChar char="▪"/>
            </a:pPr>
            <a:r>
              <a:rPr sz="1050" b="1">
                <a:solidFill>
                  <a:srgbClr val="3B4166"/>
                </a:solidFill>
                <a:latin typeface="Segoe UI"/>
              </a:rPr>
              <a:t>GPU offload first. </a:t>
            </a:r>
            <a:r>
              <a:rPr sz="1050" b="0">
                <a:solidFill>
                  <a:srgbClr val="6C7191"/>
                </a:solidFill>
                <a:latin typeface="Segoe UI"/>
              </a:rPr>
              <a:t>LEARNMATE_N_GPU_LAYERS=-1 on a Metal or CUDA build, with API_WARM_MODELS=1 so both models load at boot rather than inside the first question. This is the line that turns tens of seconds into seconds.</a:t>
            </a:r>
          </a:p>
          <a:p>
            <a:pPr algn="l" marL="146304" indent="-146304">
              <a:lnSpc>
                <a:spcPct val="128000"/>
              </a:lnSpc>
              <a:spcBef>
                <a:spcPts val="0"/>
              </a:spcBef>
              <a:spcAft>
                <a:spcPts val="500"/>
              </a:spcAft>
              <a:buClr>
                <a:srgbClr val="7C3AED"/>
              </a:buClr>
              <a:buSzPct val="85000"/>
              <a:buFont typeface="Arial"/>
              <a:buChar char="▪"/>
            </a:pPr>
            <a:r>
              <a:rPr sz="1050" b="1">
                <a:solidFill>
                  <a:srgbClr val="3B4166"/>
                </a:solidFill>
                <a:latin typeface="Segoe UI"/>
              </a:rPr>
              <a:t>Keycloak from start-dev to start. </a:t>
            </a:r>
            <a:r>
              <a:rPr sz="1050" b="0">
                <a:solidFill>
                  <a:srgbClr val="6C7191"/>
                </a:solidFill>
                <a:latin typeface="Segoe UI"/>
              </a:rPr>
              <a:t>TLS and a real database behind it, instead of the embedded development store.</a:t>
            </a:r>
          </a:p>
          <a:p>
            <a:pPr algn="l" marL="146304" indent="-146304">
              <a:lnSpc>
                <a:spcPct val="128000"/>
              </a:lnSpc>
              <a:spcBef>
                <a:spcPts val="0"/>
              </a:spcBef>
              <a:spcAft>
                <a:spcPts val="500"/>
              </a:spcAft>
              <a:buClr>
                <a:srgbClr val="7C3AED"/>
              </a:buClr>
              <a:buSzPct val="85000"/>
              <a:buFont typeface="Arial"/>
              <a:buChar char="▪"/>
            </a:pPr>
            <a:r>
              <a:rPr sz="1050" b="1">
                <a:solidFill>
                  <a:srgbClr val="3B4166"/>
                </a:solidFill>
                <a:latin typeface="Segoe UI"/>
              </a:rPr>
              <a:t>Containerise the API </a:t>
            </a:r>
            <a:r>
              <a:rPr sz="1050" b="0">
                <a:solidFill>
                  <a:srgbClr val="6C7191"/>
                </a:solidFill>
                <a:latin typeface="Segoe UI"/>
              </a:rPr>
              <a:t>alongside Mongo and Qdrant, with backups on the named volumes — Mongo is the only one that is not rebuildable.</a:t>
            </a:r>
          </a:p>
          <a:p>
            <a:pPr algn="l" marL="146304" indent="-146304">
              <a:lnSpc>
                <a:spcPct val="128000"/>
              </a:lnSpc>
              <a:spcBef>
                <a:spcPts val="0"/>
              </a:spcBef>
              <a:spcAft>
                <a:spcPts val="500"/>
              </a:spcAft>
              <a:buClr>
                <a:srgbClr val="7C3AED"/>
              </a:buClr>
              <a:buSzPct val="85000"/>
              <a:buFont typeface="Arial"/>
              <a:buChar char="▪"/>
            </a:pPr>
            <a:r>
              <a:rPr sz="1050" b="1">
                <a:solidFill>
                  <a:srgbClr val="3B4166"/>
                </a:solidFill>
                <a:latin typeface="Segoe UI"/>
              </a:rPr>
              <a:t>Promote a fine-tune when it earns it. </a:t>
            </a:r>
            <a:r>
              <a:rPr sz="1050" b="0">
                <a:solidFill>
                  <a:srgbClr val="6C7191"/>
                </a:solidFill>
                <a:latin typeface="Segoe UI"/>
              </a:rPr>
              <a:t>The moment a candidate passes document-held-out, pointing the app at it is two lines of .env.</a:t>
            </a:r>
          </a:p>
        </p:txBody>
      </p:sp>
      <p:sp>
        <p:nvSpPr>
          <p:cNvPr id="20" name="Rounded Rectangle 19"/>
          <p:cNvSpPr/>
          <p:nvPr/>
        </p:nvSpPr>
        <p:spPr>
          <a:xfrm>
            <a:off x="777240" y="5413248"/>
            <a:ext cx="10637215" cy="749808"/>
          </a:xfrm>
          <a:prstGeom prst="roundRect">
            <a:avLst>
              <a:gd name="adj" fmla="val 10000"/>
            </a:avLst>
          </a:prstGeom>
          <a:solidFill>
            <a:srgbClr val="F7F8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77240" y="5541264"/>
            <a:ext cx="41148" cy="493775"/>
          </a:xfrm>
          <a:prstGeom prst="rect">
            <a:avLst/>
          </a:prstGeom>
          <a:solidFill>
            <a:srgbClr val="6C71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51560" y="5413248"/>
            <a:ext cx="10106863" cy="749808"/>
          </a:xfrm>
          <a:prstGeom prst="rect">
            <a:avLst/>
          </a:prstGeom>
          <a:noFill/>
        </p:spPr>
        <p:txBody>
          <a:bodyPr wrap="square" lIns="0" rIns="0" tIns="0" bIns="0" anchor="ctr">
            <a:spAutoFit/>
          </a:bodyPr>
          <a:lstStyle/>
          <a:p>
            <a:pPr algn="l">
              <a:lnSpc>
                <a:spcPct val="132000"/>
              </a:lnSpc>
              <a:spcBef>
                <a:spcPts val="0"/>
              </a:spcBef>
              <a:spcAft>
                <a:spcPts val="0"/>
              </a:spcAft>
            </a:pPr>
            <a:r>
              <a:rPr sz="1100" b="0" i="0">
                <a:solidFill>
                  <a:srgbClr val="3B4166"/>
                </a:solidFill>
                <a:latin typeface="Segoe UI"/>
              </a:rPr>
              <a:t>None of this requires rewriting the application. The seams it was built around — the job queue, the model-backend interface, the single ownership check — are the same seams every one of these steps uses.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1230"/>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1005840" y="2514600"/>
            <a:ext cx="10637215" cy="274320"/>
          </a:xfrm>
          <a:prstGeom prst="rect">
            <a:avLst/>
          </a:prstGeom>
          <a:noFill/>
        </p:spPr>
        <p:txBody>
          <a:bodyPr wrap="square" lIns="0" rIns="0" tIns="0" bIns="0" anchor="t">
            <a:spAutoFit/>
          </a:bodyPr>
          <a:lstStyle/>
          <a:p>
            <a:pPr algn="l">
              <a:lnSpc>
                <a:spcPct val="122000"/>
              </a:lnSpc>
              <a:spcBef>
                <a:spcPts val="0"/>
              </a:spcBef>
              <a:spcAft>
                <a:spcPts val="0"/>
              </a:spcAft>
            </a:pPr>
            <a:r>
              <a:rPr sz="1000" b="1" i="0" spc="190">
                <a:solidFill>
                  <a:srgbClr val="7C86BC"/>
                </a:solidFill>
                <a:latin typeface="Segoe UI"/>
              </a:rPr>
              <a:t>GROUP 8  ·  SEMESTER 5</a:t>
            </a:r>
          </a:p>
        </p:txBody>
      </p:sp>
      <p:sp>
        <p:nvSpPr>
          <p:cNvPr id="4" name="TextBox 3"/>
          <p:cNvSpPr txBox="1"/>
          <p:nvPr/>
        </p:nvSpPr>
        <p:spPr>
          <a:xfrm>
            <a:off x="1005840" y="2852928"/>
            <a:ext cx="8808415" cy="822960"/>
          </a:xfrm>
          <a:prstGeom prst="rect">
            <a:avLst/>
          </a:prstGeom>
          <a:noFill/>
        </p:spPr>
        <p:txBody>
          <a:bodyPr wrap="square" lIns="0" rIns="0" tIns="0" bIns="0" anchor="t">
            <a:spAutoFit/>
          </a:bodyPr>
          <a:lstStyle/>
          <a:p>
            <a:pPr algn="l">
              <a:lnSpc>
                <a:spcPct val="100000"/>
              </a:lnSpc>
              <a:spcBef>
                <a:spcPts val="0"/>
              </a:spcBef>
              <a:spcAft>
                <a:spcPts val="0"/>
              </a:spcAft>
            </a:pPr>
            <a:r>
              <a:rPr sz="3600" b="1" i="0" spc="-20">
                <a:solidFill>
                  <a:srgbClr val="FFFFFF"/>
                </a:solidFill>
                <a:latin typeface="Segoe UI"/>
              </a:rPr>
              <a:t>Thank you</a:t>
            </a:r>
          </a:p>
        </p:txBody>
      </p:sp>
      <p:sp>
        <p:nvSpPr>
          <p:cNvPr id="5" name="Rectangle 4"/>
          <p:cNvSpPr/>
          <p:nvPr/>
        </p:nvSpPr>
        <p:spPr>
          <a:xfrm>
            <a:off x="1005840" y="3895344"/>
            <a:ext cx="502920" cy="45720"/>
          </a:xfrm>
          <a:prstGeom prst="rect">
            <a:avLst/>
          </a:prstGeom>
          <a:solidFill>
            <a:srgbClr val="234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05840" y="4187952"/>
            <a:ext cx="7132320" cy="731520"/>
          </a:xfrm>
          <a:prstGeom prst="rect">
            <a:avLst/>
          </a:prstGeom>
          <a:noFill/>
        </p:spPr>
        <p:txBody>
          <a:bodyPr wrap="square" lIns="0" rIns="0" tIns="0" bIns="0" anchor="t">
            <a:spAutoFit/>
          </a:bodyPr>
          <a:lstStyle/>
          <a:p>
            <a:pPr algn="l">
              <a:lnSpc>
                <a:spcPct val="134000"/>
              </a:lnSpc>
              <a:spcBef>
                <a:spcPts val="0"/>
              </a:spcBef>
              <a:spcAft>
                <a:spcPts val="0"/>
              </a:spcAft>
            </a:pPr>
            <a:r>
              <a:rPr sz="1300" b="0" i="0">
                <a:solidFill>
                  <a:srgbClr val="A6AEDA"/>
                </a:solidFill>
                <a:latin typeface="Segoe UI"/>
              </a:rPr>
              <a:t>Questions welcome.</a:t>
            </a:r>
          </a:p>
        </p:txBody>
      </p:sp>
      <p:sp>
        <p:nvSpPr>
          <p:cNvPr id="7" name="Rounded Rectangle 6"/>
          <p:cNvSpPr/>
          <p:nvPr/>
        </p:nvSpPr>
        <p:spPr>
          <a:xfrm>
            <a:off x="6949440" y="2148840"/>
            <a:ext cx="4462272" cy="2560320"/>
          </a:xfrm>
          <a:prstGeom prst="roundRect">
            <a:avLst>
              <a:gd name="adj" fmla="val 6000"/>
            </a:avLst>
          </a:prstGeom>
          <a:solidFill>
            <a:srgbClr val="161C3A"/>
          </a:solidFill>
          <a:ln w="9525">
            <a:solidFill>
              <a:srgbClr val="232A5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269480" y="2432304"/>
            <a:ext cx="3840480" cy="237744"/>
          </a:xfrm>
          <a:prstGeom prst="rect">
            <a:avLst/>
          </a:prstGeom>
          <a:noFill/>
        </p:spPr>
        <p:txBody>
          <a:bodyPr wrap="square" lIns="0" rIns="0" tIns="0" bIns="0" anchor="t">
            <a:spAutoFit/>
          </a:bodyPr>
          <a:lstStyle/>
          <a:p>
            <a:pPr algn="l">
              <a:lnSpc>
                <a:spcPct val="122000"/>
              </a:lnSpc>
              <a:spcBef>
                <a:spcPts val="0"/>
              </a:spcBef>
              <a:spcAft>
                <a:spcPts val="0"/>
              </a:spcAft>
            </a:pPr>
            <a:r>
              <a:rPr sz="850" b="1" i="0" spc="150">
                <a:solidFill>
                  <a:srgbClr val="7C86BC"/>
                </a:solidFill>
                <a:latin typeface="Segoe UI"/>
              </a:rPr>
              <a:t>WHAT WE BUILT</a:t>
            </a:r>
          </a:p>
        </p:txBody>
      </p:sp>
      <p:sp>
        <p:nvSpPr>
          <p:cNvPr id="9" name="TextBox 8"/>
          <p:cNvSpPr txBox="1"/>
          <p:nvPr/>
        </p:nvSpPr>
        <p:spPr>
          <a:xfrm>
            <a:off x="7269480" y="2761488"/>
            <a:ext cx="3840480" cy="1828800"/>
          </a:xfrm>
          <a:prstGeom prst="rect">
            <a:avLst/>
          </a:prstGeom>
          <a:noFill/>
        </p:spPr>
        <p:txBody>
          <a:bodyPr wrap="square" lIns="0" rIns="0" tIns="0" bIns="0" anchor="t">
            <a:spAutoFit/>
          </a:bodyPr>
          <a:lstStyle/>
          <a:p>
            <a:pPr algn="l">
              <a:lnSpc>
                <a:spcPct val="122000"/>
              </a:lnSpc>
              <a:spcBef>
                <a:spcPts val="0"/>
              </a:spcBef>
              <a:spcAft>
                <a:spcPts val="0"/>
              </a:spcAft>
            </a:pPr>
            <a:r>
              <a:rPr sz="1000" b="1">
                <a:solidFill>
                  <a:srgbClr val="FFFFFF"/>
                </a:solidFill>
                <a:latin typeface="Segoe UI"/>
              </a:rPr>
              <a:t>Grounded chat
</a:t>
            </a:r>
            <a:r>
              <a:rPr sz="1000" b="0">
                <a:solidFill>
                  <a:srgbClr val="8E96C4"/>
                </a:solidFill>
                <a:latin typeface="Segoe UI"/>
              </a:rPr>
              <a:t>answers that cite their pages</a:t>
            </a:r>
          </a:p>
          <a:p>
            <a:pPr algn="l">
              <a:lnSpc>
                <a:spcPct val="122000"/>
              </a:lnSpc>
              <a:spcBef>
                <a:spcPts val="1200"/>
              </a:spcBef>
              <a:spcAft>
                <a:spcPts val="0"/>
              </a:spcAft>
            </a:pPr>
            <a:r>
              <a:rPr sz="1000" b="1">
                <a:solidFill>
                  <a:srgbClr val="FFFFFF"/>
                </a:solidFill>
                <a:latin typeface="Segoe UI"/>
              </a:rPr>
              <a:t>Four resource types
</a:t>
            </a:r>
            <a:r>
              <a:rPr sz="1000" b="0">
                <a:solidFill>
                  <a:srgbClr val="8E96C4"/>
                </a:solidFill>
                <a:latin typeface="Segoe UI"/>
              </a:rPr>
              <a:t>each with its own structural gate</a:t>
            </a:r>
          </a:p>
          <a:p>
            <a:pPr algn="l">
              <a:lnSpc>
                <a:spcPct val="122000"/>
              </a:lnSpc>
              <a:spcBef>
                <a:spcPts val="1200"/>
              </a:spcBef>
              <a:spcAft>
                <a:spcPts val="0"/>
              </a:spcAft>
            </a:pPr>
            <a:r>
              <a:rPr sz="1000" b="1">
                <a:solidFill>
                  <a:srgbClr val="FFFFFF"/>
                </a:solidFill>
                <a:latin typeface="Segoe UI"/>
              </a:rPr>
              <a:t>A judge that can say no
</a:t>
            </a:r>
            <a:r>
              <a:rPr sz="1000" b="0">
                <a:solidFill>
                  <a:srgbClr val="8E96C4"/>
                </a:solidFill>
                <a:latin typeface="Segoe UI"/>
              </a:rPr>
              <a:t>and one retry when it does</a:t>
            </a:r>
          </a:p>
          <a:p>
            <a:pPr algn="l">
              <a:lnSpc>
                <a:spcPct val="122000"/>
              </a:lnSpc>
              <a:spcBef>
                <a:spcPts val="1200"/>
              </a:spcBef>
              <a:spcAft>
                <a:spcPts val="0"/>
              </a:spcAft>
            </a:pPr>
            <a:r>
              <a:rPr sz="1000" b="1">
                <a:solidFill>
                  <a:srgbClr val="FFFFFF"/>
                </a:solidFill>
                <a:latin typeface="Segoe UI"/>
              </a:rPr>
              <a:t>Entirely local
</a:t>
            </a:r>
            <a:r>
              <a:rPr sz="1000" b="0">
                <a:solidFill>
                  <a:srgbClr val="8E96C4"/>
                </a:solidFill>
                <a:latin typeface="Segoe UI"/>
              </a:rPr>
              <a:t>two 3B models, no network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