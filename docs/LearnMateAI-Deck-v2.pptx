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1B2350"/>
          </a:solidFill>
          <a:ln w="12700">
            <a:solidFill>
              <a:srgbClr val="1B23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566160"/>
            <a:ext cx="3108960" cy="3108960"/>
          </a:xfrm>
          <a:prstGeom prst="ellipse">
            <a:avLst/>
          </a:prstGeom>
          <a:solidFill>
            <a:srgbClr val="171E45"/>
          </a:solidFill>
          <a:ln w="12700">
            <a:solidFill>
              <a:srgbClr val="171E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5  ·  GROUP PROJECT  ·  GROUP 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66928" y="2788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7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E-Learning Platform for Self-Learning Using Large Language Models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3794760"/>
            <a:ext cx="1005840" cy="45720"/>
          </a:xfrm>
          <a:prstGeom prst="rect">
            <a:avLst/>
          </a:prstGeom>
          <a:solidFill>
            <a:srgbClr val="2340E0"/>
          </a:solidFill>
          <a:ln w="12700">
            <a:solidFill>
              <a:srgbClr val="234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114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Dinura N. Ginige   ·   Tharumini Gamage   ·   Thevindu Fernando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4617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runs locally. No uploaded document ever leaves the machine.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PDF cannot be asked a question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material a student already has is hard to actually study from.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3492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92224"/>
            <a:ext cx="310896" cy="310896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25296" y="184708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material is static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25296" y="212140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be read start to finish, but not interrogated, quizzed against, or summarised on demand.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572768"/>
            <a:ext cx="53492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91656" y="1792224"/>
            <a:ext cx="310896" cy="310896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91656" y="1792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30568" y="184708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chatbots answer from the internet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30568" y="212140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from your lecture notes — and with no page you can turn to and check.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108960"/>
            <a:ext cx="53492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6384" y="3328416"/>
            <a:ext cx="310896" cy="310896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328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25296" y="33832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study material is unverified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25296" y="365760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MCQ with the wrong option marked correct teaches the wrong thing, confidently.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108960"/>
            <a:ext cx="53492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91656" y="3328416"/>
            <a:ext cx="310896" cy="310896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1656" y="3328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30568" y="33832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material is sensitive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30568" y="365760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Uploading a department's notes to a cloud model is a privacy question most institutions cannot answer.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4645152"/>
            <a:ext cx="534924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6384" y="4864608"/>
            <a:ext cx="310896" cy="310896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" y="4864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25296" y="491947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Lankan legal education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25296" y="519379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little digitised, subject-aligned material exists to study from in the first place.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4645152"/>
            <a:ext cx="5349240" cy="1298448"/>
          </a:xfrm>
          <a:prstGeom prst="roundRect">
            <a:avLst>
              <a:gd name="adj" fmla="val 7042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73368" y="4736592"/>
            <a:ext cx="49469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requirement: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has to be traceable to its source and checked before delivery. Without both, a generated summary and a confident guess look identical from the outside.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LearnMateAI does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PDF. Ask it questions and get answers that cite the pages they came from, or generate study material from it — and everything the system produces is graded by a second model before it reaches you.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670048" cy="269748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66544"/>
            <a:ext cx="310896" cy="310896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256032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962656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extract, clean, chunk and embed a PDF. Page numbers survive the whole pipeline — they are what citations point at.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56432" y="1828800"/>
            <a:ext cx="2670048" cy="269748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94176" y="2066544"/>
            <a:ext cx="310896" cy="310896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94176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94176" y="256032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94176" y="2962656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built from retrieved passages, carrying the pages they came from. A question the document does not cover is answered separately, without citations.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45936" y="1828800"/>
            <a:ext cx="2670048" cy="269748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0" y="2066544"/>
            <a:ext cx="310896" cy="310896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256032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2962656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key points, MCQs and short-answer practice questions — from one passage or pooled across the whole document.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35440" y="1828800"/>
            <a:ext cx="2670048" cy="269748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73184" y="2066544"/>
            <a:ext cx="310896" cy="310896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73184" y="2066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473184" y="2560320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73184" y="2962656"/>
            <a:ext cx="2212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validators first, then a second model from a different family grades the output and can send it back for one more attempt.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498348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3B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66928" y="544068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56432" y="498348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456432" y="544068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collections + GridFS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45936" y="498348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345936" y="544068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types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235440" y="4983480"/>
            <a:ext cx="267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100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235440" y="544068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pass threshold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machine, four moving parts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talks to FastAPI over JSON and a bearer token. The backend is split into a web layer and an engine that knows nothing about HTTP.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602736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938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222199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integrated-frontend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24328"/>
            <a:ext cx="3090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8 · Tailwind 4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7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with two interceptors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useJob polls 202 → done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87952" y="278892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43984" y="1691640"/>
            <a:ext cx="3602736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0016" y="192938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00016" y="222199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integrated-backend · FastAPI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0016" y="2624328"/>
            <a:ext cx="3090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 — routers, services, auth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ownership checks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learnmate/ — the engine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· agents · evaluator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65008" y="278892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21040" y="1691640"/>
            <a:ext cx="3602736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77072" y="192938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577072" y="222199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identity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77072" y="2624328"/>
            <a:ext cx="3090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8 :27018 (+ GridFS)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1.18 :6335 (HNSW)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Q4 GGUF via llama.cpp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26 :8081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4434840"/>
            <a:ext cx="11057839" cy="1417320"/>
          </a:xfrm>
          <a:prstGeom prst="roundRect">
            <a:avLst>
              <a:gd name="adj" fmla="val 6452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4526280"/>
            <a:ext cx="10655503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slow is a job.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 on a 3B model takes tens of seconds, so no slow endpoint holds a connection open. Upload, generation and chat each answer 202 with a job id, and the client polls /api/jobs/{id} through queued → running → done. The queue lives in MongoDB, not in memory, so reloading the page does not lose your place. One worker thread — because llama_cpp.Llama holds a single mutable context, and two threads generating at once corrupt both replies.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tracks, merged on main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built their part as a standalone component first. Work landed on feature branches and pull requests into main, then the pieces were integrated into one application.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57839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92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Dinura N. Ginige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221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&amp; integration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55848" y="1929384"/>
            <a:ext cx="79488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and resource agents as LangGraph state machines · evaluator (validators + LLM judge) · retrieval, embeddings, reranking · auth, jobs and ownership · integration of all components · frontend shell and design system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926080"/>
            <a:ext cx="11057839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3127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Tharumini Gamage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resources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55848" y="3163824"/>
            <a:ext cx="79488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document-processing pipeline · resource generator service · backend API and database work · frontend pages and layouts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4160520"/>
            <a:ext cx="11057839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4361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Thevindu Fernando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4690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ML track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55848" y="4398264"/>
            <a:ext cx="79488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Lankan legal corpus → instruction pairs · LoRA / QLoRA fine-tune of Qwen 2.5 · evaluation gate and version registry · MLOps promote / rollback workflow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54864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standalone components — components-Dinura/, backend/, frontend/ — are kept frozen as references. The live application is integrated-backend/ + integrated-frontend/; model-Thevindu/ stays out of the request path by design.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progress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is complete end to end and running locally. What remains is verification and deployment, not features.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4924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1109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now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377440"/>
            <a:ext cx="4800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5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pipeline — validate, extract, clean, chunk, embed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15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chat agent with page citations and one retry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15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resource types, each with its own structural gate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15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judge, rubrics per task, every verdict logged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15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ownership, background job queue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15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frontend: dashboard, documents, resources, chat, analytics, dark mode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91109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2377440"/>
            <a:ext cx="4800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5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fine-tune — first candidate failed its gate, not promoted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15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over the engine, pytest suite in CI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15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Judge-score regression tracking across prompt changes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15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offload and warm model loading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15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from start-dev to start, with TLS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15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 the API, back up the named volumes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5596128"/>
            <a:ext cx="11057839" cy="640080"/>
          </a:xfrm>
          <a:prstGeom prst="roundRect">
            <a:avLst>
              <a:gd name="adj" fmla="val 14286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5687568"/>
            <a:ext cx="106555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user-facing feature in this deck is running against local models on a single machine — the screenshots that follow are of the working system.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is indexed once. Every question then runs the RAG path inside a LangGraph agent, and nothing is stored before the judge has seen it.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3547872" cy="502920"/>
          </a:xfrm>
          <a:prstGeom prst="roundRect">
            <a:avLst>
              <a:gd name="adj" fmla="val 14545"/>
            </a:avLst>
          </a:prstGeom>
          <a:solidFill>
            <a:srgbClr val="E5E9FE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188720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SPA  ·  Documents · Chat · Resources · Analytics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42232" y="1362456"/>
            <a:ext cx="155448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25112" y="1188720"/>
            <a:ext cx="3547872" cy="502920"/>
          </a:xfrm>
          <a:prstGeom prst="roundRect">
            <a:avLst>
              <a:gd name="adj" fmla="val 14545"/>
            </a:avLst>
          </a:prstGeom>
          <a:solidFill>
            <a:srgbClr val="E5E9FE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79976" y="1188720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+ Bearer JWT  ·  useJob polls /api/jobs/{id}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900416" y="1362456"/>
            <a:ext cx="155448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83296" y="1188720"/>
            <a:ext cx="3547872" cy="502920"/>
          </a:xfrm>
          <a:prstGeom prst="roundRect">
            <a:avLst>
              <a:gd name="adj" fmla="val 14545"/>
            </a:avLst>
          </a:prstGeom>
          <a:solidFill>
            <a:srgbClr val="E5E9FE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1188720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routers · auth · ownership · job queue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0" y="1737360"/>
            <a:ext cx="0" cy="182880"/>
          </a:xfrm>
          <a:prstGeom prst="line">
            <a:avLst/>
          </a:prstGeom>
          <a:noFill/>
          <a:ln w="19050">
            <a:solidFill>
              <a:srgbClr val="8E99D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321040" y="1737360"/>
            <a:ext cx="0" cy="182880"/>
          </a:xfrm>
          <a:prstGeom prst="line">
            <a:avLst/>
          </a:prstGeom>
          <a:noFill/>
          <a:ln w="19050">
            <a:solidFill>
              <a:srgbClr val="8E99D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6928" y="1938528"/>
            <a:ext cx="11057839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8DDF4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8096" y="2039112"/>
            <a:ext cx="106555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 ·  RUNS ONCE PER DOCUMENT, IN THE BACKGROUND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9808" y="2249424"/>
            <a:ext cx="1629613" cy="749808"/>
          </a:xfrm>
          <a:prstGeom prst="roundRect">
            <a:avLst>
              <a:gd name="adj" fmla="val 9756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331720"/>
            <a:ext cx="15198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4672" y="2560320"/>
            <a:ext cx="15198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 MB · ≤ 300 pages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97709" y="2551176"/>
            <a:ext cx="146304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2301" y="2249424"/>
            <a:ext cx="1629613" cy="749808"/>
          </a:xfrm>
          <a:prstGeom prst="roundRect">
            <a:avLst>
              <a:gd name="adj" fmla="val 9756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17165" y="2331720"/>
            <a:ext cx="15198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17165" y="2560320"/>
            <a:ext cx="15198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· corrupt · page count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210202" y="2551176"/>
            <a:ext cx="146304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74794" y="2249424"/>
            <a:ext cx="1629613" cy="749808"/>
          </a:xfrm>
          <a:prstGeom prst="roundRect">
            <a:avLst>
              <a:gd name="adj" fmla="val 9756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29658" y="2331720"/>
            <a:ext cx="15198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429658" y="2560320"/>
            <a:ext cx="15198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PyMuPDF, page by page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022696" y="2551176"/>
            <a:ext cx="146304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87288" y="2249424"/>
            <a:ext cx="1629613" cy="749808"/>
          </a:xfrm>
          <a:prstGeom prst="roundRect">
            <a:avLst>
              <a:gd name="adj" fmla="val 9756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2152" y="2331720"/>
            <a:ext cx="15198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42152" y="2560320"/>
            <a:ext cx="15198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 · ligatures · hyphens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835189" y="2551176"/>
            <a:ext cx="146304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99781" y="2249424"/>
            <a:ext cx="1629613" cy="749808"/>
          </a:xfrm>
          <a:prstGeom prst="roundRect">
            <a:avLst>
              <a:gd name="adj" fmla="val 9756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54645" y="2331720"/>
            <a:ext cx="15198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54645" y="2560320"/>
            <a:ext cx="15198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chars / 150 overlap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647682" y="2551176"/>
            <a:ext cx="146304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12274" y="2249424"/>
            <a:ext cx="1629613" cy="749808"/>
          </a:xfrm>
          <a:prstGeom prst="roundRect">
            <a:avLst>
              <a:gd name="adj" fmla="val 9756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67138" y="2331720"/>
            <a:ext cx="15198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867138" y="2560320"/>
            <a:ext cx="15198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→ Qdrant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089904" y="3163824"/>
            <a:ext cx="0" cy="182880"/>
          </a:xfrm>
          <a:prstGeom prst="line">
            <a:avLst/>
          </a:prstGeom>
          <a:noFill/>
          <a:ln w="19050">
            <a:solidFill>
              <a:srgbClr val="8E99D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66928" y="3346704"/>
            <a:ext cx="11057839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8DDF4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68096" y="3447288"/>
            <a:ext cx="106555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10" kern="0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  ·  ONE PASS PER CHAT TURN OR RESOURCE REQUEST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9808" y="3648456"/>
            <a:ext cx="914400" cy="109728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" y="373075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04672" y="3959352"/>
            <a:ext cx="804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pronouns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6 turns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882384" y="3648456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F2F4FE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37248" y="3730752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 —  RAG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992112" y="3977640"/>
            <a:ext cx="2615184" cy="214884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 w="12700">
            <a:solidFill>
              <a:srgbClr val="D8DDF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37832" y="3977640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 ·  question → 384-d vector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992112" y="4215384"/>
            <a:ext cx="2615184" cy="214884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 w="12700">
            <a:solidFill>
              <a:srgbClr val="D8DDF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37832" y="4215384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ANN search  ·  top 20 candidates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992112" y="4453128"/>
            <a:ext cx="2615184" cy="214884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 w="12700">
            <a:solidFill>
              <a:srgbClr val="D8DDF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37832" y="4453128"/>
            <a:ext cx="2523744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 cross-encoder rerank  ·  top 3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935200" y="3648456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2F4FE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90064" y="373075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026640" y="3977640"/>
            <a:ext cx="1737360" cy="214884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 w="12700">
            <a:solidFill>
              <a:srgbClr val="D8DDF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72360" y="3977640"/>
            <a:ext cx="1645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BaseChatModel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026640" y="4215384"/>
            <a:ext cx="1737360" cy="214884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 w="12700">
            <a:solidFill>
              <a:srgbClr val="D8DDF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72360" y="4215384"/>
            <a:ext cx="1645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Qwen2.5-3B · llama.cpp Q4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026640" y="4453128"/>
            <a:ext cx="1737360" cy="214884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 w="12700">
            <a:solidFill>
              <a:srgbClr val="D8DDF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72360" y="4453128"/>
            <a:ext cx="1645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grammar-constrained JSON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073616" y="3648456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F2F4FE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28480" y="373075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7165056" y="3977640"/>
            <a:ext cx="1737360" cy="214884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 w="12700">
            <a:solidFill>
              <a:srgbClr val="D8DDF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10776" y="3977640"/>
            <a:ext cx="1645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validators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7165056" y="4215384"/>
            <a:ext cx="1737360" cy="214884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 w="12700">
            <a:solidFill>
              <a:srgbClr val="D8DDF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10776" y="4215384"/>
            <a:ext cx="1645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Llama-3.2-3B judge · rubric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165056" y="4453128"/>
            <a:ext cx="1737360" cy="214884"/>
          </a:xfrm>
          <a:prstGeom prst="roundRect">
            <a:avLst>
              <a:gd name="adj" fmla="val 25532"/>
            </a:avLst>
          </a:prstGeom>
          <a:solidFill>
            <a:srgbClr val="FFFFFF"/>
          </a:solidFill>
          <a:ln w="12700">
            <a:solidFill>
              <a:srgbClr val="D8DDF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210776" y="4453128"/>
            <a:ext cx="164592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70 to pass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9212031" y="3648456"/>
            <a:ext cx="1005840" cy="1097280"/>
          </a:xfrm>
          <a:prstGeom prst="roundRect">
            <a:avLst>
              <a:gd name="adj" fmla="val 7273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266895" y="373075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9266895" y="3959352"/>
            <a:ext cx="896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accept,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retry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0436047" y="3648456"/>
            <a:ext cx="1005840" cy="1097280"/>
          </a:xfrm>
          <a:prstGeom prst="roundRect">
            <a:avLst>
              <a:gd name="adj" fmla="val 7273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490911" y="373075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10490911" y="3959352"/>
            <a:ext cx="896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chat_turns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1682496" y="4123944"/>
            <a:ext cx="181600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35312" y="4123944"/>
            <a:ext cx="181600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873728" y="4123944"/>
            <a:ext cx="181600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012144" y="4123944"/>
            <a:ext cx="181600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236159" y="4123944"/>
            <a:ext cx="181600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714951" y="4745736"/>
            <a:ext cx="0" cy="256032"/>
          </a:xfrm>
          <a:prstGeom prst="line">
            <a:avLst/>
          </a:prstGeom>
          <a:noFill/>
          <a:ln w="19050">
            <a:solidFill>
              <a:srgbClr val="2340E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895320" y="4745736"/>
            <a:ext cx="0" cy="256032"/>
          </a:xfrm>
          <a:prstGeom prst="line">
            <a:avLst/>
          </a:prstGeom>
          <a:noFill/>
          <a:ln w="19050">
            <a:solidFill>
              <a:srgbClr val="2340E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895320" y="5001768"/>
            <a:ext cx="3819632" cy="0"/>
          </a:xfrm>
          <a:prstGeom prst="line">
            <a:avLst/>
          </a:prstGeom>
          <a:noFill/>
          <a:ln w="19050">
            <a:solidFill>
              <a:srgbClr val="2340E0"/>
            </a:solidFill>
            <a:prstDash val="solid"/>
            <a:headEnd type="triangle"/>
          </a:ln>
        </p:spPr>
      </p:sp>
      <p:sp>
        <p:nvSpPr>
          <p:cNvPr id="83" name="Text 81"/>
          <p:cNvSpPr/>
          <p:nvPr/>
        </p:nvSpPr>
        <p:spPr>
          <a:xfrm>
            <a:off x="3883640" y="5056632"/>
            <a:ext cx="7842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once with the judge's instruction  ·  MAX_ATTEMPTS = 2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3840480" y="5394960"/>
            <a:ext cx="0" cy="164592"/>
          </a:xfrm>
          <a:prstGeom prst="line">
            <a:avLst/>
          </a:prstGeom>
          <a:noFill/>
          <a:ln w="19050">
            <a:solidFill>
              <a:srgbClr val="AAB2DE"/>
            </a:solidFill>
            <a:prstDash val="dash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8321040" y="5394960"/>
            <a:ext cx="0" cy="164592"/>
          </a:xfrm>
          <a:prstGeom prst="line">
            <a:avLst/>
          </a:prstGeom>
          <a:noFill/>
          <a:ln w="19050">
            <a:solidFill>
              <a:srgbClr val="AAB2DE"/>
            </a:solidFill>
            <a:prstDash val="dash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566928" y="5596128"/>
            <a:ext cx="2599868" cy="621792"/>
          </a:xfrm>
          <a:prstGeom prst="roundRect">
            <a:avLst>
              <a:gd name="adj" fmla="val 11765"/>
            </a:avLst>
          </a:prstGeom>
          <a:solidFill>
            <a:srgbClr val="E5E9FE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1792" y="5678424"/>
            <a:ext cx="24901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8  ·  :27018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621792" y="5907024"/>
            <a:ext cx="2490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collections + GridFS · job queue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3386252" y="5596128"/>
            <a:ext cx="2599868" cy="621792"/>
          </a:xfrm>
          <a:prstGeom prst="roundRect">
            <a:avLst>
              <a:gd name="adj" fmla="val 11765"/>
            </a:avLst>
          </a:prstGeom>
          <a:solidFill>
            <a:srgbClr val="E5E9FE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441116" y="5678424"/>
            <a:ext cx="24901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1.18  ·  :6335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3441116" y="5907024"/>
            <a:ext cx="2490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vectors · HNSW index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6205576" y="5596128"/>
            <a:ext cx="2599868" cy="621792"/>
          </a:xfrm>
          <a:prstGeom prst="roundRect">
            <a:avLst>
              <a:gd name="adj" fmla="val 11765"/>
            </a:avLst>
          </a:prstGeom>
          <a:solidFill>
            <a:srgbClr val="E5E9FE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260440" y="5678424"/>
            <a:ext cx="24901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runtime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260440" y="5907024"/>
            <a:ext cx="2490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Q4 GGUF, in the API process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9024899" y="5596128"/>
            <a:ext cx="2599868" cy="621792"/>
          </a:xfrm>
          <a:prstGeom prst="roundRect">
            <a:avLst>
              <a:gd name="adj" fmla="val 11765"/>
            </a:avLst>
          </a:prstGeom>
          <a:solidFill>
            <a:srgbClr val="E5E9FE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079763" y="5678424"/>
            <a:ext cx="24901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26  ·  :8081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9079763" y="5907024"/>
            <a:ext cx="2490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 · JWKS · themed login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PDF to something a model can search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 between the file a student drops and the index a question is answered from.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992112" cy="914400"/>
          </a:xfrm>
          <a:prstGeom prst="roundRect">
            <a:avLst>
              <a:gd name="adj" fmla="val 10000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27632"/>
            <a:ext cx="199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11096"/>
            <a:ext cx="184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≤10 MB · ≤300 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13904" y="1865376"/>
            <a:ext cx="164592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3360" y="1481328"/>
            <a:ext cx="1992112" cy="91440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3360" y="1627632"/>
            <a:ext cx="199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06512" y="1911096"/>
            <a:ext cx="184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PyMuPDF, page by page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80336" y="1865376"/>
            <a:ext cx="164592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99792" y="1481328"/>
            <a:ext cx="1992112" cy="91440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99792" y="1627632"/>
            <a:ext cx="199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72944" y="1911096"/>
            <a:ext cx="184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 · ligatures · hyphens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46768" y="1865376"/>
            <a:ext cx="164592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66224" y="1481328"/>
            <a:ext cx="1992112" cy="91440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6224" y="1627632"/>
            <a:ext cx="199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39376" y="1911096"/>
            <a:ext cx="184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chars / 150 overlap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413199" y="1865376"/>
            <a:ext cx="164592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32655" y="1481328"/>
            <a:ext cx="1992112" cy="914400"/>
          </a:xfrm>
          <a:prstGeom prst="roundRect">
            <a:avLst>
              <a:gd name="adj" fmla="val 10000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32655" y="1627632"/>
            <a:ext cx="199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05807" y="1911096"/>
            <a:ext cx="1845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→ Qdrant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928" y="265176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1248" y="28346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cleaning removes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" y="3218688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heads and footers repeated on every page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Ligatures rejoined into plain letters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Hyphenation reconnected across line breaks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under 80 characters dropped as noise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265176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46520" y="28346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document is represented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46520" y="3218688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— cleaned page text, what the models read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— 900-char overlapping windows on sentence boundaries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— one 384-dimension vector per chunk, HNSW index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GridFS — the original file, so text and PDF stay together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4983480"/>
            <a:ext cx="11057839" cy="914400"/>
          </a:xfrm>
          <a:prstGeom prst="roundRect">
            <a:avLst>
              <a:gd name="adj" fmla="val 10000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5074920"/>
            <a:ext cx="106555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once.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keyed by the SHA-256 of their bytes, so a file ten students upload is extracted and embedded a single time. That is also why ownership cannot be a field on the document and lives in user_documents instead.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models, all running locally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3B generators and two small retrieval models — no API key, no network call in the request path.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670048" cy="320040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9384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D1330"/>
          </a:solidFill>
          <a:ln w="12700">
            <a:solidFill>
              <a:srgbClr val="E7E9F5"/>
            </a:solidFill>
            <a:prstDash val="solid"/>
          </a:ln>
        </p:spPr>
      </p:sp>
      <p:pic>
        <p:nvPicPr>
          <p:cNvPr id="6" name="Image 0" descr="/tmp/deck/qw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110599"/>
            <a:ext cx="2011680" cy="5519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990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04672" y="32644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Qwen2.5-3B-Instruct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GGUF ≈ 2 GB · llama.cpp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every reply and resource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56432" y="1691640"/>
            <a:ext cx="2670048" cy="320040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94176" y="1929384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</p:spPr>
      </p:sp>
      <p:pic>
        <p:nvPicPr>
          <p:cNvPr id="12" name="Image 1" descr="/tmp/deck/llam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265" y="2020824"/>
            <a:ext cx="1570383" cy="731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94176" y="2990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3694176" y="32644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Llama-3.2-3B-Instruct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694176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GGUF ≈ 2 GB · llama.cpp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output against its source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345936" y="1691640"/>
            <a:ext cx="2670048" cy="320040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83680" y="1929384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</p:spPr>
      </p:sp>
      <p:pic>
        <p:nvPicPr>
          <p:cNvPr id="18" name="Image 2" descr="/tmp/deck/bienco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4357" y="2020824"/>
            <a:ext cx="1073207" cy="7315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83680" y="2990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BI-ENCODER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6583680" y="32644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58368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90 MB · 384-dim vectors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every chunk in ms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235440" y="1691640"/>
            <a:ext cx="2670048" cy="320040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473184" y="1929384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</p:spPr>
      </p:sp>
      <p:pic>
        <p:nvPicPr>
          <p:cNvPr id="24" name="Image 3" descr="/tmp/deck/crossen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6682" y="2020824"/>
            <a:ext cx="1467565" cy="7315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73184" y="29900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9473184" y="32644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ms-marco-MiniLM-L-6-v2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473184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90 MB · reranks 20 → 3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question and chunk together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66928" y="5120640"/>
            <a:ext cx="11057839" cy="914400"/>
          </a:xfrm>
          <a:prstGeom prst="roundRect">
            <a:avLst>
              <a:gd name="adj" fmla="val 10000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68096" y="5212080"/>
            <a:ext cx="106555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different family for the judge.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grading its own writing rates its own style highly, and the quality check quietly stops catching anything. Different weights means a genuine second opinion rather than a rubber stamp — and the two retrieval models split the job because searching everything and scoring one pair are not the same task.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stores, three jobs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 its own container and its own named volume, on a non-default host port.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602736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pic>
        <p:nvPicPr>
          <p:cNvPr id="5" name="Image 0" descr="/tmp/deck/mon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8139" y="1920240"/>
            <a:ext cx="800314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76148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8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41248" y="3072384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:27018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41248" y="338328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that is not a vector. An MCQ, a summary and a chat turn genuinely differ in shape, so a document database stores them without inventing a table for each.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43984" y="1645920"/>
            <a:ext cx="3602736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pic>
        <p:nvPicPr>
          <p:cNvPr id="10" name="Image 1" descr="/tmp/deck/qdra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731" y="1920240"/>
            <a:ext cx="1269242" cy="685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18304" y="276148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1.18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718304" y="3072384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:6335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718304" y="338328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collection of chunk vectors. Answers "which passages are closest in meaning to this question" in milliseconds using an HNSW index.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321040" y="1645920"/>
            <a:ext cx="3602736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pic>
        <p:nvPicPr>
          <p:cNvPr id="15" name="Image 2" descr="/tmp/deck/keycloa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4299" y="1920240"/>
            <a:ext cx="956217" cy="685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95360" y="2761488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26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595360" y="3072384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:8081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8595360" y="338328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 store: the learnmate realm, its public client and its users, imported from JSON the first time the volume is empty.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66928" y="45537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collections, plus the file bucket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66928" y="4882896"/>
            <a:ext cx="534924" cy="329184"/>
          </a:xfrm>
          <a:prstGeom prst="roundRect">
            <a:avLst>
              <a:gd name="adj" fmla="val 22222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66928" y="4882896"/>
            <a:ext cx="5349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1211580" y="4882896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211580" y="488289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user_documents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2555748" y="4882896"/>
            <a:ext cx="845820" cy="329184"/>
          </a:xfrm>
          <a:prstGeom prst="roundRect">
            <a:avLst>
              <a:gd name="adj" fmla="val 22222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555748" y="4882896"/>
            <a:ext cx="8458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511296" y="4882896"/>
            <a:ext cx="534924" cy="329184"/>
          </a:xfrm>
          <a:prstGeom prst="roundRect">
            <a:avLst>
              <a:gd name="adj" fmla="val 22222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511296" y="4882896"/>
            <a:ext cx="5349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155948" y="4882896"/>
            <a:ext cx="612648" cy="329184"/>
          </a:xfrm>
          <a:prstGeom prst="roundRect">
            <a:avLst>
              <a:gd name="adj" fmla="val 22222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155948" y="488289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878324" y="4882896"/>
            <a:ext cx="768096" cy="329184"/>
          </a:xfrm>
          <a:prstGeom prst="roundRect">
            <a:avLst>
              <a:gd name="adj" fmla="val 22222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878324" y="4882896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5756148" y="4882896"/>
            <a:ext cx="923544" cy="329184"/>
          </a:xfrm>
          <a:prstGeom prst="roundRect">
            <a:avLst>
              <a:gd name="adj" fmla="val 22222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756148" y="4882896"/>
            <a:ext cx="923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chat_turns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6789420" y="4882896"/>
            <a:ext cx="845820" cy="329184"/>
          </a:xfrm>
          <a:prstGeom prst="roundRect">
            <a:avLst>
              <a:gd name="adj" fmla="val 22222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789420" y="4882896"/>
            <a:ext cx="8458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7744968" y="4882896"/>
            <a:ext cx="1001268" cy="329184"/>
          </a:xfrm>
          <a:prstGeom prst="roundRect">
            <a:avLst>
              <a:gd name="adj" fmla="val 22222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744968" y="4882896"/>
            <a:ext cx="10012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8855964" y="4882896"/>
            <a:ext cx="457200" cy="329184"/>
          </a:xfrm>
          <a:prstGeom prst="roundRect">
            <a:avLst>
              <a:gd name="adj" fmla="val 22222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855964" y="488289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9422892" y="4882896"/>
            <a:ext cx="1156716" cy="329184"/>
          </a:xfrm>
          <a:prstGeom prst="roundRect">
            <a:avLst>
              <a:gd name="adj" fmla="val 22222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9422892" y="4882896"/>
            <a:ext cx="11567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(GridFS)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566928" y="5413248"/>
            <a:ext cx="11057839" cy="777240"/>
          </a:xfrm>
          <a:prstGeom prst="roundRect">
            <a:avLst>
              <a:gd name="adj" fmla="val 11765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68096" y="5504688"/>
            <a:ext cx="1065550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unusual ports.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machine already answers on 27017, 6333 and 8080 for other projects — and sharing a database server means sharing a failure: another project's docker compose down -v would take this one's PDFs, sessions and generated resources with it.</a:t>
            </a:r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ML stories, kept apart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path runs on every request. The offline fine-tune has never been in the request path, and will not be until it passes its gate.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4924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745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track — model-Thevindu/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" y="2267712"/>
            <a:ext cx="237744" cy="237744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2677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88720" y="22585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Parse, clean and section-aware chunking of Sri Lankan legal PDFs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41248" y="2633472"/>
            <a:ext cx="237744" cy="237744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6334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26243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pairs: Q&amp;A, summary, MCQ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41248" y="2999232"/>
            <a:ext cx="237744" cy="237744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999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88720" y="29900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by (doc_id, chapter), plus a whole-document holdout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41248" y="3364992"/>
            <a:ext cx="237744" cy="237744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3649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88720" y="33558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/ QLoRA on Qwen2.5-1.5B-Instruct, Colab T4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41248" y="3730752"/>
            <a:ext cx="237744" cy="237744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7307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88720" y="37216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against acceptance_thresholds.yaml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1248" y="4096512"/>
            <a:ext cx="237744" cy="237744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096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88720" y="40873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→ teammate sign-off → promote a pointer, rollback kept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72200" y="16916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candidate — qwen25-lora-20260815-090709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057400"/>
          <a:ext cx="534924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914400"/>
                <a:gridCol w="914400"/>
                <a:gridCol w="1463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(LLM judge)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0.70  fail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8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0.85 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8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0.15  pass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p95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8 s  fail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(token-F1)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4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566928" y="4709160"/>
            <a:ext cx="11057839" cy="1234440"/>
          </a:xfrm>
          <a:prstGeom prst="roundRect">
            <a:avLst>
              <a:gd name="adj" fmla="val 7407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8096" y="4800600"/>
            <a:ext cx="1065550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did its job.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Token-F1 of 0.717 looked like a pass; the LLM judge — the metric that matches how the live app defines correctness — did not agree. The candidate was not promoted and the local GGUF generator stays. Two dataset defects were caught the same way: ungrounded section citations (≈38% of pairs on a spot check, 1.0% after the fix) and a split that left six subjects with no training pairs at all.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screen after signing 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next, and what you were last working on — in that order.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— the three things there are to do, as links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resources — the latest generated material, with anything still running shown above what has finished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documents — recent uploads with their Processing or Ready state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returning student's first action is one click from sign-in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457200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4663440"/>
            <a:ext cx="36210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first.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reads from the same job queue as every other page, so a resource still generating appears here before it is finished.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00600" y="2029739"/>
            <a:ext cx="6858000" cy="3438602"/>
          </a:xfrm>
          <a:prstGeom prst="roundRect">
            <a:avLst>
              <a:gd name="adj" fmla="val 2659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8" name="Image 0" descr="/tmp/deck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2121179"/>
            <a:ext cx="6675120" cy="32557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student can 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functions, reachable from one rail, all working against the same document library.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274320" cy="274320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50976" y="2130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50976" y="23865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up to 10 MB, processed in the background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862072"/>
            <a:ext cx="274320" cy="274320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50976" y="2843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50976" y="309981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document, get answers that cite their pages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575304"/>
            <a:ext cx="274320" cy="274320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575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50976" y="35570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50976" y="38130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key points, MCQs, practice questions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288536"/>
            <a:ext cx="274320" cy="274320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288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" y="4270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50976" y="452628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quiz, check answers, see the judge's verdict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5001768"/>
            <a:ext cx="274320" cy="274320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5001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50976" y="4983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50976" y="52395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and quality statistics per task type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37760" y="1480169"/>
            <a:ext cx="6766560" cy="4171983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25" name="Image 0" descr="/tmp/deck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571609"/>
            <a:ext cx="6583680" cy="3989103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663440" y="5743591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public, readable before signing up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file and keep working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row appears immediately and turns Ready on its own — nothing to refresh, nothing to wait on.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3977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only, up to 10 MB and 300 pages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or corrupt files are caught at validation and explained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subject label is chosen at upload and travels with the document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 extracts, cleans, chunks and embeds, reporting progress per stage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file goes to GridFS, the cleaned text to MongoDB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434340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4434840"/>
            <a:ext cx="35753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uploads are instant.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keyed by the SHA-256 of their bytes — if that exact file is already stored, extraction and embedding are skipped entirely and only the ownership link is new.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86635" y="1325880"/>
            <a:ext cx="5085929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8" name="Image 0" descr="/tmp/deck/docu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8075" y="1417320"/>
            <a:ext cx="4903049" cy="2377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394960" y="4069080"/>
            <a:ext cx="56692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10" name="Image 1" descr="/tmp/deck/libr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60520"/>
            <a:ext cx="5486400" cy="1783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models are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generator, one judge, and a decoding strategy that makes a 3B model dependable.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288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2194560"/>
            <a:ext cx="4800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Grammar-constrained decoding forces valid JSON — asked politely, a 3B model returns prose about half the time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6 000 characters of retrieved passage per call; 6 turns of chat history carried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attempts: one regeneration on a rejection, and the better attempt wins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82880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two gates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2194560"/>
            <a:ext cx="4800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— structural validators, plain Python in microseconds: four options and exactly one answer, a summary that exists and is long enough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— the judge, one rubric per task, plus two for grounded and general chat replies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70 the judge returns an instruction, not just a number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4206240"/>
            <a:ext cx="11057839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interchangeable backends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41248" y="475488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82803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87552" y="50292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· fully local, in-process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07408" y="475488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482803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endpoint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53712" y="50292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HTTP model server on the network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73568" y="475488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9872" y="482803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119872" y="502920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fallback only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41248" y="5394960"/>
            <a:ext cx="105091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wrapper implements LangChain's BaseChatModel interface, so swapping the generator is two lines of .env and no code change. The cloud path is an availability fallback — process down, timeout, missing pointer — never a per-answer quality router.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chat turn is one graph pass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state machine rather than one long function — because the interesting part is the edge that loops back.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1629613" cy="1051560"/>
          </a:xfrm>
          <a:prstGeom prst="roundRect">
            <a:avLst>
              <a:gd name="adj" fmla="val 8696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2148840"/>
            <a:ext cx="1629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478024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"it", "that case"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242261" y="2418588"/>
            <a:ext cx="164592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52573" y="1965960"/>
            <a:ext cx="1629613" cy="1051560"/>
          </a:xfrm>
          <a:prstGeom prst="roundRect">
            <a:avLst>
              <a:gd name="adj" fmla="val 8696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2573" y="2148840"/>
            <a:ext cx="1629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25725" y="2478024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→ ANN → rerank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27906" y="2418588"/>
            <a:ext cx="164592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38218" y="1965960"/>
            <a:ext cx="1629613" cy="1051560"/>
          </a:xfrm>
          <a:prstGeom prst="roundRect">
            <a:avLst>
              <a:gd name="adj" fmla="val 8696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38218" y="2148840"/>
            <a:ext cx="1629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11370" y="2478024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the chunks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13552" y="2418588"/>
            <a:ext cx="164592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23864" y="1965960"/>
            <a:ext cx="1629613" cy="1051560"/>
          </a:xfrm>
          <a:prstGeom prst="roundRect">
            <a:avLst>
              <a:gd name="adj" fmla="val 8696"/>
            </a:avLst>
          </a:prstGeom>
          <a:solidFill>
            <a:srgbClr val="E5E9FE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3864" y="2148840"/>
            <a:ext cx="1629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97016" y="2478024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validators, then the judge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99197" y="2418588"/>
            <a:ext cx="164592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09509" y="1965960"/>
            <a:ext cx="1629613" cy="1051560"/>
          </a:xfrm>
          <a:prstGeom prst="roundRect">
            <a:avLst>
              <a:gd name="adj" fmla="val 8696"/>
            </a:avLst>
          </a:prstGeom>
          <a:solidFill>
            <a:srgbClr val="E5E9FE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09509" y="2148840"/>
            <a:ext cx="1629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82661" y="2478024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accept, or send it back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784842" y="2418588"/>
            <a:ext cx="164592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95154" y="1965960"/>
            <a:ext cx="1629613" cy="1051560"/>
          </a:xfrm>
          <a:prstGeom prst="roundRect">
            <a:avLst>
              <a:gd name="adj" fmla="val 8696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95154" y="2148840"/>
            <a:ext cx="16296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68306" y="2478024"/>
            <a:ext cx="14833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turn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 flipH="1">
            <a:off x="5153025" y="3401568"/>
            <a:ext cx="3771290" cy="0"/>
          </a:xfrm>
          <a:prstGeom prst="line">
            <a:avLst/>
          </a:prstGeom>
          <a:noFill/>
          <a:ln w="19050">
            <a:solidFill>
              <a:srgbClr val="2340E0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924315" y="3017520"/>
            <a:ext cx="0" cy="384048"/>
          </a:xfrm>
          <a:prstGeom prst="line">
            <a:avLst/>
          </a:prstGeom>
          <a:noFill/>
          <a:ln w="19050">
            <a:solidFill>
              <a:srgbClr val="234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53025" y="3017520"/>
            <a:ext cx="0" cy="384048"/>
          </a:xfrm>
          <a:prstGeom prst="line">
            <a:avLst/>
          </a:prstGeom>
          <a:noFill/>
          <a:ln w="19050">
            <a:solidFill>
              <a:srgbClr val="234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38218" y="3456432"/>
            <a:ext cx="540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once with the judge's instruction  ·  MAX_ATTEMPTS = 2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397764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41248" y="41605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milestones in one turn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1248" y="45262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stream onto progress.partial as they arrive, then reply_ready hands over a finished, readable answer while the judge runs off-screen. A regeneration is deliberately not streamed over it — replacing a finished paragraph with a half-written one reads as the assistant having second thoughts in public.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397764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46520" y="41605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or honestly not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46520" y="452628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answer built from retrieved chunks carries the pages it came from. A question the document does not cover is answered from general knowledge instead — a different kind of answer, graded on a different rubric, carrying no citations, so the difference is visible rather than hidden.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document, ask in plain language, and read an answer built from its pages.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20574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 per document — context stays where it belongs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turns of history carried, so follow-ups like "then?" resolve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attempt count is shown: an answer regenerated once says so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cite the pages they were built from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the page does not lose the answer — the turn is stored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475488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4846320"/>
            <a:ext cx="3621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rubrics.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reply is graded against the passages it used; a general-knowledge reply is graded on its own rubric and carries no citations.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00600" y="1657838"/>
            <a:ext cx="6858000" cy="4228124"/>
          </a:xfrm>
          <a:prstGeom prst="roundRect">
            <a:avLst>
              <a:gd name="adj" fmla="val 2163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8" name="Image 0" descr="/tmp/deck/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749278"/>
            <a:ext cx="6675120" cy="40452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reaches the student ungraded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→ validate → judge → accept or retry once. The verdict is stored with the resource.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046074" cy="1051560"/>
          </a:xfrm>
          <a:prstGeom prst="roundRect">
            <a:avLst>
              <a:gd name="adj" fmla="val 8741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27632"/>
            <a:ext cx="1046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11096"/>
            <a:ext cx="8997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grammar-constrained JSON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67866" y="1933956"/>
            <a:ext cx="91440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14170" y="1481328"/>
            <a:ext cx="1046074" cy="1051560"/>
          </a:xfrm>
          <a:prstGeom prst="roundRect">
            <a:avLst>
              <a:gd name="adj" fmla="val 8741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4170" y="1627632"/>
            <a:ext cx="1046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87322" y="1911096"/>
            <a:ext cx="8997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validators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15107" y="1933956"/>
            <a:ext cx="91440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1411" y="1481328"/>
            <a:ext cx="1046074" cy="1051560"/>
          </a:xfrm>
          <a:prstGeom prst="roundRect">
            <a:avLst>
              <a:gd name="adj" fmla="val 8741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1411" y="1627632"/>
            <a:ext cx="1046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34563" y="1911096"/>
            <a:ext cx="8997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judge, per-task rubric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62349" y="1933956"/>
            <a:ext cx="91440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8653" y="1481328"/>
            <a:ext cx="1046074" cy="1051560"/>
          </a:xfrm>
          <a:prstGeom prst="roundRect">
            <a:avLst>
              <a:gd name="adj" fmla="val 8741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08653" y="1627632"/>
            <a:ext cx="1046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1805" y="1911096"/>
            <a:ext cx="8997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 accept · else retry once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09590" y="1933956"/>
            <a:ext cx="91440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55894" y="1481328"/>
            <a:ext cx="1046074" cy="1051560"/>
          </a:xfrm>
          <a:prstGeom prst="roundRect">
            <a:avLst>
              <a:gd name="adj" fmla="val 8741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5894" y="1627632"/>
            <a:ext cx="1046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29046" y="1911096"/>
            <a:ext cx="8997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+ evaluation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83464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costs microseconds and keeps the ≈25-second judge call for well-formed content only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reply skips gate 1 — there is nothing mechanical to check in free prose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verdict is logged, passes as well as failures, into the evaluations collection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log is what turns "how good is this material" into a question with an answer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029200"/>
            <a:ext cx="6035040" cy="914400"/>
          </a:xfrm>
          <a:prstGeom prst="roundRect">
            <a:avLst>
              <a:gd name="adj" fmla="val 10000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5120640"/>
            <a:ext cx="5632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types, one contract.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fifth means one module beside the existing four, one line in the task registry, one structural validator and one rubric.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66560" y="2138669"/>
            <a:ext cx="4937760" cy="2672101"/>
          </a:xfrm>
          <a:prstGeom prst="roundRect">
            <a:avLst>
              <a:gd name="adj" fmla="val 3422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27" name="Image 0" descr="/tmp/deck/resour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230109"/>
            <a:ext cx="4754880" cy="2489221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492240" y="4902211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— everything generated, newest first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1 —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block of connected prose that says what the passage says.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prose, not a summary chopped into bullets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only from the retrieved source text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one passage, or pooled across the whole document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rejects an empty or too-thin summary without spending a judge call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grades it against the source on the summary rubric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42976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4389120"/>
            <a:ext cx="3621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scopes.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— one extract, optionally the pages that best match a topic you name. Whole document — read in groups and pooled, so the result covers the file rather than its first few pages.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00600" y="1772297"/>
            <a:ext cx="6858000" cy="3953485"/>
          </a:xfrm>
          <a:prstGeom prst="roundRect">
            <a:avLst>
              <a:gd name="adj" fmla="val 2313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8" name="Image 0" descr="/tmp/deck/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863737"/>
            <a:ext cx="6675120" cy="37706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2 — Key points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points the passage itself treats as important — not a summary in bullet form.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a complete statement that stands on its own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as the passage presents them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to the passage, not padded to a round number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checks count, emptiness and duplication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asks what a validator cannot: is each point actually in the source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448056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4572000"/>
            <a:ext cx="3621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compresses; key points select.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one from the other produces material that reads well and teaches badly — which is why they are separate tasks with separate rubrics.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00600" y="1758974"/>
            <a:ext cx="6858000" cy="3980133"/>
          </a:xfrm>
          <a:prstGeom prst="roundRect">
            <a:avLst>
              <a:gd name="adj" fmla="val 2297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8" name="Image 0" descr="/tmp/deck/keypoi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850414"/>
            <a:ext cx="6675120" cy="379725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3 — Multiple-choice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options, one right, three plausible — and the set as a whole has to be unguessable.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6479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— per question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054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options, none blank, none duplicated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marked answer must be one of them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"all of the above" giveaway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374904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91363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— per set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3054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not always in the same slot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option is not always the longest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question is not asked twice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15968" y="1721830"/>
            <a:ext cx="3663544" cy="1859859"/>
          </a:xfrm>
          <a:prstGeom prst="roundRect">
            <a:avLst>
              <a:gd name="adj" fmla="val 4917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11" name="Image 0" descr="/tmp/deck/mc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7408" y="1813270"/>
            <a:ext cx="3480664" cy="1676979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052664" y="1585025"/>
            <a:ext cx="3663544" cy="213347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13" name="Image 1" descr="/tmp/deck/mcqgra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4104" y="1676465"/>
            <a:ext cx="3480664" cy="19505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33088" y="3809935"/>
            <a:ext cx="402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quiz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7869784" y="3809935"/>
            <a:ext cx="402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— correct answers marked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407408" y="4206240"/>
            <a:ext cx="7217359" cy="1554480"/>
          </a:xfrm>
          <a:prstGeom prst="roundRect">
            <a:avLst>
              <a:gd name="adj" fmla="val 5882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08576" y="4297680"/>
            <a:ext cx="681502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set-level rules are the interesting ones.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can be individually perfect while the set as a whole is still guessable without reading the passage, and no single-item check can see that. The bias rules only apply from four questions upward — below that, the answer landing in the same slot each time is coincidence, not a signal.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4 — Practice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Short-answer questions with reference answers — the format that makes you produce the idea instead of recognising it.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205740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Answerable from the passage alone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answer supplied with every question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Revealed one at a time, or all at once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rejects an answer that merely restates its question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grades the pair against the source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452628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4617720"/>
            <a:ext cx="36210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MCQs test recognition; short answers test recall.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both is the reason there are four resource types rather than two.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00600" y="1803667"/>
            <a:ext cx="6858000" cy="3890746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8" name="Image 0" descr="/tmp/deck/pract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895107"/>
            <a:ext cx="6675120" cy="37078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did, and how well it scored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halves, and the second is the one worth reading.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20116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conversations and questions asked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activity over the last seven days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generated, broken down by type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32004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from the evaluation log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35204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task: n, min, median, max, mean, distinct, pass rate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rate against the judge threshold of 70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says whether the judge separates good from bad at all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480060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4892040"/>
            <a:ext cx="3621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is not zero.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rate is null rather than 0 when nothing has been generated — "no data" and "nothing passed" are different things.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44684" y="1280160"/>
            <a:ext cx="6569832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11" name="Image 0" descr="/tmp/deck/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6124" y="1371600"/>
            <a:ext cx="6386952" cy="35661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892040" y="512064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01768" y="523036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01768" y="546811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readable as JSON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583680" y="512064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93408" y="523036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693408" y="546811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before the judge ran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275320" y="512064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85048" y="523036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385048" y="546811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scored it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966960" y="512064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76688" y="523036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076688" y="5468112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switched off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blue, used sparingly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royal-blue LMS: a pale lavender rail against near-white content, and generously rounded white cards with hairline borders instead of heavy shadows.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749808" cy="457200"/>
          </a:xfrm>
          <a:prstGeom prst="roundRect">
            <a:avLst>
              <a:gd name="adj" fmla="val 12000"/>
            </a:avLst>
          </a:prstGeom>
          <a:solidFill>
            <a:srgbClr val="2340E0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206654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#2340E0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21208" y="223113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463040" y="1572768"/>
            <a:ext cx="749808" cy="457200"/>
          </a:xfrm>
          <a:prstGeom prst="roundRect">
            <a:avLst>
              <a:gd name="adj" fmla="val 12000"/>
            </a:avLst>
          </a:prstGeom>
          <a:solidFill>
            <a:srgbClr val="E5E9FE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06654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#E5E9FE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17320" y="223113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primary-light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359152" y="1572768"/>
            <a:ext cx="749808" cy="457200"/>
          </a:xfrm>
          <a:prstGeom prst="roundRect">
            <a:avLst>
              <a:gd name="adj" fmla="val 12000"/>
            </a:avLst>
          </a:prstGeom>
          <a:solidFill>
            <a:srgbClr val="101533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13432" y="206654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#101533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13432" y="223113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55264" y="1572768"/>
            <a:ext cx="749808" cy="457200"/>
          </a:xfrm>
          <a:prstGeom prst="roundRect">
            <a:avLst>
              <a:gd name="adj" fmla="val 12000"/>
            </a:avLst>
          </a:prstGeom>
          <a:solidFill>
            <a:srgbClr val="3B4166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9544" y="206654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#3B4166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9544" y="223113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51376" y="1572768"/>
            <a:ext cx="749808" cy="457200"/>
          </a:xfrm>
          <a:prstGeom prst="roundRect">
            <a:avLst>
              <a:gd name="adj" fmla="val 12000"/>
            </a:avLst>
          </a:prstGeom>
          <a:solidFill>
            <a:srgbClr val="6C7191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05656" y="206654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#6C7191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05656" y="223113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47488" y="1572768"/>
            <a:ext cx="749808" cy="457200"/>
          </a:xfrm>
          <a:prstGeom prst="roundRect">
            <a:avLst>
              <a:gd name="adj" fmla="val 12000"/>
            </a:avLst>
          </a:prstGeom>
          <a:solidFill>
            <a:srgbClr val="E7E9F5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01768" y="206654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#E7E9F5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01768" y="223113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6928" y="2697480"/>
            <a:ext cx="5349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saturated colour — #2340E0 marks the active nav pill, the primary button and the data marks. Nothing else gets it.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colours are reserved: green, amber and red mean success, warning and danger — never decoration.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Radii from 8 to 24 px — most of the difference between this and a bootstrap page.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is a token swap: not one component is theme-aware, so a new screen costs nothing to support.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Navy-tinted greys in the dark theme — neutral grey reads as a different product wearing the same logo.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5257800"/>
            <a:ext cx="5349240" cy="960120"/>
          </a:xfrm>
          <a:prstGeom prst="roundRect">
            <a:avLst>
              <a:gd name="adj" fmla="val 9524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" y="5349240"/>
            <a:ext cx="4946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kinds of route.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(/login, /register) · explore (/, /about, /tour) · protected (everything else). The root is Home, not a redirect to a login form.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1963897"/>
            <a:ext cx="2743200" cy="1375726"/>
          </a:xfrm>
          <a:prstGeom prst="roundRect">
            <a:avLst>
              <a:gd name="adj" fmla="val 6647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26" name="Image 0" descr="/tmp/deck/acct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2055337"/>
            <a:ext cx="2560320" cy="1192846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8961120" y="1962064"/>
            <a:ext cx="2743200" cy="1379391"/>
          </a:xfrm>
          <a:prstGeom prst="roundRect">
            <a:avLst>
              <a:gd name="adj" fmla="val 6629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28" name="Image 1" descr="/tmp/deck/acct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053504"/>
            <a:ext cx="2560320" cy="1196511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852160" y="3431063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8686800" y="34328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— same components, swapped tokens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820312" y="4069080"/>
            <a:ext cx="4190176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32" name="Image 2" descr="/tmp/deck/log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752" y="4160520"/>
            <a:ext cx="4007296" cy="21031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blocks, and nothing pretends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decisions that shape what using the app actually feels like.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602736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9656"/>
            <a:ext cx="274320" cy="274320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188720" y="1819656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work never blocks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258568"/>
            <a:ext cx="3090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generation and chat return immediately and report progress. Leave the page, come back tomorrow — the job lives in the database, not in a browser tab.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43984" y="1600200"/>
            <a:ext cx="3602736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0016" y="1819656"/>
            <a:ext cx="274320" cy="274320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0016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65776" y="1819656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is visible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00016" y="2258568"/>
            <a:ext cx="3090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row says Processing and becomes Ready on its own. The page watches it, so there is nothing to refresh and nothing to guess at.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21040" y="1600200"/>
            <a:ext cx="3602736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77072" y="1819656"/>
            <a:ext cx="274320" cy="274320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77072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942832" y="1819656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arrive when readable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77072" y="2258568"/>
            <a:ext cx="3090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reply is handed over the moment it is finished, not when the judge is done — and a retry never overwrites a finished paragraph on screen.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886200"/>
            <a:ext cx="3602736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105656"/>
            <a:ext cx="274320" cy="274320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105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88720" y="4105656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a dead session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4544568"/>
            <a:ext cx="3090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axios interceptor catches a 401, clears the session and redirects to login — instead of forty call sites each getting it slightly wrong.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43984" y="3886200"/>
            <a:ext cx="3602736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0016" y="4105656"/>
            <a:ext cx="274320" cy="274320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4105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65776" y="4105656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before committing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700016" y="4544568"/>
            <a:ext cx="3090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About and Take a Tour are readable without an account, so a visitor can find out what the product does before signing up.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21040" y="3886200"/>
            <a:ext cx="3602736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77072" y="4105656"/>
            <a:ext cx="274320" cy="274320"/>
          </a:xfrm>
          <a:prstGeom prst="ellipse">
            <a:avLst/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77072" y="4105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34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942832" y="4105656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are locatable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577072" y="4544568"/>
            <a:ext cx="3090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/api/health reports both databases and both model files separately, so a problem is found in seconds rather than guessed at.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issues the tokens; this backend only verifies them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and authorisation are separate questions, and each is asked in exactly one place.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2036003" cy="960120"/>
          </a:xfrm>
          <a:prstGeom prst="roundRect">
            <a:avLst>
              <a:gd name="adj" fmla="val 9524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609344"/>
            <a:ext cx="20360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92808"/>
            <a:ext cx="18896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 login theme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57795" y="1869948"/>
            <a:ext cx="109728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22387" y="1463040"/>
            <a:ext cx="2036003" cy="960120"/>
          </a:xfrm>
          <a:prstGeom prst="roundRect">
            <a:avLst>
              <a:gd name="adj" fmla="val 9524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22387" y="1609344"/>
            <a:ext cx="20360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95539" y="1892808"/>
            <a:ext cx="18896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 realm · :8081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913254" y="1869948"/>
            <a:ext cx="109728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7846" y="1463040"/>
            <a:ext cx="2036003" cy="960120"/>
          </a:xfrm>
          <a:prstGeom prst="roundRect">
            <a:avLst>
              <a:gd name="adj" fmla="val 9524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7846" y="1609344"/>
            <a:ext cx="20360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RS256 token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50998" y="1892808"/>
            <a:ext cx="18896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with Keycloak's key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68713" y="1869948"/>
            <a:ext cx="109728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33305" y="1463040"/>
            <a:ext cx="2036003" cy="960120"/>
          </a:xfrm>
          <a:prstGeom prst="roundRect">
            <a:avLst>
              <a:gd name="adj" fmla="val 9524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3305" y="1609344"/>
            <a:ext cx="20360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JWKS verify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06457" y="1892808"/>
            <a:ext cx="18896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keys, cached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424172" y="1869948"/>
            <a:ext cx="109728" cy="146304"/>
          </a:xfrm>
          <a:prstGeom prst="rightArrow">
            <a:avLst/>
          </a:prstGeom>
          <a:solidFill>
            <a:srgbClr val="C3CCF7"/>
          </a:solidFill>
          <a:ln w="12700">
            <a:solidFill>
              <a:srgbClr val="C3CC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88764" y="1463040"/>
            <a:ext cx="2036003" cy="960120"/>
          </a:xfrm>
          <a:prstGeom prst="roundRect">
            <a:avLst>
              <a:gd name="adj" fmla="val 9524"/>
            </a:avLst>
          </a:prstGeom>
          <a:solidFill>
            <a:srgbClr val="F7F8FC"/>
          </a:solidFill>
          <a:ln w="12700">
            <a:solidFill>
              <a:srgbClr val="E7E9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88764" y="1609344"/>
            <a:ext cx="20360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get_current_user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61916" y="1892808"/>
            <a:ext cx="18896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protected route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74320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token, one dependency — a token this server issued is HS256; a Keycloak token is RS256. One pair of except clauses catches both, and being unable to reach Keycloak is handled as a different thing from a bad token.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is checked before work is queued. services/ownership.py is the only place that decision is made, so posting into somebody else's session is a 403 immediately rather than a background job that fails a minute later.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JWT_SECRET_KEY has no default, deliberately — a fallback secret works in development, ships unnoticed, and makes every token it ever signed forgeable.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passwords are bcrypt-hashed, never stored or logged in readable form.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5532120"/>
            <a:ext cx="5943600" cy="777240"/>
          </a:xfrm>
          <a:prstGeom prst="roundRect">
            <a:avLst>
              <a:gd name="adj" fmla="val 11765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5623560"/>
            <a:ext cx="5541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caveat: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runs start-dev here — the right trade for a development identity provider and the wrong one for anything reachable from outside this machine.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33286" y="2606040"/>
            <a:ext cx="4712867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52400" dist="25400" dir="5400000">
              <a:srgbClr val="6F76A0">
                <a:alpha val="18000"/>
              </a:srgbClr>
            </a:outerShdw>
          </a:effectLst>
        </p:spPr>
      </p:sp>
      <p:pic>
        <p:nvPicPr>
          <p:cNvPr id="27" name="Image 0" descr="/tmp/deck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4726" y="2697480"/>
            <a:ext cx="4529987" cy="2377440"/>
          </a:xfrm>
          <a:prstGeom prst="rect">
            <a:avLst/>
          </a:prstGeom>
        </p:spPr>
      </p:pic>
      <p:pic>
        <p:nvPicPr>
          <p:cNvPr id="28" name="Image 1" descr="/tmp/deck/keycloa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854" y="5257800"/>
            <a:ext cx="1402452" cy="100584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8366760" y="54406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LearnMate login theme, served by Keycloak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0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937760" cy="4937760"/>
          </a:xfrm>
          <a:prstGeom prst="ellipse">
            <a:avLst/>
          </a:prstGeom>
          <a:solidFill>
            <a:srgbClr val="1B2350"/>
          </a:solidFill>
          <a:ln w="12700">
            <a:solidFill>
              <a:srgbClr val="1B23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A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66928" y="3200400"/>
            <a:ext cx="274320" cy="274320"/>
          </a:xfrm>
          <a:prstGeom prst="ellipse">
            <a:avLst/>
          </a:prstGeom>
          <a:solidFill>
            <a:srgbClr val="1B2350"/>
          </a:solidFill>
          <a:ln w="12700">
            <a:solidFill>
              <a:srgbClr val="3B45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200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4128" y="319125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PDF and watch the row turn Ready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3703320"/>
            <a:ext cx="274320" cy="274320"/>
          </a:xfrm>
          <a:prstGeom prst="ellipse">
            <a:avLst/>
          </a:prstGeom>
          <a:solidFill>
            <a:srgbClr val="1B2350"/>
          </a:solidFill>
          <a:ln w="12700">
            <a:solidFill>
              <a:srgbClr val="3B45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24128" y="369417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a question — answer with its page citations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4206240"/>
            <a:ext cx="274320" cy="274320"/>
          </a:xfrm>
          <a:prstGeom prst="ellipse">
            <a:avLst/>
          </a:prstGeom>
          <a:solidFill>
            <a:srgbClr val="1B2350"/>
          </a:solidFill>
          <a:ln w="12700">
            <a:solidFill>
              <a:srgbClr val="3B45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419709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 MCQ set and take the quiz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709160"/>
            <a:ext cx="274320" cy="274320"/>
          </a:xfrm>
          <a:prstGeom prst="ellipse">
            <a:avLst/>
          </a:prstGeom>
          <a:solidFill>
            <a:srgbClr val="1B2350"/>
          </a:solidFill>
          <a:ln w="12700">
            <a:solidFill>
              <a:srgbClr val="3B45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4128" y="470001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evaluation verdict behind a resource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5212080"/>
            <a:ext cx="274320" cy="274320"/>
          </a:xfrm>
          <a:prstGeom prst="ellipse">
            <a:avLst/>
          </a:prstGeom>
          <a:solidFill>
            <a:srgbClr val="1B2350"/>
          </a:solidFill>
          <a:ln w="12700">
            <a:solidFill>
              <a:srgbClr val="3B45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5212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A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24128" y="520293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Analytics: scores per task, and what each gate rejected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deployment, closure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1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requires rewriting the application — the seams it was built around are the same seams every one of these steps uses.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602736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1109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running today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50008"/>
            <a:ext cx="30906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scripts/smoke_test.py drives the whole system end to end, with a pass or fail line per step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/api/health checks both databases and both model files separately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generation is validated, judged and logged — a continuous quality record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43984" y="1691640"/>
            <a:ext cx="3602736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0016" y="191109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what it needs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0016" y="2350008"/>
            <a:ext cx="30906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over the engine: cleaning, chunking, the MCQ set-level rules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pytest suite in CI on every pull request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Judge-score regression tracking, so a prompt change that lowers quality is visible before it ships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load test on the job queue with concurrent students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321040" y="1691640"/>
            <a:ext cx="3602736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E7E9F5"/>
            </a:solidFill>
            <a:prstDash val="solid"/>
          </a:ln>
          <a:effectLst>
            <a:outerShdw sx="100000" sy="100000" kx="0" ky="0" algn="bl" rotWithShape="0" blurRad="101600" dist="12700" dir="5400000">
              <a:srgbClr val="8A90B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77072" y="191109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Deployment, in order of effect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77072" y="2350008"/>
            <a:ext cx="30906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offload first — LEARNMATE_N_GPU_LAYERS=-1 with API_WARM_MODELS=1. This is the line that turns tens of seconds into seconds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from start-dev to start, with TLS and a real database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 the API alongside Mongo and Qdrant, with backups on the named volumes</a:t>
            </a:r>
            <a:endParaRPr lang="en-US" sz="105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 fine-tune when it earns it — two lines of .env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4937760"/>
            <a:ext cx="11057839" cy="914400"/>
          </a:xfrm>
          <a:prstGeom prst="roundRect">
            <a:avLst>
              <a:gd name="adj" fmla="val 10000"/>
            </a:avLst>
          </a:prstGeom>
          <a:solidFill>
            <a:srgbClr val="E5E9FE"/>
          </a:solidFill>
          <a:ln w="12700">
            <a:solidFill>
              <a:srgbClr val="E5E9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5029200"/>
            <a:ext cx="106555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0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closure: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B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integrated application, hand over the smoke test and the version registry, and keep the standalone components as the record of how each part was built.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64373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LearnMateAI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10367" y="64373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120640" cy="5120640"/>
          </a:xfrm>
          <a:prstGeom prst="ellipse">
            <a:avLst/>
          </a:prstGeom>
          <a:solidFill>
            <a:srgbClr val="1B2350"/>
          </a:solidFill>
          <a:ln w="12700">
            <a:solidFill>
              <a:srgbClr val="1B23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148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8FA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4041648"/>
            <a:ext cx="128016" cy="45720"/>
          </a:xfrm>
          <a:prstGeom prst="rect">
            <a:avLst/>
          </a:prstGeom>
          <a:solidFill>
            <a:srgbClr val="2340E0"/>
          </a:solidFill>
          <a:ln w="12700">
            <a:solidFill>
              <a:srgbClr val="234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3904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chat that cites its pages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4425696"/>
            <a:ext cx="128016" cy="45720"/>
          </a:xfrm>
          <a:prstGeom prst="rect">
            <a:avLst/>
          </a:prstGeom>
          <a:solidFill>
            <a:srgbClr val="2340E0"/>
          </a:solidFill>
          <a:ln w="12700">
            <a:solidFill>
              <a:srgbClr val="234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42885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resource types, each with its own structural gate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4809744"/>
            <a:ext cx="128016" cy="45720"/>
          </a:xfrm>
          <a:prstGeom prst="rect">
            <a:avLst/>
          </a:prstGeom>
          <a:solidFill>
            <a:srgbClr val="2340E0"/>
          </a:solidFill>
          <a:ln w="12700">
            <a:solidFill>
              <a:srgbClr val="234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4672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judge that can say no — and one retry when it does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28016" cy="45720"/>
          </a:xfrm>
          <a:prstGeom prst="rect">
            <a:avLst/>
          </a:prstGeom>
          <a:solidFill>
            <a:srgbClr val="2340E0"/>
          </a:solidFill>
          <a:ln w="12700">
            <a:solidFill>
              <a:srgbClr val="234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50566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local: two 3B models, no network in the request path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F7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08  ·  Dinura N. Ginige  ·  Tharumini Gamage  ·  Thevindu Fernando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LearnMateAI</dc:title>
  <dc:subject>PptxGenJS Presentation</dc:subject>
  <dc:creator>Group 08</dc:creator>
  <cp:lastModifiedBy>Group 08</cp:lastModifiedBy>
  <cp:revision>1</cp:revision>
  <dcterms:created xsi:type="dcterms:W3CDTF">2026-08-19T11:11:52Z</dcterms:created>
  <dcterms:modified xsi:type="dcterms:W3CDTF">2026-08-19T11:11:52Z</dcterms:modified>
</cp:coreProperties>
</file>